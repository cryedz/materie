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42"/>
  </p:notesMasterIdLst>
  <p:sldIdLst>
    <p:sldId id="345" r:id="rId3"/>
    <p:sldId id="256" r:id="rId4"/>
    <p:sldId id="257" r:id="rId5"/>
    <p:sldId id="258" r:id="rId6"/>
    <p:sldId id="316" r:id="rId7"/>
    <p:sldId id="317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43" r:id="rId17"/>
    <p:sldId id="340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39" r:id="rId36"/>
    <p:sldId id="315" r:id="rId37"/>
    <p:sldId id="335" r:id="rId38"/>
    <p:sldId id="336" r:id="rId39"/>
    <p:sldId id="337" r:id="rId40"/>
    <p:sldId id="338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56FD0B-E453-42C0-92B6-5C4E818AEFDF}" v="1" dt="2026-04-22T14:21:02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embre Matteo" userId="437dbab0-cd7d-4665-9647-10d1fd490981" providerId="ADAL" clId="{91B3E30A-C5F4-46D0-B01E-FB65EC075246}"/>
    <pc:docChg chg="undo redo custSel addSld delSld modSld sldOrd">
      <pc:chgData name="Novembre Matteo" userId="437dbab0-cd7d-4665-9647-10d1fd490981" providerId="ADAL" clId="{91B3E30A-C5F4-46D0-B01E-FB65EC075246}" dt="2026-04-22T14:21:13.379" v="139" actId="20577"/>
      <pc:docMkLst>
        <pc:docMk/>
      </pc:docMkLst>
      <pc:sldChg chg="del">
        <pc:chgData name="Novembre Matteo" userId="437dbab0-cd7d-4665-9647-10d1fd490981" providerId="ADAL" clId="{91B3E30A-C5F4-46D0-B01E-FB65EC075246}" dt="2026-04-14T13:33:36.502" v="55" actId="47"/>
        <pc:sldMkLst>
          <pc:docMk/>
          <pc:sldMk cId="0" sldId="259"/>
        </pc:sldMkLst>
      </pc:sldChg>
      <pc:sldChg chg="modSp del mod">
        <pc:chgData name="Novembre Matteo" userId="437dbab0-cd7d-4665-9647-10d1fd490981" providerId="ADAL" clId="{91B3E30A-C5F4-46D0-B01E-FB65EC075246}" dt="2026-04-14T13:33:36.855" v="56" actId="47"/>
        <pc:sldMkLst>
          <pc:docMk/>
          <pc:sldMk cId="0" sldId="260"/>
        </pc:sldMkLst>
      </pc:sldChg>
      <pc:sldChg chg="del">
        <pc:chgData name="Novembre Matteo" userId="437dbab0-cd7d-4665-9647-10d1fd490981" providerId="ADAL" clId="{91B3E30A-C5F4-46D0-B01E-FB65EC075246}" dt="2026-04-14T13:33:37.215" v="57" actId="47"/>
        <pc:sldMkLst>
          <pc:docMk/>
          <pc:sldMk cId="0" sldId="261"/>
        </pc:sldMkLst>
      </pc:sldChg>
      <pc:sldChg chg="del">
        <pc:chgData name="Novembre Matteo" userId="437dbab0-cd7d-4665-9647-10d1fd490981" providerId="ADAL" clId="{91B3E30A-C5F4-46D0-B01E-FB65EC075246}" dt="2026-04-14T13:33:37.543" v="58" actId="47"/>
        <pc:sldMkLst>
          <pc:docMk/>
          <pc:sldMk cId="0" sldId="262"/>
        </pc:sldMkLst>
      </pc:sldChg>
      <pc:sldChg chg="del">
        <pc:chgData name="Novembre Matteo" userId="437dbab0-cd7d-4665-9647-10d1fd490981" providerId="ADAL" clId="{91B3E30A-C5F4-46D0-B01E-FB65EC075246}" dt="2026-04-14T13:33:37.908" v="59" actId="47"/>
        <pc:sldMkLst>
          <pc:docMk/>
          <pc:sldMk cId="0" sldId="263"/>
        </pc:sldMkLst>
      </pc:sldChg>
      <pc:sldChg chg="del">
        <pc:chgData name="Novembre Matteo" userId="437dbab0-cd7d-4665-9647-10d1fd490981" providerId="ADAL" clId="{91B3E30A-C5F4-46D0-B01E-FB65EC075246}" dt="2026-04-14T13:33:38.273" v="60" actId="47"/>
        <pc:sldMkLst>
          <pc:docMk/>
          <pc:sldMk cId="0" sldId="264"/>
        </pc:sldMkLst>
      </pc:sldChg>
      <pc:sldChg chg="del">
        <pc:chgData name="Novembre Matteo" userId="437dbab0-cd7d-4665-9647-10d1fd490981" providerId="ADAL" clId="{91B3E30A-C5F4-46D0-B01E-FB65EC075246}" dt="2026-04-14T13:33:38.614" v="61" actId="47"/>
        <pc:sldMkLst>
          <pc:docMk/>
          <pc:sldMk cId="0" sldId="265"/>
        </pc:sldMkLst>
      </pc:sldChg>
      <pc:sldChg chg="del">
        <pc:chgData name="Novembre Matteo" userId="437dbab0-cd7d-4665-9647-10d1fd490981" providerId="ADAL" clId="{91B3E30A-C5F4-46D0-B01E-FB65EC075246}" dt="2026-04-14T13:33:38.992" v="62" actId="47"/>
        <pc:sldMkLst>
          <pc:docMk/>
          <pc:sldMk cId="0" sldId="266"/>
        </pc:sldMkLst>
      </pc:sldChg>
      <pc:sldChg chg="del">
        <pc:chgData name="Novembre Matteo" userId="437dbab0-cd7d-4665-9647-10d1fd490981" providerId="ADAL" clId="{91B3E30A-C5F4-46D0-B01E-FB65EC075246}" dt="2026-04-14T13:33:39.315" v="63" actId="47"/>
        <pc:sldMkLst>
          <pc:docMk/>
          <pc:sldMk cId="0" sldId="267"/>
        </pc:sldMkLst>
      </pc:sldChg>
      <pc:sldChg chg="del">
        <pc:chgData name="Novembre Matteo" userId="437dbab0-cd7d-4665-9647-10d1fd490981" providerId="ADAL" clId="{91B3E30A-C5F4-46D0-B01E-FB65EC075246}" dt="2026-04-14T13:33:39.669" v="64" actId="47"/>
        <pc:sldMkLst>
          <pc:docMk/>
          <pc:sldMk cId="0" sldId="268"/>
        </pc:sldMkLst>
      </pc:sldChg>
      <pc:sldChg chg="addSp delSp del mod">
        <pc:chgData name="Novembre Matteo" userId="437dbab0-cd7d-4665-9647-10d1fd490981" providerId="ADAL" clId="{91B3E30A-C5F4-46D0-B01E-FB65EC075246}" dt="2026-04-14T13:33:40.196" v="65" actId="47"/>
        <pc:sldMkLst>
          <pc:docMk/>
          <pc:sldMk cId="0" sldId="269"/>
        </pc:sldMkLst>
      </pc:sldChg>
      <pc:sldChg chg="del">
        <pc:chgData name="Novembre Matteo" userId="437dbab0-cd7d-4665-9647-10d1fd490981" providerId="ADAL" clId="{91B3E30A-C5F4-46D0-B01E-FB65EC075246}" dt="2026-04-14T13:33:40.853" v="66" actId="47"/>
        <pc:sldMkLst>
          <pc:docMk/>
          <pc:sldMk cId="0" sldId="270"/>
        </pc:sldMkLst>
      </pc:sldChg>
      <pc:sldChg chg="del">
        <pc:chgData name="Novembre Matteo" userId="437dbab0-cd7d-4665-9647-10d1fd490981" providerId="ADAL" clId="{91B3E30A-C5F4-46D0-B01E-FB65EC075246}" dt="2026-04-14T13:33:41.396" v="67" actId="47"/>
        <pc:sldMkLst>
          <pc:docMk/>
          <pc:sldMk cId="0" sldId="271"/>
        </pc:sldMkLst>
      </pc:sldChg>
      <pc:sldChg chg="del">
        <pc:chgData name="Novembre Matteo" userId="437dbab0-cd7d-4665-9647-10d1fd490981" providerId="ADAL" clId="{91B3E30A-C5F4-46D0-B01E-FB65EC075246}" dt="2026-04-14T13:33:41.952" v="68" actId="47"/>
        <pc:sldMkLst>
          <pc:docMk/>
          <pc:sldMk cId="0" sldId="272"/>
        </pc:sldMkLst>
      </pc:sldChg>
      <pc:sldChg chg="del">
        <pc:chgData name="Novembre Matteo" userId="437dbab0-cd7d-4665-9647-10d1fd490981" providerId="ADAL" clId="{91B3E30A-C5F4-46D0-B01E-FB65EC075246}" dt="2026-04-14T13:33:42.603" v="69" actId="47"/>
        <pc:sldMkLst>
          <pc:docMk/>
          <pc:sldMk cId="0" sldId="273"/>
        </pc:sldMkLst>
      </pc:sldChg>
      <pc:sldChg chg="del">
        <pc:chgData name="Novembre Matteo" userId="437dbab0-cd7d-4665-9647-10d1fd490981" providerId="ADAL" clId="{91B3E30A-C5F4-46D0-B01E-FB65EC075246}" dt="2026-04-14T13:33:43.177" v="70" actId="47"/>
        <pc:sldMkLst>
          <pc:docMk/>
          <pc:sldMk cId="0" sldId="274"/>
        </pc:sldMkLst>
      </pc:sldChg>
      <pc:sldChg chg="modSp del mod">
        <pc:chgData name="Novembre Matteo" userId="437dbab0-cd7d-4665-9647-10d1fd490981" providerId="ADAL" clId="{91B3E30A-C5F4-46D0-B01E-FB65EC075246}" dt="2026-04-14T13:33:43.945" v="71" actId="47"/>
        <pc:sldMkLst>
          <pc:docMk/>
          <pc:sldMk cId="0" sldId="275"/>
        </pc:sldMkLst>
      </pc:sldChg>
      <pc:sldChg chg="del">
        <pc:chgData name="Novembre Matteo" userId="437dbab0-cd7d-4665-9647-10d1fd490981" providerId="ADAL" clId="{91B3E30A-C5F4-46D0-B01E-FB65EC075246}" dt="2026-04-14T13:33:44.564" v="72" actId="47"/>
        <pc:sldMkLst>
          <pc:docMk/>
          <pc:sldMk cId="0" sldId="276"/>
        </pc:sldMkLst>
      </pc:sldChg>
      <pc:sldChg chg="del">
        <pc:chgData name="Novembre Matteo" userId="437dbab0-cd7d-4665-9647-10d1fd490981" providerId="ADAL" clId="{91B3E30A-C5F4-46D0-B01E-FB65EC075246}" dt="2026-04-14T13:33:45.142" v="73" actId="47"/>
        <pc:sldMkLst>
          <pc:docMk/>
          <pc:sldMk cId="0" sldId="277"/>
        </pc:sldMkLst>
      </pc:sldChg>
      <pc:sldChg chg="modSp del mod">
        <pc:chgData name="Novembre Matteo" userId="437dbab0-cd7d-4665-9647-10d1fd490981" providerId="ADAL" clId="{91B3E30A-C5F4-46D0-B01E-FB65EC075246}" dt="2026-04-14T13:33:45.760" v="74" actId="47"/>
        <pc:sldMkLst>
          <pc:docMk/>
          <pc:sldMk cId="0" sldId="278"/>
        </pc:sldMkLst>
      </pc:sldChg>
      <pc:sldChg chg="modSp del mod">
        <pc:chgData name="Novembre Matteo" userId="437dbab0-cd7d-4665-9647-10d1fd490981" providerId="ADAL" clId="{91B3E30A-C5F4-46D0-B01E-FB65EC075246}" dt="2026-04-14T13:33:46.392" v="75" actId="47"/>
        <pc:sldMkLst>
          <pc:docMk/>
          <pc:sldMk cId="0" sldId="279"/>
        </pc:sldMkLst>
      </pc:sldChg>
      <pc:sldChg chg="del">
        <pc:chgData name="Novembre Matteo" userId="437dbab0-cd7d-4665-9647-10d1fd490981" providerId="ADAL" clId="{91B3E30A-C5F4-46D0-B01E-FB65EC075246}" dt="2026-04-14T13:33:47.088" v="76" actId="47"/>
        <pc:sldMkLst>
          <pc:docMk/>
          <pc:sldMk cId="0" sldId="280"/>
        </pc:sldMkLst>
      </pc:sldChg>
      <pc:sldChg chg="del">
        <pc:chgData name="Novembre Matteo" userId="437dbab0-cd7d-4665-9647-10d1fd490981" providerId="ADAL" clId="{91B3E30A-C5F4-46D0-B01E-FB65EC075246}" dt="2026-04-14T13:33:48.036" v="77" actId="47"/>
        <pc:sldMkLst>
          <pc:docMk/>
          <pc:sldMk cId="0" sldId="281"/>
        </pc:sldMkLst>
      </pc:sldChg>
      <pc:sldChg chg="del">
        <pc:chgData name="Novembre Matteo" userId="437dbab0-cd7d-4665-9647-10d1fd490981" providerId="ADAL" clId="{91B3E30A-C5F4-46D0-B01E-FB65EC075246}" dt="2026-04-14T13:33:48.808" v="78" actId="47"/>
        <pc:sldMkLst>
          <pc:docMk/>
          <pc:sldMk cId="0" sldId="282"/>
        </pc:sldMkLst>
      </pc:sldChg>
      <pc:sldChg chg="del">
        <pc:chgData name="Novembre Matteo" userId="437dbab0-cd7d-4665-9647-10d1fd490981" providerId="ADAL" clId="{91B3E30A-C5F4-46D0-B01E-FB65EC075246}" dt="2026-04-14T13:33:49.271" v="79" actId="47"/>
        <pc:sldMkLst>
          <pc:docMk/>
          <pc:sldMk cId="0" sldId="283"/>
        </pc:sldMkLst>
      </pc:sldChg>
      <pc:sldChg chg="modSp del mod">
        <pc:chgData name="Novembre Matteo" userId="437dbab0-cd7d-4665-9647-10d1fd490981" providerId="ADAL" clId="{91B3E30A-C5F4-46D0-B01E-FB65EC075246}" dt="2026-04-14T13:33:49.769" v="80" actId="47"/>
        <pc:sldMkLst>
          <pc:docMk/>
          <pc:sldMk cId="0" sldId="284"/>
        </pc:sldMkLst>
      </pc:sldChg>
      <pc:sldChg chg="del">
        <pc:chgData name="Novembre Matteo" userId="437dbab0-cd7d-4665-9647-10d1fd490981" providerId="ADAL" clId="{91B3E30A-C5F4-46D0-B01E-FB65EC075246}" dt="2026-04-14T13:33:50.368" v="81" actId="47"/>
        <pc:sldMkLst>
          <pc:docMk/>
          <pc:sldMk cId="0" sldId="285"/>
        </pc:sldMkLst>
      </pc:sldChg>
      <pc:sldChg chg="del">
        <pc:chgData name="Novembre Matteo" userId="437dbab0-cd7d-4665-9647-10d1fd490981" providerId="ADAL" clId="{91B3E30A-C5F4-46D0-B01E-FB65EC075246}" dt="2026-04-14T13:33:50.840" v="82" actId="47"/>
        <pc:sldMkLst>
          <pc:docMk/>
          <pc:sldMk cId="0" sldId="286"/>
        </pc:sldMkLst>
      </pc:sldChg>
      <pc:sldChg chg="del">
        <pc:chgData name="Novembre Matteo" userId="437dbab0-cd7d-4665-9647-10d1fd490981" providerId="ADAL" clId="{91B3E30A-C5F4-46D0-B01E-FB65EC075246}" dt="2026-04-14T13:33:51.360" v="83" actId="47"/>
        <pc:sldMkLst>
          <pc:docMk/>
          <pc:sldMk cId="0" sldId="287"/>
        </pc:sldMkLst>
      </pc:sldChg>
      <pc:sldChg chg="del">
        <pc:chgData name="Novembre Matteo" userId="437dbab0-cd7d-4665-9647-10d1fd490981" providerId="ADAL" clId="{91B3E30A-C5F4-46D0-B01E-FB65EC075246}" dt="2026-04-14T13:33:51.952" v="84" actId="47"/>
        <pc:sldMkLst>
          <pc:docMk/>
          <pc:sldMk cId="0" sldId="288"/>
        </pc:sldMkLst>
      </pc:sldChg>
      <pc:sldChg chg="del">
        <pc:chgData name="Novembre Matteo" userId="437dbab0-cd7d-4665-9647-10d1fd490981" providerId="ADAL" clId="{91B3E30A-C5F4-46D0-B01E-FB65EC075246}" dt="2026-04-14T13:33:52.533" v="85" actId="47"/>
        <pc:sldMkLst>
          <pc:docMk/>
          <pc:sldMk cId="0" sldId="289"/>
        </pc:sldMkLst>
      </pc:sldChg>
      <pc:sldChg chg="del">
        <pc:chgData name="Novembre Matteo" userId="437dbab0-cd7d-4665-9647-10d1fd490981" providerId="ADAL" clId="{91B3E30A-C5F4-46D0-B01E-FB65EC075246}" dt="2026-04-14T13:33:53.216" v="86" actId="47"/>
        <pc:sldMkLst>
          <pc:docMk/>
          <pc:sldMk cId="0" sldId="290"/>
        </pc:sldMkLst>
      </pc:sldChg>
      <pc:sldChg chg="del">
        <pc:chgData name="Novembre Matteo" userId="437dbab0-cd7d-4665-9647-10d1fd490981" providerId="ADAL" clId="{91B3E30A-C5F4-46D0-B01E-FB65EC075246}" dt="2026-04-14T13:33:57.792" v="87" actId="47"/>
        <pc:sldMkLst>
          <pc:docMk/>
          <pc:sldMk cId="0" sldId="291"/>
        </pc:sldMkLst>
      </pc:sldChg>
      <pc:sldChg chg="addSp delSp modSp del mod">
        <pc:chgData name="Novembre Matteo" userId="437dbab0-cd7d-4665-9647-10d1fd490981" providerId="ADAL" clId="{91B3E30A-C5F4-46D0-B01E-FB65EC075246}" dt="2026-04-14T13:33:58.238" v="88" actId="47"/>
        <pc:sldMkLst>
          <pc:docMk/>
          <pc:sldMk cId="0" sldId="292"/>
        </pc:sldMkLst>
      </pc:sldChg>
      <pc:sldChg chg="del">
        <pc:chgData name="Novembre Matteo" userId="437dbab0-cd7d-4665-9647-10d1fd490981" providerId="ADAL" clId="{91B3E30A-C5F4-46D0-B01E-FB65EC075246}" dt="2026-04-14T13:33:59.304" v="90" actId="47"/>
        <pc:sldMkLst>
          <pc:docMk/>
          <pc:sldMk cId="0" sldId="293"/>
        </pc:sldMkLst>
      </pc:sldChg>
      <pc:sldChg chg="del">
        <pc:chgData name="Novembre Matteo" userId="437dbab0-cd7d-4665-9647-10d1fd490981" providerId="ADAL" clId="{91B3E30A-C5F4-46D0-B01E-FB65EC075246}" dt="2026-04-14T13:33:59.817" v="91" actId="47"/>
        <pc:sldMkLst>
          <pc:docMk/>
          <pc:sldMk cId="0" sldId="294"/>
        </pc:sldMkLst>
      </pc:sldChg>
      <pc:sldChg chg="del">
        <pc:chgData name="Novembre Matteo" userId="437dbab0-cd7d-4665-9647-10d1fd490981" providerId="ADAL" clId="{91B3E30A-C5F4-46D0-B01E-FB65EC075246}" dt="2026-04-14T13:34:00.436" v="92" actId="47"/>
        <pc:sldMkLst>
          <pc:docMk/>
          <pc:sldMk cId="0" sldId="295"/>
        </pc:sldMkLst>
      </pc:sldChg>
      <pc:sldChg chg="modSp del mod">
        <pc:chgData name="Novembre Matteo" userId="437dbab0-cd7d-4665-9647-10d1fd490981" providerId="ADAL" clId="{91B3E30A-C5F4-46D0-B01E-FB65EC075246}" dt="2026-04-14T13:34:01.229" v="93" actId="47"/>
        <pc:sldMkLst>
          <pc:docMk/>
          <pc:sldMk cId="0" sldId="296"/>
        </pc:sldMkLst>
      </pc:sldChg>
      <pc:sldChg chg="del">
        <pc:chgData name="Novembre Matteo" userId="437dbab0-cd7d-4665-9647-10d1fd490981" providerId="ADAL" clId="{91B3E30A-C5F4-46D0-B01E-FB65EC075246}" dt="2026-04-14T13:34:03.002" v="96" actId="47"/>
        <pc:sldMkLst>
          <pc:docMk/>
          <pc:sldMk cId="0" sldId="298"/>
        </pc:sldMkLst>
      </pc:sldChg>
      <pc:sldChg chg="del">
        <pc:chgData name="Novembre Matteo" userId="437dbab0-cd7d-4665-9647-10d1fd490981" providerId="ADAL" clId="{91B3E30A-C5F4-46D0-B01E-FB65EC075246}" dt="2026-04-14T13:34:04.131" v="97" actId="47"/>
        <pc:sldMkLst>
          <pc:docMk/>
          <pc:sldMk cId="0" sldId="299"/>
        </pc:sldMkLst>
      </pc:sldChg>
      <pc:sldChg chg="del">
        <pc:chgData name="Novembre Matteo" userId="437dbab0-cd7d-4665-9647-10d1fd490981" providerId="ADAL" clId="{91B3E30A-C5F4-46D0-B01E-FB65EC075246}" dt="2026-04-14T13:34:04.582" v="98" actId="47"/>
        <pc:sldMkLst>
          <pc:docMk/>
          <pc:sldMk cId="0" sldId="300"/>
        </pc:sldMkLst>
      </pc:sldChg>
      <pc:sldChg chg="del">
        <pc:chgData name="Novembre Matteo" userId="437dbab0-cd7d-4665-9647-10d1fd490981" providerId="ADAL" clId="{91B3E30A-C5F4-46D0-B01E-FB65EC075246}" dt="2026-04-14T13:34:05.238" v="99" actId="47"/>
        <pc:sldMkLst>
          <pc:docMk/>
          <pc:sldMk cId="0" sldId="301"/>
        </pc:sldMkLst>
      </pc:sldChg>
      <pc:sldChg chg="del">
        <pc:chgData name="Novembre Matteo" userId="437dbab0-cd7d-4665-9647-10d1fd490981" providerId="ADAL" clId="{91B3E30A-C5F4-46D0-B01E-FB65EC075246}" dt="2026-04-14T13:34:05.838" v="100" actId="47"/>
        <pc:sldMkLst>
          <pc:docMk/>
          <pc:sldMk cId="0" sldId="302"/>
        </pc:sldMkLst>
      </pc:sldChg>
      <pc:sldChg chg="del">
        <pc:chgData name="Novembre Matteo" userId="437dbab0-cd7d-4665-9647-10d1fd490981" providerId="ADAL" clId="{91B3E30A-C5F4-46D0-B01E-FB65EC075246}" dt="2026-04-14T13:34:06.717" v="101" actId="47"/>
        <pc:sldMkLst>
          <pc:docMk/>
          <pc:sldMk cId="0" sldId="303"/>
        </pc:sldMkLst>
      </pc:sldChg>
      <pc:sldChg chg="del">
        <pc:chgData name="Novembre Matteo" userId="437dbab0-cd7d-4665-9647-10d1fd490981" providerId="ADAL" clId="{91B3E30A-C5F4-46D0-B01E-FB65EC075246}" dt="2026-04-14T13:34:07.664" v="102" actId="47"/>
        <pc:sldMkLst>
          <pc:docMk/>
          <pc:sldMk cId="0" sldId="304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16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17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19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20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21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22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23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24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25"/>
        </pc:sldMkLst>
      </pc:sldChg>
      <pc:sldChg chg="modSp mod ord">
        <pc:chgData name="Novembre Matteo" userId="437dbab0-cd7d-4665-9647-10d1fd490981" providerId="ADAL" clId="{91B3E30A-C5F4-46D0-B01E-FB65EC075246}" dt="2026-04-14T13:35:04.251" v="106"/>
        <pc:sldMkLst>
          <pc:docMk/>
          <pc:sldMk cId="0" sldId="326"/>
        </pc:sldMkLst>
        <pc:spChg chg="mod">
          <ac:chgData name="Novembre Matteo" userId="437dbab0-cd7d-4665-9647-10d1fd490981" providerId="ADAL" clId="{91B3E30A-C5F4-46D0-B01E-FB65EC075246}" dt="2026-04-09T15:46:43.629" v="34" actId="1076"/>
          <ac:spMkLst>
            <pc:docMk/>
            <pc:sldMk cId="0" sldId="326"/>
            <ac:spMk id="1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9T15:46:55.694" v="36" actId="1076"/>
          <ac:spMkLst>
            <pc:docMk/>
            <pc:sldMk cId="0" sldId="326"/>
            <ac:spMk id="1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9T15:46:55.694" v="36" actId="1076"/>
          <ac:spMkLst>
            <pc:docMk/>
            <pc:sldMk cId="0" sldId="326"/>
            <ac:spMk id="1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9T15:46:55.694" v="36" actId="1076"/>
          <ac:spMkLst>
            <pc:docMk/>
            <pc:sldMk cId="0" sldId="326"/>
            <ac:spMk id="1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9T15:46:55.694" v="36" actId="1076"/>
          <ac:spMkLst>
            <pc:docMk/>
            <pc:sldMk cId="0" sldId="326"/>
            <ac:spMk id="1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9T15:46:55.694" v="36" actId="1076"/>
          <ac:spMkLst>
            <pc:docMk/>
            <pc:sldMk cId="0" sldId="326"/>
            <ac:spMk id="1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9T15:46:55.694" v="36" actId="1076"/>
          <ac:spMkLst>
            <pc:docMk/>
            <pc:sldMk cId="0" sldId="326"/>
            <ac:spMk id="1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9T15:46:55.694" v="36" actId="1076"/>
          <ac:spMkLst>
            <pc:docMk/>
            <pc:sldMk cId="0" sldId="326"/>
            <ac:spMk id="2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9T15:46:55.694" v="36" actId="1076"/>
          <ac:spMkLst>
            <pc:docMk/>
            <pc:sldMk cId="0" sldId="326"/>
            <ac:spMk id="2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9T15:46:55.694" v="36" actId="1076"/>
          <ac:spMkLst>
            <pc:docMk/>
            <pc:sldMk cId="0" sldId="326"/>
            <ac:spMk id="2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9T15:46:55.694" v="36" actId="1076"/>
          <ac:spMkLst>
            <pc:docMk/>
            <pc:sldMk cId="0" sldId="326"/>
            <ac:spMk id="25" creationId="{00000000-0000-0000-0000-000000000000}"/>
          </ac:spMkLst>
        </pc:spChg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28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29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30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31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32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33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0" sldId="334"/>
        </pc:sldMkLst>
      </pc:sldChg>
      <pc:sldChg chg="mod modShow">
        <pc:chgData name="Novembre Matteo" userId="437dbab0-cd7d-4665-9647-10d1fd490981" providerId="ADAL" clId="{91B3E30A-C5F4-46D0-B01E-FB65EC075246}" dt="2026-04-22T13:31:33.525" v="111" actId="729"/>
        <pc:sldMkLst>
          <pc:docMk/>
          <pc:sldMk cId="0" sldId="337"/>
        </pc:sldMkLst>
      </pc:sldChg>
      <pc:sldChg chg="ord">
        <pc:chgData name="Novembre Matteo" userId="437dbab0-cd7d-4665-9647-10d1fd490981" providerId="ADAL" clId="{91B3E30A-C5F4-46D0-B01E-FB65EC075246}" dt="2026-04-21T08:26:42.145" v="110"/>
        <pc:sldMkLst>
          <pc:docMk/>
          <pc:sldMk cId="4232101918" sldId="339"/>
        </pc:sldMkLst>
      </pc:sldChg>
      <pc:sldChg chg="modSp mod ord">
        <pc:chgData name="Novembre Matteo" userId="437dbab0-cd7d-4665-9647-10d1fd490981" providerId="ADAL" clId="{91B3E30A-C5F4-46D0-B01E-FB65EC075246}" dt="2026-04-22T13:47:37.696" v="115" actId="1076"/>
        <pc:sldMkLst>
          <pc:docMk/>
          <pc:sldMk cId="3506544265" sldId="340"/>
        </pc:sldMkLst>
        <pc:spChg chg="mod">
          <ac:chgData name="Novembre Matteo" userId="437dbab0-cd7d-4665-9647-10d1fd490981" providerId="ADAL" clId="{91B3E30A-C5F4-46D0-B01E-FB65EC075246}" dt="2026-04-22T13:47:33.385" v="114" actId="1076"/>
          <ac:spMkLst>
            <pc:docMk/>
            <pc:sldMk cId="3506544265" sldId="340"/>
            <ac:spMk id="23" creationId="{26AA345F-E84C-6ECB-86D2-369BCBD54C45}"/>
          </ac:spMkLst>
        </pc:spChg>
        <pc:spChg chg="mod">
          <ac:chgData name="Novembre Matteo" userId="437dbab0-cd7d-4665-9647-10d1fd490981" providerId="ADAL" clId="{91B3E30A-C5F4-46D0-B01E-FB65EC075246}" dt="2026-04-22T13:47:37.696" v="115" actId="1076"/>
          <ac:spMkLst>
            <pc:docMk/>
            <pc:sldMk cId="3506544265" sldId="340"/>
            <ac:spMk id="27" creationId="{8D74B358-C25B-0AAB-C120-6D951CEEB51C}"/>
          </ac:spMkLst>
        </pc:spChg>
      </pc:sldChg>
      <pc:sldChg chg="del">
        <pc:chgData name="Novembre Matteo" userId="437dbab0-cd7d-4665-9647-10d1fd490981" providerId="ADAL" clId="{91B3E30A-C5F4-46D0-B01E-FB65EC075246}" dt="2026-04-14T13:34:01.822" v="94" actId="47"/>
        <pc:sldMkLst>
          <pc:docMk/>
          <pc:sldMk cId="739752545" sldId="341"/>
        </pc:sldMkLst>
      </pc:sldChg>
      <pc:sldChg chg="del">
        <pc:chgData name="Novembre Matteo" userId="437dbab0-cd7d-4665-9647-10d1fd490981" providerId="ADAL" clId="{91B3E30A-C5F4-46D0-B01E-FB65EC075246}" dt="2026-04-14T13:34:02.459" v="95" actId="47"/>
        <pc:sldMkLst>
          <pc:docMk/>
          <pc:sldMk cId="352745308" sldId="342"/>
        </pc:sldMkLst>
      </pc:sldChg>
      <pc:sldChg chg="ord">
        <pc:chgData name="Novembre Matteo" userId="437dbab0-cd7d-4665-9647-10d1fd490981" providerId="ADAL" clId="{91B3E30A-C5F4-46D0-B01E-FB65EC075246}" dt="2026-04-14T13:35:04.251" v="106"/>
        <pc:sldMkLst>
          <pc:docMk/>
          <pc:sldMk cId="2514799001" sldId="343"/>
        </pc:sldMkLst>
      </pc:sldChg>
      <pc:sldChg chg="addSp delSp modSp add del mod">
        <pc:chgData name="Novembre Matteo" userId="437dbab0-cd7d-4665-9647-10d1fd490981" providerId="ADAL" clId="{91B3E30A-C5F4-46D0-B01E-FB65EC075246}" dt="2026-04-14T13:33:58.799" v="89" actId="47"/>
        <pc:sldMkLst>
          <pc:docMk/>
          <pc:sldMk cId="1503261991" sldId="344"/>
        </pc:sldMkLst>
      </pc:sldChg>
      <pc:sldChg chg="add del">
        <pc:chgData name="Novembre Matteo" userId="437dbab0-cd7d-4665-9647-10d1fd490981" providerId="ADAL" clId="{91B3E30A-C5F4-46D0-B01E-FB65EC075246}" dt="2026-04-10T10:56:52.770" v="45" actId="2696"/>
        <pc:sldMkLst>
          <pc:docMk/>
          <pc:sldMk cId="1552685491" sldId="344"/>
        </pc:sldMkLst>
      </pc:sldChg>
      <pc:sldChg chg="modSp add mod">
        <pc:chgData name="Novembre Matteo" userId="437dbab0-cd7d-4665-9647-10d1fd490981" providerId="ADAL" clId="{91B3E30A-C5F4-46D0-B01E-FB65EC075246}" dt="2026-04-22T14:21:13.379" v="139" actId="20577"/>
        <pc:sldMkLst>
          <pc:docMk/>
          <pc:sldMk cId="348954085" sldId="345"/>
        </pc:sldMkLst>
        <pc:graphicFrameChg chg="modGraphic">
          <ac:chgData name="Novembre Matteo" userId="437dbab0-cd7d-4665-9647-10d1fd490981" providerId="ADAL" clId="{91B3E30A-C5F4-46D0-B01E-FB65EC075246}" dt="2026-04-22T14:21:13.379" v="139" actId="20577"/>
          <ac:graphicFrameMkLst>
            <pc:docMk/>
            <pc:sldMk cId="348954085" sldId="345"/>
            <ac:graphicFrameMk id="5" creationId="{52A369BA-F177-BE2A-86F7-3CE0AB26EBE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109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06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97223CB-80F4-5A2B-FBCF-8F0577C1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5C71-6E8F-4A48-9A75-977949D9268F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16CAB44-9033-D4FC-C269-4E25F067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34E491-4E22-916B-0A57-2EFE961F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793B-E73B-47CB-B846-DB6D9D48C5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919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75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26" Type="http://schemas.openxmlformats.org/officeDocument/2006/relationships/image" Target="../media/image141.png"/><Relationship Id="rId3" Type="http://schemas.openxmlformats.org/officeDocument/2006/relationships/image" Target="../media/image118.png"/><Relationship Id="rId21" Type="http://schemas.openxmlformats.org/officeDocument/2006/relationships/image" Target="../media/image136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40.pn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139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8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7.png"/><Relationship Id="rId27" Type="http://schemas.openxmlformats.org/officeDocument/2006/relationships/image" Target="../media/image1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43.png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0" Type="http://schemas.openxmlformats.org/officeDocument/2006/relationships/image" Target="../media/image151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12" Type="http://schemas.openxmlformats.org/officeDocument/2006/relationships/image" Target="../media/image176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71.png"/><Relationship Id="rId7" Type="http://schemas.openxmlformats.org/officeDocument/2006/relationships/image" Target="../media/image176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7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Relationship Id="rId9" Type="http://schemas.openxmlformats.org/officeDocument/2006/relationships/image" Target="../media/image17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image" Target="../media/image192.png"/><Relationship Id="rId18" Type="http://schemas.openxmlformats.org/officeDocument/2006/relationships/image" Target="../media/image197.png"/><Relationship Id="rId3" Type="http://schemas.openxmlformats.org/officeDocument/2006/relationships/image" Target="../media/image182.png"/><Relationship Id="rId21" Type="http://schemas.openxmlformats.org/officeDocument/2006/relationships/image" Target="../media/image200.png"/><Relationship Id="rId7" Type="http://schemas.openxmlformats.org/officeDocument/2006/relationships/image" Target="../media/image186.png"/><Relationship Id="rId12" Type="http://schemas.openxmlformats.org/officeDocument/2006/relationships/image" Target="../media/image191.png"/><Relationship Id="rId17" Type="http://schemas.openxmlformats.org/officeDocument/2006/relationships/image" Target="../media/image196.png"/><Relationship Id="rId2" Type="http://schemas.openxmlformats.org/officeDocument/2006/relationships/image" Target="../media/image181.png"/><Relationship Id="rId16" Type="http://schemas.openxmlformats.org/officeDocument/2006/relationships/image" Target="../media/image195.png"/><Relationship Id="rId20" Type="http://schemas.openxmlformats.org/officeDocument/2006/relationships/image" Target="../media/image1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5.png"/><Relationship Id="rId11" Type="http://schemas.openxmlformats.org/officeDocument/2006/relationships/image" Target="../media/image190.png"/><Relationship Id="rId5" Type="http://schemas.openxmlformats.org/officeDocument/2006/relationships/image" Target="../media/image184.png"/><Relationship Id="rId15" Type="http://schemas.openxmlformats.org/officeDocument/2006/relationships/image" Target="../media/image194.png"/><Relationship Id="rId10" Type="http://schemas.openxmlformats.org/officeDocument/2006/relationships/image" Target="../media/image189.png"/><Relationship Id="rId19" Type="http://schemas.openxmlformats.org/officeDocument/2006/relationships/image" Target="../media/image198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Relationship Id="rId14" Type="http://schemas.openxmlformats.org/officeDocument/2006/relationships/image" Target="../media/image193.png"/><Relationship Id="rId22" Type="http://schemas.openxmlformats.org/officeDocument/2006/relationships/image" Target="../media/image20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210.png"/><Relationship Id="rId18" Type="http://schemas.openxmlformats.org/officeDocument/2006/relationships/image" Target="../media/image215.png"/><Relationship Id="rId3" Type="http://schemas.openxmlformats.org/officeDocument/2006/relationships/image" Target="../media/image203.png"/><Relationship Id="rId21" Type="http://schemas.openxmlformats.org/officeDocument/2006/relationships/image" Target="../media/image218.png"/><Relationship Id="rId7" Type="http://schemas.openxmlformats.org/officeDocument/2006/relationships/image" Target="../media/image207.png"/><Relationship Id="rId12" Type="http://schemas.openxmlformats.org/officeDocument/2006/relationships/image" Target="../media/image28.png"/><Relationship Id="rId17" Type="http://schemas.openxmlformats.org/officeDocument/2006/relationships/image" Target="../media/image214.png"/><Relationship Id="rId2" Type="http://schemas.openxmlformats.org/officeDocument/2006/relationships/image" Target="../media/image202.png"/><Relationship Id="rId16" Type="http://schemas.openxmlformats.org/officeDocument/2006/relationships/image" Target="../media/image213.png"/><Relationship Id="rId20" Type="http://schemas.openxmlformats.org/officeDocument/2006/relationships/image" Target="../media/image2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6.png"/><Relationship Id="rId11" Type="http://schemas.openxmlformats.org/officeDocument/2006/relationships/image" Target="../media/image209.png"/><Relationship Id="rId5" Type="http://schemas.openxmlformats.org/officeDocument/2006/relationships/image" Target="../media/image205.png"/><Relationship Id="rId15" Type="http://schemas.openxmlformats.org/officeDocument/2006/relationships/image" Target="../media/image212.png"/><Relationship Id="rId10" Type="http://schemas.openxmlformats.org/officeDocument/2006/relationships/image" Target="../media/image208.png"/><Relationship Id="rId19" Type="http://schemas.openxmlformats.org/officeDocument/2006/relationships/image" Target="../media/image216.png"/><Relationship Id="rId4" Type="http://schemas.openxmlformats.org/officeDocument/2006/relationships/image" Target="../media/image204.png"/><Relationship Id="rId9" Type="http://schemas.openxmlformats.org/officeDocument/2006/relationships/image" Target="../media/image124.png"/><Relationship Id="rId14" Type="http://schemas.openxmlformats.org/officeDocument/2006/relationships/image" Target="../media/image2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223.png"/><Relationship Id="rId3" Type="http://schemas.openxmlformats.org/officeDocument/2006/relationships/image" Target="../media/image79.png"/><Relationship Id="rId7" Type="http://schemas.openxmlformats.org/officeDocument/2006/relationships/image" Target="../media/image220.png"/><Relationship Id="rId12" Type="http://schemas.openxmlformats.org/officeDocument/2006/relationships/image" Target="../media/image84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222.png"/><Relationship Id="rId5" Type="http://schemas.openxmlformats.org/officeDocument/2006/relationships/image" Target="../media/image219.png"/><Relationship Id="rId10" Type="http://schemas.openxmlformats.org/officeDocument/2006/relationships/image" Target="../media/image88.png"/><Relationship Id="rId4" Type="http://schemas.openxmlformats.org/officeDocument/2006/relationships/image" Target="../media/image80.png"/><Relationship Id="rId9" Type="http://schemas.openxmlformats.org/officeDocument/2006/relationships/image" Target="../media/image221.png"/><Relationship Id="rId14" Type="http://schemas.openxmlformats.org/officeDocument/2006/relationships/image" Target="../media/image2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image" Target="../media/image235.png"/><Relationship Id="rId18" Type="http://schemas.openxmlformats.org/officeDocument/2006/relationships/image" Target="../media/image240.png"/><Relationship Id="rId3" Type="http://schemas.openxmlformats.org/officeDocument/2006/relationships/image" Target="../media/image226.png"/><Relationship Id="rId7" Type="http://schemas.openxmlformats.org/officeDocument/2006/relationships/image" Target="../media/image230.png"/><Relationship Id="rId12" Type="http://schemas.openxmlformats.org/officeDocument/2006/relationships/image" Target="../media/image234.png"/><Relationship Id="rId17" Type="http://schemas.openxmlformats.org/officeDocument/2006/relationships/image" Target="../media/image239.png"/><Relationship Id="rId2" Type="http://schemas.openxmlformats.org/officeDocument/2006/relationships/image" Target="../media/image225.png"/><Relationship Id="rId16" Type="http://schemas.openxmlformats.org/officeDocument/2006/relationships/image" Target="../media/image2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9.png"/><Relationship Id="rId11" Type="http://schemas.openxmlformats.org/officeDocument/2006/relationships/image" Target="../media/image233.png"/><Relationship Id="rId5" Type="http://schemas.openxmlformats.org/officeDocument/2006/relationships/image" Target="../media/image228.png"/><Relationship Id="rId15" Type="http://schemas.openxmlformats.org/officeDocument/2006/relationships/image" Target="../media/image237.png"/><Relationship Id="rId10" Type="http://schemas.openxmlformats.org/officeDocument/2006/relationships/image" Target="../media/image232.png"/><Relationship Id="rId19" Type="http://schemas.openxmlformats.org/officeDocument/2006/relationships/image" Target="../media/image241.png"/><Relationship Id="rId4" Type="http://schemas.openxmlformats.org/officeDocument/2006/relationships/image" Target="../media/image227.png"/><Relationship Id="rId9" Type="http://schemas.openxmlformats.org/officeDocument/2006/relationships/image" Target="../media/image124.png"/><Relationship Id="rId14" Type="http://schemas.openxmlformats.org/officeDocument/2006/relationships/image" Target="../media/image2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13" Type="http://schemas.openxmlformats.org/officeDocument/2006/relationships/image" Target="../media/image251.png"/><Relationship Id="rId3" Type="http://schemas.openxmlformats.org/officeDocument/2006/relationships/image" Target="../media/image243.png"/><Relationship Id="rId7" Type="http://schemas.openxmlformats.org/officeDocument/2006/relationships/image" Target="../media/image247.png"/><Relationship Id="rId12" Type="http://schemas.openxmlformats.org/officeDocument/2006/relationships/image" Target="../media/image101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6.png"/><Relationship Id="rId11" Type="http://schemas.openxmlformats.org/officeDocument/2006/relationships/image" Target="../media/image250.png"/><Relationship Id="rId5" Type="http://schemas.openxmlformats.org/officeDocument/2006/relationships/image" Target="../media/image245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244.png"/><Relationship Id="rId9" Type="http://schemas.openxmlformats.org/officeDocument/2006/relationships/image" Target="../media/image249.png"/><Relationship Id="rId14" Type="http://schemas.openxmlformats.org/officeDocument/2006/relationships/image" Target="../media/image17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13" Type="http://schemas.openxmlformats.org/officeDocument/2006/relationships/image" Target="../media/image263.jpg"/><Relationship Id="rId3" Type="http://schemas.openxmlformats.org/officeDocument/2006/relationships/image" Target="../media/image253.png"/><Relationship Id="rId7" Type="http://schemas.openxmlformats.org/officeDocument/2006/relationships/image" Target="../media/image257.png"/><Relationship Id="rId12" Type="http://schemas.openxmlformats.org/officeDocument/2006/relationships/image" Target="../media/image262.png"/><Relationship Id="rId17" Type="http://schemas.openxmlformats.org/officeDocument/2006/relationships/image" Target="../media/image267.png"/><Relationship Id="rId2" Type="http://schemas.openxmlformats.org/officeDocument/2006/relationships/image" Target="../media/image252.png"/><Relationship Id="rId16" Type="http://schemas.openxmlformats.org/officeDocument/2006/relationships/image" Target="../media/image2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6.png"/><Relationship Id="rId11" Type="http://schemas.openxmlformats.org/officeDocument/2006/relationships/image" Target="../media/image261.png"/><Relationship Id="rId5" Type="http://schemas.openxmlformats.org/officeDocument/2006/relationships/image" Target="../media/image255.png"/><Relationship Id="rId15" Type="http://schemas.openxmlformats.org/officeDocument/2006/relationships/image" Target="../media/image265.png"/><Relationship Id="rId10" Type="http://schemas.openxmlformats.org/officeDocument/2006/relationships/image" Target="../media/image260.png"/><Relationship Id="rId4" Type="http://schemas.openxmlformats.org/officeDocument/2006/relationships/image" Target="../media/image254.png"/><Relationship Id="rId9" Type="http://schemas.openxmlformats.org/officeDocument/2006/relationships/image" Target="../media/image259.png"/><Relationship Id="rId14" Type="http://schemas.openxmlformats.org/officeDocument/2006/relationships/image" Target="../media/image26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png"/><Relationship Id="rId13" Type="http://schemas.openxmlformats.org/officeDocument/2006/relationships/image" Target="../media/image279.png"/><Relationship Id="rId18" Type="http://schemas.openxmlformats.org/officeDocument/2006/relationships/image" Target="../media/image284.png"/><Relationship Id="rId3" Type="http://schemas.openxmlformats.org/officeDocument/2006/relationships/image" Target="../media/image269.png"/><Relationship Id="rId7" Type="http://schemas.openxmlformats.org/officeDocument/2006/relationships/image" Target="../media/image273.png"/><Relationship Id="rId12" Type="http://schemas.openxmlformats.org/officeDocument/2006/relationships/image" Target="../media/image278.png"/><Relationship Id="rId17" Type="http://schemas.openxmlformats.org/officeDocument/2006/relationships/image" Target="../media/image283.png"/><Relationship Id="rId2" Type="http://schemas.openxmlformats.org/officeDocument/2006/relationships/image" Target="../media/image268.png"/><Relationship Id="rId16" Type="http://schemas.openxmlformats.org/officeDocument/2006/relationships/image" Target="../media/image282.png"/><Relationship Id="rId20" Type="http://schemas.openxmlformats.org/officeDocument/2006/relationships/image" Target="../media/image2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2.png"/><Relationship Id="rId11" Type="http://schemas.openxmlformats.org/officeDocument/2006/relationships/image" Target="../media/image277.png"/><Relationship Id="rId5" Type="http://schemas.openxmlformats.org/officeDocument/2006/relationships/image" Target="../media/image271.png"/><Relationship Id="rId15" Type="http://schemas.openxmlformats.org/officeDocument/2006/relationships/image" Target="../media/image281.png"/><Relationship Id="rId10" Type="http://schemas.openxmlformats.org/officeDocument/2006/relationships/image" Target="../media/image276.png"/><Relationship Id="rId19" Type="http://schemas.openxmlformats.org/officeDocument/2006/relationships/image" Target="../media/image285.png"/><Relationship Id="rId4" Type="http://schemas.openxmlformats.org/officeDocument/2006/relationships/image" Target="../media/image270.png"/><Relationship Id="rId9" Type="http://schemas.openxmlformats.org/officeDocument/2006/relationships/image" Target="../media/image275.png"/><Relationship Id="rId14" Type="http://schemas.openxmlformats.org/officeDocument/2006/relationships/image" Target="../media/image28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png"/><Relationship Id="rId3" Type="http://schemas.openxmlformats.org/officeDocument/2006/relationships/image" Target="../media/image288.png"/><Relationship Id="rId7" Type="http://schemas.openxmlformats.org/officeDocument/2006/relationships/image" Target="../media/image292.png"/><Relationship Id="rId2" Type="http://schemas.openxmlformats.org/officeDocument/2006/relationships/image" Target="../media/image2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1.png"/><Relationship Id="rId11" Type="http://schemas.openxmlformats.org/officeDocument/2006/relationships/image" Target="../media/image296.png"/><Relationship Id="rId5" Type="http://schemas.openxmlformats.org/officeDocument/2006/relationships/image" Target="../media/image290.png"/><Relationship Id="rId10" Type="http://schemas.openxmlformats.org/officeDocument/2006/relationships/image" Target="../media/image295.png"/><Relationship Id="rId4" Type="http://schemas.openxmlformats.org/officeDocument/2006/relationships/image" Target="../media/image289.png"/><Relationship Id="rId9" Type="http://schemas.openxmlformats.org/officeDocument/2006/relationships/image" Target="../media/image294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png"/><Relationship Id="rId3" Type="http://schemas.openxmlformats.org/officeDocument/2006/relationships/image" Target="../media/image298.png"/><Relationship Id="rId7" Type="http://schemas.openxmlformats.org/officeDocument/2006/relationships/image" Target="../media/image302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1.png"/><Relationship Id="rId5" Type="http://schemas.openxmlformats.org/officeDocument/2006/relationships/image" Target="../media/image300.png"/><Relationship Id="rId4" Type="http://schemas.openxmlformats.org/officeDocument/2006/relationships/image" Target="../media/image29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13.png"/><Relationship Id="rId3" Type="http://schemas.openxmlformats.org/officeDocument/2006/relationships/image" Target="../media/image305.png"/><Relationship Id="rId7" Type="http://schemas.openxmlformats.org/officeDocument/2006/relationships/image" Target="../media/image309.png"/><Relationship Id="rId12" Type="http://schemas.openxmlformats.org/officeDocument/2006/relationships/image" Target="../media/image101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8.png"/><Relationship Id="rId11" Type="http://schemas.openxmlformats.org/officeDocument/2006/relationships/image" Target="../media/image312.png"/><Relationship Id="rId5" Type="http://schemas.openxmlformats.org/officeDocument/2006/relationships/image" Target="../media/image307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306.png"/><Relationship Id="rId9" Type="http://schemas.openxmlformats.org/officeDocument/2006/relationships/image" Target="../media/image311.png"/><Relationship Id="rId14" Type="http://schemas.openxmlformats.org/officeDocument/2006/relationships/image" Target="../media/image31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320.png"/><Relationship Id="rId3" Type="http://schemas.openxmlformats.org/officeDocument/2006/relationships/image" Target="../media/image79.png"/><Relationship Id="rId7" Type="http://schemas.openxmlformats.org/officeDocument/2006/relationships/image" Target="../media/image317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6.png"/><Relationship Id="rId11" Type="http://schemas.openxmlformats.org/officeDocument/2006/relationships/image" Target="../media/image319.png"/><Relationship Id="rId5" Type="http://schemas.openxmlformats.org/officeDocument/2006/relationships/image" Target="../media/image315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318.png"/><Relationship Id="rId14" Type="http://schemas.openxmlformats.org/officeDocument/2006/relationships/image" Target="../media/image32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13" Type="http://schemas.openxmlformats.org/officeDocument/2006/relationships/image" Target="../media/image333.png"/><Relationship Id="rId3" Type="http://schemas.openxmlformats.org/officeDocument/2006/relationships/image" Target="../media/image323.png"/><Relationship Id="rId7" Type="http://schemas.openxmlformats.org/officeDocument/2006/relationships/image" Target="../media/image327.png"/><Relationship Id="rId12" Type="http://schemas.openxmlformats.org/officeDocument/2006/relationships/image" Target="../media/image332.png"/><Relationship Id="rId17" Type="http://schemas.openxmlformats.org/officeDocument/2006/relationships/image" Target="../media/image337.png"/><Relationship Id="rId2" Type="http://schemas.openxmlformats.org/officeDocument/2006/relationships/image" Target="../media/image322.png"/><Relationship Id="rId16" Type="http://schemas.openxmlformats.org/officeDocument/2006/relationships/image" Target="../media/image3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6.png"/><Relationship Id="rId11" Type="http://schemas.openxmlformats.org/officeDocument/2006/relationships/image" Target="../media/image331.png"/><Relationship Id="rId5" Type="http://schemas.openxmlformats.org/officeDocument/2006/relationships/image" Target="../media/image325.png"/><Relationship Id="rId15" Type="http://schemas.openxmlformats.org/officeDocument/2006/relationships/image" Target="../media/image335.png"/><Relationship Id="rId10" Type="http://schemas.openxmlformats.org/officeDocument/2006/relationships/image" Target="../media/image330.png"/><Relationship Id="rId4" Type="http://schemas.openxmlformats.org/officeDocument/2006/relationships/image" Target="../media/image324.png"/><Relationship Id="rId9" Type="http://schemas.openxmlformats.org/officeDocument/2006/relationships/image" Target="../media/image329.png"/><Relationship Id="rId14" Type="http://schemas.openxmlformats.org/officeDocument/2006/relationships/image" Target="../media/image33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png"/><Relationship Id="rId13" Type="http://schemas.openxmlformats.org/officeDocument/2006/relationships/image" Target="../media/image344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343.png"/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342.png"/><Relationship Id="rId5" Type="http://schemas.openxmlformats.org/officeDocument/2006/relationships/image" Target="../media/image107.png"/><Relationship Id="rId10" Type="http://schemas.openxmlformats.org/officeDocument/2006/relationships/image" Target="../media/image341.png"/><Relationship Id="rId4" Type="http://schemas.openxmlformats.org/officeDocument/2006/relationships/image" Target="../media/image105.png"/><Relationship Id="rId9" Type="http://schemas.openxmlformats.org/officeDocument/2006/relationships/image" Target="../media/image340.png"/><Relationship Id="rId14" Type="http://schemas.openxmlformats.org/officeDocument/2006/relationships/image" Target="../media/image34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13" Type="http://schemas.openxmlformats.org/officeDocument/2006/relationships/image" Target="../media/image357.png"/><Relationship Id="rId3" Type="http://schemas.openxmlformats.org/officeDocument/2006/relationships/image" Target="../media/image347.png"/><Relationship Id="rId7" Type="http://schemas.openxmlformats.org/officeDocument/2006/relationships/image" Target="../media/image351.png"/><Relationship Id="rId12" Type="http://schemas.openxmlformats.org/officeDocument/2006/relationships/image" Target="../media/image356.png"/><Relationship Id="rId2" Type="http://schemas.openxmlformats.org/officeDocument/2006/relationships/image" Target="../media/image3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11" Type="http://schemas.openxmlformats.org/officeDocument/2006/relationships/image" Target="../media/image355.png"/><Relationship Id="rId5" Type="http://schemas.openxmlformats.org/officeDocument/2006/relationships/image" Target="../media/image349.png"/><Relationship Id="rId15" Type="http://schemas.openxmlformats.org/officeDocument/2006/relationships/image" Target="../media/image358.png"/><Relationship Id="rId10" Type="http://schemas.openxmlformats.org/officeDocument/2006/relationships/image" Target="../media/image354.png"/><Relationship Id="rId4" Type="http://schemas.openxmlformats.org/officeDocument/2006/relationships/image" Target="../media/image348.png"/><Relationship Id="rId9" Type="http://schemas.openxmlformats.org/officeDocument/2006/relationships/image" Target="../media/image353.png"/><Relationship Id="rId14" Type="http://schemas.openxmlformats.org/officeDocument/2006/relationships/image" Target="../media/image27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png"/><Relationship Id="rId3" Type="http://schemas.openxmlformats.org/officeDocument/2006/relationships/image" Target="../media/image360.png"/><Relationship Id="rId7" Type="http://schemas.openxmlformats.org/officeDocument/2006/relationships/image" Target="../media/image364.png"/><Relationship Id="rId12" Type="http://schemas.openxmlformats.org/officeDocument/2006/relationships/image" Target="../media/image369.png"/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3.png"/><Relationship Id="rId11" Type="http://schemas.openxmlformats.org/officeDocument/2006/relationships/image" Target="../media/image368.png"/><Relationship Id="rId5" Type="http://schemas.openxmlformats.org/officeDocument/2006/relationships/image" Target="../media/image362.png"/><Relationship Id="rId10" Type="http://schemas.openxmlformats.org/officeDocument/2006/relationships/image" Target="../media/image367.png"/><Relationship Id="rId4" Type="http://schemas.openxmlformats.org/officeDocument/2006/relationships/image" Target="../media/image361.png"/><Relationship Id="rId9" Type="http://schemas.openxmlformats.org/officeDocument/2006/relationships/image" Target="../media/image36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13" Type="http://schemas.openxmlformats.org/officeDocument/2006/relationships/image" Target="../media/image376.png"/><Relationship Id="rId3" Type="http://schemas.openxmlformats.org/officeDocument/2006/relationships/image" Target="../media/image105.png"/><Relationship Id="rId7" Type="http://schemas.openxmlformats.org/officeDocument/2006/relationships/image" Target="../media/image370.png"/><Relationship Id="rId12" Type="http://schemas.openxmlformats.org/officeDocument/2006/relationships/image" Target="../media/image375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374.png"/><Relationship Id="rId5" Type="http://schemas.openxmlformats.org/officeDocument/2006/relationships/image" Target="../media/image108.png"/><Relationship Id="rId10" Type="http://schemas.openxmlformats.org/officeDocument/2006/relationships/image" Target="../media/image373.png"/><Relationship Id="rId4" Type="http://schemas.openxmlformats.org/officeDocument/2006/relationships/image" Target="../media/image107.png"/><Relationship Id="rId9" Type="http://schemas.openxmlformats.org/officeDocument/2006/relationships/image" Target="../media/image372.png"/><Relationship Id="rId14" Type="http://schemas.openxmlformats.org/officeDocument/2006/relationships/image" Target="../media/image37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384.png"/><Relationship Id="rId3" Type="http://schemas.openxmlformats.org/officeDocument/2006/relationships/image" Target="../media/image379.png"/><Relationship Id="rId7" Type="http://schemas.openxmlformats.org/officeDocument/2006/relationships/image" Target="../media/image381.png"/><Relationship Id="rId12" Type="http://schemas.openxmlformats.org/officeDocument/2006/relationships/image" Target="../media/image79.png"/><Relationship Id="rId2" Type="http://schemas.openxmlformats.org/officeDocument/2006/relationships/image" Target="../media/image3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6.png"/><Relationship Id="rId11" Type="http://schemas.openxmlformats.org/officeDocument/2006/relationships/image" Target="../media/image383.png"/><Relationship Id="rId5" Type="http://schemas.openxmlformats.org/officeDocument/2006/relationships/image" Target="../media/image380.png"/><Relationship Id="rId10" Type="http://schemas.openxmlformats.org/officeDocument/2006/relationships/image" Target="../media/image82.png"/><Relationship Id="rId4" Type="http://schemas.openxmlformats.org/officeDocument/2006/relationships/image" Target="../media/image80.png"/><Relationship Id="rId9" Type="http://schemas.openxmlformats.org/officeDocument/2006/relationships/image" Target="../media/image382.png"/><Relationship Id="rId14" Type="http://schemas.openxmlformats.org/officeDocument/2006/relationships/image" Target="../media/image38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png"/><Relationship Id="rId13" Type="http://schemas.openxmlformats.org/officeDocument/2006/relationships/image" Target="../media/image397.png"/><Relationship Id="rId18" Type="http://schemas.openxmlformats.org/officeDocument/2006/relationships/image" Target="../media/image402.png"/><Relationship Id="rId3" Type="http://schemas.openxmlformats.org/officeDocument/2006/relationships/image" Target="../media/image387.png"/><Relationship Id="rId7" Type="http://schemas.openxmlformats.org/officeDocument/2006/relationships/image" Target="../media/image391.png"/><Relationship Id="rId12" Type="http://schemas.openxmlformats.org/officeDocument/2006/relationships/image" Target="../media/image396.png"/><Relationship Id="rId17" Type="http://schemas.openxmlformats.org/officeDocument/2006/relationships/image" Target="../media/image401.png"/><Relationship Id="rId2" Type="http://schemas.openxmlformats.org/officeDocument/2006/relationships/image" Target="../media/image386.png"/><Relationship Id="rId16" Type="http://schemas.openxmlformats.org/officeDocument/2006/relationships/image" Target="../media/image400.png"/><Relationship Id="rId20" Type="http://schemas.openxmlformats.org/officeDocument/2006/relationships/image" Target="../media/image4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0.png"/><Relationship Id="rId11" Type="http://schemas.openxmlformats.org/officeDocument/2006/relationships/image" Target="../media/image395.png"/><Relationship Id="rId5" Type="http://schemas.openxmlformats.org/officeDocument/2006/relationships/image" Target="../media/image389.png"/><Relationship Id="rId15" Type="http://schemas.openxmlformats.org/officeDocument/2006/relationships/image" Target="../media/image399.png"/><Relationship Id="rId10" Type="http://schemas.openxmlformats.org/officeDocument/2006/relationships/image" Target="../media/image394.png"/><Relationship Id="rId19" Type="http://schemas.openxmlformats.org/officeDocument/2006/relationships/image" Target="../media/image403.png"/><Relationship Id="rId4" Type="http://schemas.openxmlformats.org/officeDocument/2006/relationships/image" Target="../media/image388.png"/><Relationship Id="rId9" Type="http://schemas.openxmlformats.org/officeDocument/2006/relationships/image" Target="../media/image393.png"/><Relationship Id="rId14" Type="http://schemas.openxmlformats.org/officeDocument/2006/relationships/image" Target="../media/image39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13" Type="http://schemas.openxmlformats.org/officeDocument/2006/relationships/image" Target="../media/image416.png"/><Relationship Id="rId3" Type="http://schemas.openxmlformats.org/officeDocument/2006/relationships/image" Target="../media/image406.png"/><Relationship Id="rId7" Type="http://schemas.openxmlformats.org/officeDocument/2006/relationships/image" Target="../media/image410.png"/><Relationship Id="rId12" Type="http://schemas.openxmlformats.org/officeDocument/2006/relationships/image" Target="../media/image415.png"/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9.png"/><Relationship Id="rId11" Type="http://schemas.openxmlformats.org/officeDocument/2006/relationships/image" Target="../media/image414.png"/><Relationship Id="rId5" Type="http://schemas.openxmlformats.org/officeDocument/2006/relationships/image" Target="../media/image408.png"/><Relationship Id="rId10" Type="http://schemas.openxmlformats.org/officeDocument/2006/relationships/image" Target="../media/image413.png"/><Relationship Id="rId4" Type="http://schemas.openxmlformats.org/officeDocument/2006/relationships/image" Target="../media/image407.png"/><Relationship Id="rId9" Type="http://schemas.openxmlformats.org/officeDocument/2006/relationships/image" Target="../media/image412.png"/><Relationship Id="rId14" Type="http://schemas.openxmlformats.org/officeDocument/2006/relationships/image" Target="../media/image41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png"/><Relationship Id="rId13" Type="http://schemas.openxmlformats.org/officeDocument/2006/relationships/image" Target="../media/image429.jpg"/><Relationship Id="rId18" Type="http://schemas.openxmlformats.org/officeDocument/2006/relationships/image" Target="../media/image434.png"/><Relationship Id="rId3" Type="http://schemas.openxmlformats.org/officeDocument/2006/relationships/image" Target="../media/image419.png"/><Relationship Id="rId7" Type="http://schemas.openxmlformats.org/officeDocument/2006/relationships/image" Target="../media/image423.png"/><Relationship Id="rId12" Type="http://schemas.openxmlformats.org/officeDocument/2006/relationships/image" Target="../media/image428.png"/><Relationship Id="rId17" Type="http://schemas.openxmlformats.org/officeDocument/2006/relationships/image" Target="../media/image433.jpg"/><Relationship Id="rId2" Type="http://schemas.openxmlformats.org/officeDocument/2006/relationships/image" Target="../media/image418.png"/><Relationship Id="rId16" Type="http://schemas.openxmlformats.org/officeDocument/2006/relationships/image" Target="../media/image432.png"/><Relationship Id="rId20" Type="http://schemas.openxmlformats.org/officeDocument/2006/relationships/image" Target="../media/image4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2.png"/><Relationship Id="rId11" Type="http://schemas.openxmlformats.org/officeDocument/2006/relationships/image" Target="../media/image427.jpg"/><Relationship Id="rId5" Type="http://schemas.openxmlformats.org/officeDocument/2006/relationships/image" Target="../media/image421.png"/><Relationship Id="rId15" Type="http://schemas.openxmlformats.org/officeDocument/2006/relationships/image" Target="../media/image431.jpg"/><Relationship Id="rId10" Type="http://schemas.openxmlformats.org/officeDocument/2006/relationships/image" Target="../media/image426.png"/><Relationship Id="rId19" Type="http://schemas.openxmlformats.org/officeDocument/2006/relationships/image" Target="../media/image435.jpg"/><Relationship Id="rId4" Type="http://schemas.openxmlformats.org/officeDocument/2006/relationships/image" Target="../media/image420.png"/><Relationship Id="rId9" Type="http://schemas.openxmlformats.org/officeDocument/2006/relationships/image" Target="../media/image425.jpg"/><Relationship Id="rId14" Type="http://schemas.openxmlformats.org/officeDocument/2006/relationships/image" Target="../media/image43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3.png"/><Relationship Id="rId13" Type="http://schemas.openxmlformats.org/officeDocument/2006/relationships/image" Target="../media/image447.png"/><Relationship Id="rId3" Type="http://schemas.openxmlformats.org/officeDocument/2006/relationships/image" Target="../media/image438.png"/><Relationship Id="rId7" Type="http://schemas.openxmlformats.org/officeDocument/2006/relationships/image" Target="../media/image442.png"/><Relationship Id="rId12" Type="http://schemas.openxmlformats.org/officeDocument/2006/relationships/image" Target="../media/image171.png"/><Relationship Id="rId2" Type="http://schemas.openxmlformats.org/officeDocument/2006/relationships/image" Target="../media/image4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1.png"/><Relationship Id="rId11" Type="http://schemas.openxmlformats.org/officeDocument/2006/relationships/image" Target="../media/image446.png"/><Relationship Id="rId5" Type="http://schemas.openxmlformats.org/officeDocument/2006/relationships/image" Target="../media/image440.png"/><Relationship Id="rId10" Type="http://schemas.openxmlformats.org/officeDocument/2006/relationships/image" Target="../media/image445.png"/><Relationship Id="rId4" Type="http://schemas.openxmlformats.org/officeDocument/2006/relationships/image" Target="../media/image439.png"/><Relationship Id="rId9" Type="http://schemas.openxmlformats.org/officeDocument/2006/relationships/image" Target="../media/image444.png"/><Relationship Id="rId14" Type="http://schemas.openxmlformats.org/officeDocument/2006/relationships/image" Target="../media/image4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 di testo 2">
            <a:extLst>
              <a:ext uri="{FF2B5EF4-FFF2-40B4-BE49-F238E27FC236}">
                <a16:creationId xmlns:a16="http://schemas.microsoft.com/office/drawing/2014/main" id="{CD60F39F-0697-9306-59C2-050A0C81B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998" y="4170460"/>
            <a:ext cx="3552190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F763079-289E-A93C-EB1E-BF051687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41" y="5200651"/>
            <a:ext cx="1248709" cy="68477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49E2D39-027D-DC94-5F6C-D70263747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" t="-111" r="-9" b="-111"/>
          <a:stretch>
            <a:fillRect/>
          </a:stretch>
        </p:blipFill>
        <p:spPr bwMode="auto">
          <a:xfrm>
            <a:off x="1842450" y="412572"/>
            <a:ext cx="8507093" cy="72608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2A369BA-F177-BE2A-86F7-3CE0AB26E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476618"/>
              </p:ext>
            </p:extLst>
          </p:nvPr>
        </p:nvGraphicFramePr>
        <p:xfrm>
          <a:off x="1316052" y="2281726"/>
          <a:ext cx="9178183" cy="22731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09610">
                  <a:extLst>
                    <a:ext uri="{9D8B030D-6E8A-4147-A177-3AD203B41FA5}">
                      <a16:colId xmlns:a16="http://schemas.microsoft.com/office/drawing/2014/main" val="265635030"/>
                    </a:ext>
                  </a:extLst>
                </a:gridCol>
                <a:gridCol w="6368573">
                  <a:extLst>
                    <a:ext uri="{9D8B030D-6E8A-4147-A177-3AD203B41FA5}">
                      <a16:colId xmlns:a16="http://schemas.microsoft.com/office/drawing/2014/main" val="1002503838"/>
                    </a:ext>
                  </a:extLst>
                </a:gridCol>
              </a:tblGrid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DOCENTE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NOVEMBRE Matteo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00898"/>
                  </a:ext>
                </a:extLst>
              </a:tr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UNITA’ FORMATIVA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 e </a:t>
                      </a:r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56960"/>
                  </a:ext>
                </a:extLst>
              </a:tr>
              <a:tr h="715116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ARGOMENTO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Sicurezza e Automazione: Compliance </a:t>
                      </a:r>
                      <a:r>
                        <a:rPr lang="it-IT" sz="1800">
                          <a:solidFill>
                            <a:sysClr val="windowText" lastClr="000000"/>
                          </a:solidFill>
                        </a:rPr>
                        <a:t>&amp; Power Apps</a:t>
                      </a:r>
                      <a:endParaRPr lang="it-IT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27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5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81305" cy="6858000"/>
          </a:xfrm>
          <a:custGeom>
            <a:avLst/>
            <a:gdLst/>
            <a:ahLst/>
            <a:cxnLst/>
            <a:rect l="l" t="t" r="r" b="b"/>
            <a:pathLst>
              <a:path w="381305" h="6858000">
                <a:moveTo>
                  <a:pt x="95326" y="0"/>
                </a:moveTo>
                <a:lnTo>
                  <a:pt x="381305" y="0"/>
                </a:lnTo>
                <a:lnTo>
                  <a:pt x="3813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83B01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1" r="-201"/>
          <a:stretch/>
        </p:blipFill>
        <p:spPr>
          <a:xfrm>
            <a:off x="0" y="6782105"/>
            <a:ext cx="2857500" cy="758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098" y="0"/>
            <a:ext cx="5238598" cy="6858000"/>
          </a:xfrm>
          <a:custGeom>
            <a:avLst/>
            <a:gdLst/>
            <a:ahLst/>
            <a:cxnLst/>
            <a:rect l="l" t="t" r="r" b="b"/>
            <a:pathLst>
              <a:path w="5238598" h="6858000">
                <a:moveTo>
                  <a:pt x="1309649" y="0"/>
                </a:moveTo>
                <a:lnTo>
                  <a:pt x="5238598" y="0"/>
                </a:lnTo>
                <a:lnTo>
                  <a:pt x="523859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78D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4"/>
          <p:cNvSpPr/>
          <p:nvPr/>
        </p:nvSpPr>
        <p:spPr>
          <a:xfrm>
            <a:off x="571500" y="601675"/>
            <a:ext cx="1657807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538582" y="601675"/>
            <a:ext cx="172364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1E40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Microsoft 365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2339035" y="620878"/>
            <a:ext cx="13944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Modulo 3 | 16 Ore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71500" y="1058875"/>
            <a:ext cx="69540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Modulo 3: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Automazione, Sicurezza</a:t>
            </a:r>
            <a:endParaRPr lang="en-US" sz="45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Best Practice M365</a:t>
            </a:r>
            <a:endParaRPr lang="en-US" sz="45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3573475"/>
            <a:ext cx="62682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avanzata, protezione dei dati e automazione dei processi per un ambiente di lavoro sicuro ed efficiente.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9" r="-9"/>
          <a:stretch/>
        </p:blipFill>
        <p:spPr>
          <a:xfrm>
            <a:off x="571500" y="4487875"/>
            <a:ext cx="6782105" cy="17675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05510" y="4716475"/>
            <a:ext cx="6134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Obiettivi del Modulo 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4764024"/>
            <a:ext cx="171907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57707" y="5059375"/>
            <a:ext cx="63441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Apprendere l'uso dell'Admin Center, configurare la sicurezza (MFA), gestire identità con Entra ID e automatizzare flussi con Power Platform.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57707" y="5707685"/>
            <a:ext cx="1133856" cy="323698"/>
          </a:xfrm>
          <a:prstGeom prst="roundRect">
            <a:avLst>
              <a:gd name="adj" fmla="val 282486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2"/>
          <p:cNvSpPr/>
          <p:nvPr/>
        </p:nvSpPr>
        <p:spPr>
          <a:xfrm>
            <a:off x="1105510" y="5707685"/>
            <a:ext cx="9436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1F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9498" y="5800954"/>
            <a:ext cx="133502" cy="13350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160727" y="5707685"/>
            <a:ext cx="1438351" cy="323698"/>
          </a:xfrm>
          <a:prstGeom prst="roundRect">
            <a:avLst>
              <a:gd name="adj" fmla="val 282486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4"/>
          <p:cNvSpPr/>
          <p:nvPr/>
        </p:nvSpPr>
        <p:spPr>
          <a:xfrm>
            <a:off x="2479854" y="5707685"/>
            <a:ext cx="117683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1F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Automazione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2313432" y="5800954"/>
            <a:ext cx="171907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3763670" y="5707685"/>
            <a:ext cx="1352398" cy="323698"/>
          </a:xfrm>
          <a:prstGeom prst="roundRect">
            <a:avLst>
              <a:gd name="adj" fmla="val 282486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/>
          <p:cNvSpPr/>
          <p:nvPr/>
        </p:nvSpPr>
        <p:spPr>
          <a:xfrm>
            <a:off x="4029761" y="5707685"/>
            <a:ext cx="114391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1F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0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3916375" y="5800954"/>
            <a:ext cx="171907" cy="13350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 t="-9" b="-9"/>
          <a:stretch/>
        </p:blipFill>
        <p:spPr>
          <a:xfrm rot="21420000">
            <a:off x="8058607" y="1969618"/>
            <a:ext cx="3725266" cy="2306117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 l="3003" r="3003"/>
          <a:stretch/>
        </p:blipFill>
        <p:spPr>
          <a:xfrm rot="21420000">
            <a:off x="8105242" y="1976018"/>
            <a:ext cx="3534156" cy="2115007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rcRect l="-33" r="-33"/>
          <a:stretch/>
        </p:blipFill>
        <p:spPr>
          <a:xfrm rot="120000">
            <a:off x="9161374" y="4316882"/>
            <a:ext cx="2345436" cy="651967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9385402" y="4418381"/>
            <a:ext cx="323698" cy="32369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/>
          <a:srcRect t="-4641" b="-4641"/>
          <a:stretch/>
        </p:blipFill>
        <p:spPr>
          <a:xfrm>
            <a:off x="9469526" y="4511650"/>
            <a:ext cx="152705" cy="133502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9575597" y="4424782"/>
            <a:ext cx="323698" cy="323698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4"/>
          <a:srcRect l="-2910" r="-2910"/>
          <a:stretch/>
        </p:blipFill>
        <p:spPr>
          <a:xfrm>
            <a:off x="9678924" y="4523537"/>
            <a:ext cx="114300" cy="123444"/>
          </a:xfrm>
          <a:prstGeom prst="rect">
            <a:avLst/>
          </a:prstGeom>
        </p:spPr>
      </p:pic>
      <p:sp>
        <p:nvSpPr>
          <p:cNvPr id="33" name="Shape 19"/>
          <p:cNvSpPr/>
          <p:nvPr/>
        </p:nvSpPr>
        <p:spPr>
          <a:xfrm>
            <a:off x="9766706" y="4431182"/>
            <a:ext cx="323698" cy="323698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864547" y="4529938"/>
            <a:ext cx="123444" cy="123444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10229393" y="4428439"/>
            <a:ext cx="1114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Modulo Finale</a:t>
            </a:r>
            <a:endParaRPr lang="en-US" sz="900" dirty="0"/>
          </a:p>
        </p:txBody>
      </p:sp>
      <p:sp>
        <p:nvSpPr>
          <p:cNvPr id="36" name="Text 21"/>
          <p:cNvSpPr txBox="1"/>
          <p:nvPr/>
        </p:nvSpPr>
        <p:spPr>
          <a:xfrm>
            <a:off x="10222992" y="4580230"/>
            <a:ext cx="12362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Skills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76402" y="1380744"/>
            <a:ext cx="2667305" cy="2381098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76402" y="1380744"/>
            <a:ext cx="2667305" cy="47549"/>
          </a:xfrm>
          <a:prstGeom prst="roundRect">
            <a:avLst>
              <a:gd name="adj" fmla="val 153846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1800" y="1333195"/>
            <a:ext cx="267005" cy="267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43454" y="1333195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524305" y="1954987"/>
            <a:ext cx="571500" cy="571500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666951" y="2126894"/>
            <a:ext cx="286207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1500" y="2640787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Center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80644" y="2899562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Panoramica strumenti di amministrazione avanzata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33902" y="1380744"/>
            <a:ext cx="2667305" cy="2381098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3333902" y="1380744"/>
            <a:ext cx="2667305" cy="47549"/>
          </a:xfrm>
          <a:prstGeom prst="roundRect">
            <a:avLst>
              <a:gd name="adj" fmla="val 153846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29300" y="1333195"/>
            <a:ext cx="267005" cy="2670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00954" y="1333195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381805" y="1954987"/>
            <a:ext cx="571500" cy="571500"/>
          </a:xfrm>
          <a:prstGeom prst="ellipse">
            <a:avLst/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52798" y="2126894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429000" y="2640787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Sicurezza M365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438144" y="2899562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MFA, audit log e gestione ruoli amministrativi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191402" y="1380744"/>
            <a:ext cx="2667305" cy="2381098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5"/>
          <p:cNvSpPr/>
          <p:nvPr/>
        </p:nvSpPr>
        <p:spPr>
          <a:xfrm>
            <a:off x="6191402" y="1380744"/>
            <a:ext cx="2667305" cy="47549"/>
          </a:xfrm>
          <a:prstGeom prst="roundRect">
            <a:avLst>
              <a:gd name="adj" fmla="val 153846"/>
            </a:avLst>
          </a:prstGeom>
          <a:solidFill>
            <a:srgbClr val="0078D7"/>
          </a:solidFill>
          <a:ln w="12700">
            <a:solidFill>
              <a:srgbClr val="0078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0" y="1333195"/>
            <a:ext cx="267005" cy="26700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58454" y="1333195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239305" y="1954987"/>
            <a:ext cx="571500" cy="571500"/>
          </a:xfrm>
          <a:prstGeom prst="ellipse">
            <a:avLst/>
          </a:prstGeom>
          <a:solidFill>
            <a:srgbClr val="DEE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7396582" y="2126894"/>
            <a:ext cx="256946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286500" y="2640787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Entra ID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6295644" y="2899562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Identity management e gestione accessi (ex Azure AD)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9048902" y="1380744"/>
            <a:ext cx="2667305" cy="2381098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1"/>
          <p:cNvSpPr/>
          <p:nvPr/>
        </p:nvSpPr>
        <p:spPr>
          <a:xfrm>
            <a:off x="9048902" y="1380744"/>
            <a:ext cx="2667305" cy="47549"/>
          </a:xfrm>
          <a:prstGeom prst="roundRect">
            <a:avLst>
              <a:gd name="adj" fmla="val 153846"/>
            </a:avLst>
          </a:prstGeom>
          <a:solidFill>
            <a:srgbClr val="008272"/>
          </a:solidFill>
          <a:ln w="12700">
            <a:solidFill>
              <a:srgbClr val="0082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44300" y="1333195"/>
            <a:ext cx="267005" cy="26700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515954" y="1333195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10096805" y="1954987"/>
            <a:ext cx="571500" cy="571500"/>
          </a:xfrm>
          <a:prstGeom prst="ellipse">
            <a:avLst/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0282428" y="2126894"/>
            <a:ext cx="200254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44000" y="2640787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Automate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9153144" y="2899562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Workflow documentali e automazione su SharePoint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476402" y="3952951"/>
            <a:ext cx="2667305" cy="2381098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27"/>
          <p:cNvSpPr/>
          <p:nvPr/>
        </p:nvSpPr>
        <p:spPr>
          <a:xfrm>
            <a:off x="476402" y="3952951"/>
            <a:ext cx="2667305" cy="47549"/>
          </a:xfrm>
          <a:prstGeom prst="roundRect">
            <a:avLst>
              <a:gd name="adj" fmla="val 153846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1800" y="3905402"/>
            <a:ext cx="267005" cy="26700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2943454" y="3905402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1524305" y="4527194"/>
            <a:ext cx="571500" cy="571500"/>
          </a:xfrm>
          <a:prstGeom prst="ellipse">
            <a:avLst/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1723644" y="4698187"/>
            <a:ext cx="171907" cy="22860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71500" y="5212994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Apps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580644" y="5470855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Creazione interfacce personalizzate su liste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333902" y="3952951"/>
            <a:ext cx="2667305" cy="2381098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5" name="Shape 33"/>
          <p:cNvSpPr/>
          <p:nvPr/>
        </p:nvSpPr>
        <p:spPr>
          <a:xfrm>
            <a:off x="3333902" y="3952951"/>
            <a:ext cx="2667305" cy="47549"/>
          </a:xfrm>
          <a:prstGeom prst="roundRect">
            <a:avLst>
              <a:gd name="adj" fmla="val 153846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29300" y="3905402"/>
            <a:ext cx="267005" cy="267005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800954" y="3905402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4381805" y="4527194"/>
            <a:ext cx="571500" cy="571500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4524451" y="4698187"/>
            <a:ext cx="286207" cy="228600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3429000" y="5212994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51" name="Text 37"/>
          <p:cNvSpPr txBox="1"/>
          <p:nvPr/>
        </p:nvSpPr>
        <p:spPr>
          <a:xfrm>
            <a:off x="3438144" y="5470855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Naming convention e Data Loss Prevention (DLP)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6191402" y="3952951"/>
            <a:ext cx="2667305" cy="2381098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3" name="Shape 39"/>
          <p:cNvSpPr/>
          <p:nvPr/>
        </p:nvSpPr>
        <p:spPr>
          <a:xfrm>
            <a:off x="6191402" y="3952951"/>
            <a:ext cx="2667305" cy="47549"/>
          </a:xfrm>
          <a:prstGeom prst="roundRect">
            <a:avLst>
              <a:gd name="adj" fmla="val 153846"/>
            </a:avLst>
          </a:prstGeom>
          <a:solidFill>
            <a:srgbClr val="605E5C"/>
          </a:solidFill>
          <a:ln w="12700">
            <a:solidFill>
              <a:srgbClr val="605E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0" y="3905402"/>
            <a:ext cx="267005" cy="267005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8658454" y="3905402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  <p:sp>
        <p:nvSpPr>
          <p:cNvPr id="56" name="Shape 41"/>
          <p:cNvSpPr/>
          <p:nvPr/>
        </p:nvSpPr>
        <p:spPr>
          <a:xfrm>
            <a:off x="7239305" y="4527194"/>
            <a:ext cx="571500" cy="5715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410298" y="4698187"/>
            <a:ext cx="228600" cy="228600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6286500" y="5212994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Backup &amp; Recovery</a:t>
            </a:r>
            <a:endParaRPr lang="en-US" sz="1300" dirty="0"/>
          </a:p>
        </p:txBody>
      </p:sp>
      <p:sp>
        <p:nvSpPr>
          <p:cNvPr id="59" name="Text 43"/>
          <p:cNvSpPr txBox="1"/>
          <p:nvPr/>
        </p:nvSpPr>
        <p:spPr>
          <a:xfrm>
            <a:off x="6295644" y="5470855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 dati su SharePoint e OneDrive</a:t>
            </a:r>
            <a:endParaRPr lang="en-US" sz="1000" dirty="0"/>
          </a:p>
        </p:txBody>
      </p:sp>
      <p:sp>
        <p:nvSpPr>
          <p:cNvPr id="60" name="Shape 44"/>
          <p:cNvSpPr/>
          <p:nvPr/>
        </p:nvSpPr>
        <p:spPr>
          <a:xfrm>
            <a:off x="9048902" y="3952951"/>
            <a:ext cx="2667305" cy="2381098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1" name="Shape 45"/>
          <p:cNvSpPr/>
          <p:nvPr/>
        </p:nvSpPr>
        <p:spPr>
          <a:xfrm>
            <a:off x="9048902" y="3952951"/>
            <a:ext cx="2667305" cy="47549"/>
          </a:xfrm>
          <a:prstGeom prst="roundRect">
            <a:avLst>
              <a:gd name="adj" fmla="val 153846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44300" y="3905402"/>
            <a:ext cx="267005" cy="267005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11515954" y="3905402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  <p:sp>
        <p:nvSpPr>
          <p:cNvPr id="64" name="Shape 47"/>
          <p:cNvSpPr/>
          <p:nvPr/>
        </p:nvSpPr>
        <p:spPr>
          <a:xfrm>
            <a:off x="10096805" y="4527194"/>
            <a:ext cx="571500" cy="571500"/>
          </a:xfrm>
          <a:prstGeom prst="ellipse">
            <a:avLst/>
          </a:prstGeom>
          <a:solidFill>
            <a:srgbClr val="E6FF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0282428" y="4698187"/>
            <a:ext cx="200254" cy="228600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9144000" y="5212994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Conclusioni</a:t>
            </a:r>
            <a:endParaRPr lang="en-US" sz="1300" dirty="0"/>
          </a:p>
        </p:txBody>
      </p:sp>
      <p:sp>
        <p:nvSpPr>
          <p:cNvPr id="67" name="Text 49"/>
          <p:cNvSpPr txBox="1"/>
          <p:nvPr/>
        </p:nvSpPr>
        <p:spPr>
          <a:xfrm>
            <a:off x="9153144" y="5470855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Progetto finale e chiusura del percorso formativo</a:t>
            </a:r>
            <a:endParaRPr lang="en-US" sz="1000" dirty="0"/>
          </a:p>
        </p:txBody>
      </p:sp>
      <p:sp>
        <p:nvSpPr>
          <p:cNvPr id="68" name="Shape 50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9" name="Shape 51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52"/>
          <p:cNvSpPr txBox="1"/>
          <p:nvPr/>
        </p:nvSpPr>
        <p:spPr>
          <a:xfrm>
            <a:off x="476402" y="105156"/>
            <a:ext cx="3076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Modulo 3</a:t>
            </a:r>
            <a:endParaRPr lang="en-US" sz="1000" dirty="0"/>
          </a:p>
        </p:txBody>
      </p:sp>
      <p:sp>
        <p:nvSpPr>
          <p:cNvPr id="71" name="Text 53"/>
          <p:cNvSpPr txBox="1"/>
          <p:nvPr/>
        </p:nvSpPr>
        <p:spPr>
          <a:xfrm>
            <a:off x="476402" y="333756"/>
            <a:ext cx="35926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 del Corso</a:t>
            </a:r>
            <a:endParaRPr lang="en-US" sz="2700" dirty="0"/>
          </a:p>
        </p:txBody>
      </p:sp>
      <p:sp>
        <p:nvSpPr>
          <p:cNvPr id="72" name="Shape 54"/>
          <p:cNvSpPr/>
          <p:nvPr/>
        </p:nvSpPr>
        <p:spPr>
          <a:xfrm>
            <a:off x="10191902" y="228600"/>
            <a:ext cx="1524305" cy="362102"/>
          </a:xfrm>
          <a:prstGeom prst="roundRect">
            <a:avLst>
              <a:gd name="adj" fmla="val 25252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3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353751" y="333756"/>
            <a:ext cx="152705" cy="152705"/>
          </a:xfrm>
          <a:prstGeom prst="rect">
            <a:avLst/>
          </a:prstGeom>
        </p:spPr>
      </p:pic>
      <p:sp>
        <p:nvSpPr>
          <p:cNvPr id="74" name="Text 55"/>
          <p:cNvSpPr txBox="1"/>
          <p:nvPr/>
        </p:nvSpPr>
        <p:spPr>
          <a:xfrm>
            <a:off x="10582351" y="228600"/>
            <a:ext cx="10287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Durata: 16 Ore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951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856793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096305" y="857707"/>
            <a:ext cx="6096305" cy="6001207"/>
          </a:xfrm>
          <a:custGeom>
            <a:avLst/>
            <a:gdLst/>
            <a:ahLst/>
            <a:cxnLst/>
            <a:rect l="l" t="t" r="r" b="b"/>
            <a:pathLst>
              <a:path w="6096305" h="6001207">
                <a:moveTo>
                  <a:pt x="1219261" y="0"/>
                </a:moveTo>
                <a:lnTo>
                  <a:pt x="6096305" y="0"/>
                </a:lnTo>
                <a:lnTo>
                  <a:pt x="6096305" y="6001207"/>
                </a:lnTo>
                <a:lnTo>
                  <a:pt x="0" y="6001207"/>
                </a:lnTo>
                <a:close/>
              </a:path>
            </a:pathLst>
          </a:custGeom>
          <a:solidFill>
            <a:srgbClr val="FFF4E6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143500" y="3619195"/>
            <a:ext cx="6286500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3581705"/>
            <a:ext cx="114300" cy="1143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8001000" y="3581705"/>
            <a:ext cx="114300" cy="1143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3838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10287000" y="3581705"/>
            <a:ext cx="114300" cy="114300"/>
          </a:xfrm>
          <a:prstGeom prst="ellipse">
            <a:avLst/>
          </a:prstGeom>
          <a:solidFill>
            <a:srgbClr val="D83B01"/>
          </a:solidFill>
          <a:ln w="38100">
            <a:solidFill>
              <a:srgbClr val="D83B0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t="-30" b="-30"/>
          <a:stretch/>
        </p:blipFill>
        <p:spPr>
          <a:xfrm>
            <a:off x="11620195" y="3467405"/>
            <a:ext cx="190195" cy="30449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71500" y="1524305"/>
            <a:ext cx="1380744" cy="304495"/>
          </a:xfrm>
          <a:prstGeom prst="roundRect">
            <a:avLst>
              <a:gd name="adj" fmla="val 300300"/>
            </a:avLst>
          </a:prstGeom>
          <a:solidFill>
            <a:srgbClr val="D0E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 txBox="1"/>
          <p:nvPr/>
        </p:nvSpPr>
        <p:spPr>
          <a:xfrm>
            <a:off x="571500" y="2095805"/>
            <a:ext cx="432694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Dal "Cosa" al "Come" gestire in sicurezza.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3238805"/>
            <a:ext cx="42675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Abbiamo imparato a usare gli strumenti e a strutturare i dati. Ora è il momento di capire come amministrare, proteggere e automatizzare l'intero ecosistema.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71500" y="4381805"/>
            <a:ext cx="4229100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571500" y="4381805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5048402" y="1524305"/>
            <a:ext cx="2190902" cy="1772107"/>
          </a:xfrm>
          <a:prstGeom prst="roundRect">
            <a:avLst>
              <a:gd name="adj" fmla="val 6658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048402" y="1524305"/>
            <a:ext cx="2190902" cy="57607"/>
          </a:xfrm>
          <a:prstGeom prst="roundRect">
            <a:avLst>
              <a:gd name="adj" fmla="val 204814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7334402" y="3905402"/>
            <a:ext cx="2190902" cy="1772107"/>
          </a:xfrm>
          <a:prstGeom prst="roundRect">
            <a:avLst>
              <a:gd name="adj" fmla="val 6658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7334402" y="3905402"/>
            <a:ext cx="2190902" cy="57607"/>
          </a:xfrm>
          <a:prstGeom prst="roundRect">
            <a:avLst>
              <a:gd name="adj" fmla="val 204814"/>
            </a:avLst>
          </a:prstGeom>
          <a:solidFill>
            <a:srgbClr val="038387"/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5800" y="1616659"/>
            <a:ext cx="133502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95198" y="1571854"/>
            <a:ext cx="103052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Collegamento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714146" y="4552798"/>
            <a:ext cx="114300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52805" y="4533595"/>
            <a:ext cx="3734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Obiettivo Modulo 3: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714146" y="4809744"/>
            <a:ext cx="3934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Passare da utente avanzato ad amministratore consapevole.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191049" y="1666951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1"/>
          <p:cNvSpPr txBox="1"/>
          <p:nvPr/>
        </p:nvSpPr>
        <p:spPr>
          <a:xfrm>
            <a:off x="5191049" y="2143354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Modulo 1: Intro M365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400446" y="2428646"/>
            <a:ext cx="1772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Panoramica Suite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22547" r="-22547"/>
          <a:stretch/>
        </p:blipFill>
        <p:spPr>
          <a:xfrm>
            <a:off x="5191049" y="2462479"/>
            <a:ext cx="133502" cy="1051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400446" y="2657246"/>
            <a:ext cx="1772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Teams, OneDrive, Exchange</a:t>
            </a:r>
            <a:endParaRPr lang="en-US" sz="9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rcRect l="-22547" r="-22547"/>
          <a:stretch/>
        </p:blipFill>
        <p:spPr>
          <a:xfrm>
            <a:off x="5191049" y="2691079"/>
            <a:ext cx="133502" cy="1051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400446" y="2885846"/>
            <a:ext cx="1772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base</a:t>
            </a:r>
            <a:endParaRPr lang="en-US" sz="9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rcRect l="-22547" r="-22547"/>
          <a:stretch/>
        </p:blipFill>
        <p:spPr>
          <a:xfrm>
            <a:off x="5191049" y="2919679"/>
            <a:ext cx="133502" cy="105156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7477049" y="4048049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383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6"/>
          <p:cNvSpPr txBox="1"/>
          <p:nvPr/>
        </p:nvSpPr>
        <p:spPr>
          <a:xfrm>
            <a:off x="7477049" y="4524451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Modulo 2: SharePoint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7686446" y="4809744"/>
            <a:ext cx="1772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Siti e Librerie</a:t>
            </a:r>
            <a:endParaRPr lang="en-US" sz="9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8"/>
          <a:srcRect l="-22547" r="-22547"/>
          <a:stretch/>
        </p:blipFill>
        <p:spPr>
          <a:xfrm>
            <a:off x="7477049" y="4843577"/>
            <a:ext cx="133502" cy="105156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686446" y="5038344"/>
            <a:ext cx="1772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 e Metadati</a:t>
            </a:r>
            <a:endParaRPr lang="en-US" sz="9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8"/>
          <a:srcRect l="-22547" r="-22547"/>
          <a:stretch/>
        </p:blipFill>
        <p:spPr>
          <a:xfrm>
            <a:off x="7477049" y="5072177"/>
            <a:ext cx="133502" cy="105156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686446" y="5266944"/>
            <a:ext cx="1772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Permessi e Struttura</a:t>
            </a:r>
            <a:endParaRPr lang="en-US" sz="9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8"/>
          <a:srcRect l="-22547" r="-22547"/>
          <a:stretch/>
        </p:blipFill>
        <p:spPr>
          <a:xfrm>
            <a:off x="7477049" y="5300777"/>
            <a:ext cx="133502" cy="105156"/>
          </a:xfrm>
          <a:prstGeom prst="rect">
            <a:avLst/>
          </a:prstGeom>
        </p:spPr>
      </p:pic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5286146" y="1762049"/>
            <a:ext cx="171907" cy="190195"/>
          </a:xfrm>
          <a:prstGeom prst="rect">
            <a:avLst/>
          </a:prstGeom>
        </p:spPr>
      </p:pic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7591349" y="4143146"/>
            <a:ext cx="152705" cy="171907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571500" y="209398"/>
            <a:ext cx="3924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1D4E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Nostro Percorso</a:t>
            </a:r>
            <a:endParaRPr lang="en-US" sz="1000" dirty="0"/>
          </a:p>
        </p:txBody>
      </p:sp>
      <p:sp>
        <p:nvSpPr>
          <p:cNvPr id="45" name="Text 31"/>
          <p:cNvSpPr txBox="1"/>
          <p:nvPr/>
        </p:nvSpPr>
        <p:spPr>
          <a:xfrm>
            <a:off x="571500" y="400507"/>
            <a:ext cx="58293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Dove Siamo Arrivati</a:t>
            </a:r>
            <a:endParaRPr lang="en-US" sz="2400" dirty="0"/>
          </a:p>
        </p:txBody>
      </p:sp>
      <p:sp>
        <p:nvSpPr>
          <p:cNvPr id="46" name="Shape 32"/>
          <p:cNvSpPr/>
          <p:nvPr/>
        </p:nvSpPr>
        <p:spPr>
          <a:xfrm>
            <a:off x="10096805" y="237744"/>
            <a:ext cx="1543507" cy="400507"/>
          </a:xfrm>
          <a:prstGeom prst="roundRect">
            <a:avLst>
              <a:gd name="adj" fmla="val 8697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1"/>
          <a:srcRect t="-7" b="-7"/>
          <a:stretch/>
        </p:blipFill>
        <p:spPr>
          <a:xfrm>
            <a:off x="9144000" y="1333195"/>
            <a:ext cx="2381098" cy="1962302"/>
          </a:xfrm>
          <a:prstGeom prst="rect">
            <a:avLst/>
          </a:prstGeom>
        </p:spPr>
      </p:pic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239451" y="333756"/>
            <a:ext cx="152705" cy="152705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0477195" y="314554"/>
            <a:ext cx="1124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Roadmap Corso</a:t>
            </a:r>
            <a:endParaRPr lang="en-US" sz="1000" dirty="0"/>
          </a:p>
        </p:txBody>
      </p:sp>
      <p:sp>
        <p:nvSpPr>
          <p:cNvPr id="50" name="Shape 34"/>
          <p:cNvSpPr/>
          <p:nvPr/>
        </p:nvSpPr>
        <p:spPr>
          <a:xfrm>
            <a:off x="9286646" y="147675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D83B0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35"/>
          <p:cNvSpPr txBox="1"/>
          <p:nvPr/>
        </p:nvSpPr>
        <p:spPr>
          <a:xfrm>
            <a:off x="9286646" y="2000707"/>
            <a:ext cx="2171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Modulo 3: Admin &amp; Sicurezza</a:t>
            </a:r>
            <a:endParaRPr lang="en-US" sz="1200" dirty="0"/>
          </a:p>
        </p:txBody>
      </p:sp>
      <p:sp>
        <p:nvSpPr>
          <p:cNvPr id="52" name="Text 36"/>
          <p:cNvSpPr txBox="1"/>
          <p:nvPr/>
        </p:nvSpPr>
        <p:spPr>
          <a:xfrm>
            <a:off x="9496044" y="2476195"/>
            <a:ext cx="19705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Center &amp; Utenti</a:t>
            </a:r>
            <a:endParaRPr lang="en-US" sz="900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3"/>
          <a:srcRect l="-22547" r="-22547"/>
          <a:stretch/>
        </p:blipFill>
        <p:spPr>
          <a:xfrm>
            <a:off x="9286646" y="2505456"/>
            <a:ext cx="133502" cy="105156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9496044" y="2706624"/>
            <a:ext cx="19705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e Compliance</a:t>
            </a:r>
            <a:endParaRPr lang="en-US" sz="900" dirty="0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3"/>
          <a:srcRect l="-22547" r="-22547"/>
          <a:stretch/>
        </p:blipFill>
        <p:spPr>
          <a:xfrm>
            <a:off x="9286646" y="2735885"/>
            <a:ext cx="133502" cy="105156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9496044" y="2937053"/>
            <a:ext cx="19705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Automazione (Power Platform)</a:t>
            </a:r>
            <a:endParaRPr lang="en-US" sz="900" dirty="0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13"/>
          <a:srcRect l="-22547" r="-22547"/>
          <a:stretch/>
        </p:blipFill>
        <p:spPr>
          <a:xfrm>
            <a:off x="9286646" y="2965399"/>
            <a:ext cx="133502" cy="105156"/>
          </a:xfrm>
          <a:prstGeom prst="rect">
            <a:avLst/>
          </a:prstGeom>
        </p:spPr>
      </p:pic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400946" y="1591056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238098"/>
            <a:ext cx="3866998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57607" cy="2190902"/>
          </a:xfrm>
          <a:prstGeom prst="roundRect">
            <a:avLst>
              <a:gd name="adj" fmla="val 165632"/>
            </a:avLst>
          </a:prstGeom>
          <a:solidFill>
            <a:srgbClr val="002050"/>
          </a:solidFill>
          <a:ln w="12700">
            <a:solidFill>
              <a:srgbClr val="0020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914400" y="1524305"/>
            <a:ext cx="3353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Definizione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04695"/>
            <a:ext cx="33147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L'insieme di policy, ruoli, responsabilità e processi che assicurano l'utilizzo efficace ed efficiente degli strumenti IT per raggiungere gli obiettivi aziendali mantenendo i dati sicuri.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" y="3666744"/>
            <a:ext cx="3866998" cy="2809951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809244" y="4304995"/>
            <a:ext cx="33905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809244" y="3962095"/>
            <a:ext cx="3505810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Perché serve?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" y="4533595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52805" y="4677156"/>
            <a:ext cx="190195" cy="1901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29207" y="4466844"/>
            <a:ext cx="28831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Senza Governance (Chaos)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429207" y="4695444"/>
            <a:ext cx="28483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Proliferazione incontrollata, rischi sicurezza, dati persi, costi occulti.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37844" y="5305349"/>
            <a:ext cx="19202" cy="2286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809244" y="5639105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805" y="5781751"/>
            <a:ext cx="190195" cy="1901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29207" y="5572354"/>
            <a:ext cx="28831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Governance (Ordine)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429207" y="5800954"/>
            <a:ext cx="28483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chiara, dati protetti, processi standardizzati, controllo.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086807" y="123809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Ambiti di Applicazione </a:t>
            </a:r>
            <a:endParaRPr lang="en-US" sz="15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19802" y="1276502"/>
            <a:ext cx="190195" cy="19019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819802" y="1657807"/>
            <a:ext cx="3305556" cy="828446"/>
          </a:xfrm>
          <a:prstGeom prst="roundRect">
            <a:avLst>
              <a:gd name="adj" fmla="val 2537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5020056" y="1857146"/>
            <a:ext cx="428854" cy="428854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43500" y="1981505"/>
            <a:ext cx="181051" cy="18105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591556" y="1880921"/>
            <a:ext cx="1752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Naming Convention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591556" y="2109521"/>
            <a:ext cx="19952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Standardizzazione nomi risorse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8315554" y="1657807"/>
            <a:ext cx="3305556" cy="828446"/>
          </a:xfrm>
          <a:prstGeom prst="roundRect">
            <a:avLst>
              <a:gd name="adj" fmla="val 2537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3"/>
          <p:cNvSpPr/>
          <p:nvPr/>
        </p:nvSpPr>
        <p:spPr>
          <a:xfrm>
            <a:off x="8515807" y="1857146"/>
            <a:ext cx="428854" cy="428854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39251" y="1981505"/>
            <a:ext cx="181051" cy="18105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087307" y="1880921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087307" y="2109521"/>
            <a:ext cx="167792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accessi e identità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819802" y="2676449"/>
            <a:ext cx="3305556" cy="828446"/>
          </a:xfrm>
          <a:prstGeom prst="roundRect">
            <a:avLst>
              <a:gd name="adj" fmla="val 2537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7"/>
          <p:cNvSpPr/>
          <p:nvPr/>
        </p:nvSpPr>
        <p:spPr>
          <a:xfrm>
            <a:off x="5020056" y="2876702"/>
            <a:ext cx="428854" cy="428854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rcRect t="-856" b="-856"/>
          <a:stretch/>
        </p:blipFill>
        <p:spPr>
          <a:xfrm>
            <a:off x="5167274" y="3000146"/>
            <a:ext cx="133502" cy="181051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591556" y="2900477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5591556" y="3129077"/>
            <a:ext cx="15307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DLP e normative (GDPR)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8315554" y="2676449"/>
            <a:ext cx="3305556" cy="828446"/>
          </a:xfrm>
          <a:prstGeom prst="roundRect">
            <a:avLst>
              <a:gd name="adj" fmla="val 2537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1"/>
          <p:cNvSpPr/>
          <p:nvPr/>
        </p:nvSpPr>
        <p:spPr>
          <a:xfrm>
            <a:off x="8515807" y="2876702"/>
            <a:ext cx="428854" cy="428854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39251" y="3000146"/>
            <a:ext cx="181051" cy="181051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9087307" y="2900477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9087307" y="3129077"/>
            <a:ext cx="17007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Ciclo di vita e archiviazione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5086807" y="4515307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Benefici Chiave </a:t>
            </a:r>
            <a:endParaRPr lang="en-US" sz="15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19802" y="4552798"/>
            <a:ext cx="190195" cy="190195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4819802" y="4934102"/>
            <a:ext cx="2143354" cy="1543507"/>
          </a:xfrm>
          <a:prstGeom prst="roundRect">
            <a:avLst>
              <a:gd name="adj" fmla="val 7314"/>
            </a:avLst>
          </a:prstGeom>
          <a:solidFill>
            <a:srgbClr val="00205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205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36946" y="5201107"/>
            <a:ext cx="304495" cy="30449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5106010" y="5676595"/>
            <a:ext cx="15764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Riduzione Costi</a:t>
            </a:r>
            <a:endParaRPr lang="en-US" sz="1300" dirty="0"/>
          </a:p>
        </p:txBody>
      </p:sp>
      <p:sp>
        <p:nvSpPr>
          <p:cNvPr id="48" name="Text 37"/>
          <p:cNvSpPr txBox="1"/>
          <p:nvPr/>
        </p:nvSpPr>
        <p:spPr>
          <a:xfrm>
            <a:off x="4975250" y="5982005"/>
            <a:ext cx="183337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 sprechi e licenze inutilizzate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7149694" y="4934102"/>
            <a:ext cx="2143354" cy="1543507"/>
          </a:xfrm>
          <a:prstGeom prst="roundRect">
            <a:avLst>
              <a:gd name="adj" fmla="val 7314"/>
            </a:avLst>
          </a:prstGeom>
          <a:solidFill>
            <a:srgbClr val="00205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205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1"/>
          <a:srcRect l="-90" r="-90"/>
          <a:stretch/>
        </p:blipFill>
        <p:spPr>
          <a:xfrm>
            <a:off x="8029346" y="5277002"/>
            <a:ext cx="381305" cy="30449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729423" y="5753405"/>
            <a:ext cx="9866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Efficienza</a:t>
            </a:r>
            <a:endParaRPr lang="en-US" sz="1300" dirty="0"/>
          </a:p>
        </p:txBody>
      </p:sp>
      <p:sp>
        <p:nvSpPr>
          <p:cNvPr id="52" name="Text 40"/>
          <p:cNvSpPr txBox="1"/>
          <p:nvPr/>
        </p:nvSpPr>
        <p:spPr>
          <a:xfrm>
            <a:off x="7237476" y="6057900"/>
            <a:ext cx="1972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Processi rapidi e standardizzati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9480499" y="4934102"/>
            <a:ext cx="2143354" cy="1543507"/>
          </a:xfrm>
          <a:prstGeom prst="roundRect">
            <a:avLst>
              <a:gd name="adj" fmla="val 7314"/>
            </a:avLst>
          </a:prstGeom>
          <a:solidFill>
            <a:srgbClr val="00205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00205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2"/>
          <a:srcRect l="-90" r="-90"/>
          <a:stretch/>
        </p:blipFill>
        <p:spPr>
          <a:xfrm>
            <a:off x="10360152" y="5277002"/>
            <a:ext cx="381305" cy="3044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10000793" y="5753405"/>
            <a:ext cx="110276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Conformità</a:t>
            </a:r>
            <a:endParaRPr lang="en-US" sz="1300" dirty="0"/>
          </a:p>
        </p:txBody>
      </p:sp>
      <p:sp>
        <p:nvSpPr>
          <p:cNvPr id="56" name="Text 43"/>
          <p:cNvSpPr txBox="1"/>
          <p:nvPr/>
        </p:nvSpPr>
        <p:spPr>
          <a:xfrm>
            <a:off x="9549994" y="6057900"/>
            <a:ext cx="20071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Rispetto delle normative vigenti</a:t>
            </a:r>
            <a:endParaRPr lang="en-US" sz="900" dirty="0"/>
          </a:p>
        </p:txBody>
      </p:sp>
      <p:sp>
        <p:nvSpPr>
          <p:cNvPr id="57" name="Shape 44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8" name="Shape 45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46"/>
          <p:cNvSpPr txBox="1"/>
          <p:nvPr/>
        </p:nvSpPr>
        <p:spPr>
          <a:xfrm>
            <a:off x="571500" y="105156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Strategia e Controllo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571500" y="333756"/>
            <a:ext cx="4868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Cos'è la Governance IT</a:t>
            </a:r>
            <a:endParaRPr lang="en-US" sz="2700" dirty="0"/>
          </a:p>
        </p:txBody>
      </p:sp>
      <p:sp>
        <p:nvSpPr>
          <p:cNvPr id="61" name="Shape 48"/>
          <p:cNvSpPr/>
          <p:nvPr/>
        </p:nvSpPr>
        <p:spPr>
          <a:xfrm>
            <a:off x="10339121" y="228600"/>
            <a:ext cx="1285646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539374" y="333756"/>
            <a:ext cx="152705" cy="152705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10806379" y="228600"/>
            <a:ext cx="6766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Modulo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571500" y="1619402"/>
            <a:ext cx="6077102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" y="1628546"/>
            <a:ext cx="6057900" cy="428854"/>
          </a:xfrm>
          <a:prstGeom prst="roundRect">
            <a:avLst>
              <a:gd name="adj" fmla="val 75811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80644" y="2048256"/>
            <a:ext cx="6057900" cy="9144"/>
          </a:xfrm>
          <a:prstGeom prst="roundRect">
            <a:avLst>
              <a:gd name="adj" fmla="val 3555556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771754" y="1752905"/>
            <a:ext cx="152705" cy="1719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0354" y="1742846"/>
            <a:ext cx="24825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Esplora File - SharePoint Online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952744" y="1781251"/>
            <a:ext cx="114300" cy="1143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6143854" y="1781251"/>
            <a:ext cx="114300" cy="1143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6334049" y="1781251"/>
            <a:ext cx="114300" cy="1143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580644" y="2057400"/>
            <a:ext cx="6057900" cy="49560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580644" y="2543861"/>
            <a:ext cx="6057900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t="-2644" b="-2644"/>
          <a:stretch/>
        </p:blipFill>
        <p:spPr>
          <a:xfrm>
            <a:off x="724205" y="2231136"/>
            <a:ext cx="95098" cy="133502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 t="-44" b="-44"/>
          <a:stretch/>
        </p:blipFill>
        <p:spPr>
          <a:xfrm>
            <a:off x="914400" y="2152498"/>
            <a:ext cx="5581498" cy="289865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7844" y="2231136"/>
            <a:ext cx="133502" cy="1335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48156" y="2152498"/>
            <a:ext cx="23820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Documenti &gt; Progetti Aziendali &gt; 2026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80644" y="2546604"/>
            <a:ext cx="6057900" cy="3638398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3"/>
          <p:cNvSpPr/>
          <p:nvPr/>
        </p:nvSpPr>
        <p:spPr>
          <a:xfrm>
            <a:off x="580644" y="3214116"/>
            <a:ext cx="6057900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rcRect l="-12600" r="-12600"/>
          <a:stretch/>
        </p:blipFill>
        <p:spPr>
          <a:xfrm>
            <a:off x="771754" y="2766060"/>
            <a:ext cx="286207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200607" y="2690165"/>
            <a:ext cx="21991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Team</a:t>
            </a:r>
            <a:r>
              <a:rPr lang="en-US" sz="1000" b="1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</a:t>
            </a:r>
            <a:r>
              <a:rPr lang="en-US" sz="1000" b="1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Marketing</a:t>
            </a:r>
            <a:r>
              <a:rPr lang="en-US" sz="1000" b="1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</a:t>
            </a:r>
            <a:r>
              <a:rPr lang="en-US" sz="1000" b="1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Progetti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1200607" y="2709367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Team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1200607" y="2918765"/>
            <a:ext cx="21991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Cartella di lavoro • Modificato oggi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4539082" y="2762402"/>
            <a:ext cx="1914754" cy="237744"/>
          </a:xfrm>
          <a:prstGeom prst="roundRect">
            <a:avLst>
              <a:gd name="adj" fmla="val 12307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0"/>
          <p:cNvSpPr txBox="1"/>
          <p:nvPr/>
        </p:nvSpPr>
        <p:spPr>
          <a:xfrm>
            <a:off x="4539082" y="2762402"/>
            <a:ext cx="19915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1E40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Ambito_Reparto_Contenuto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580644" y="3890772"/>
            <a:ext cx="6057900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 l="-12600" r="-12600"/>
          <a:stretch/>
        </p:blipFill>
        <p:spPr>
          <a:xfrm>
            <a:off x="771754" y="3442716"/>
            <a:ext cx="286207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200607" y="3365906"/>
            <a:ext cx="1757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SP</a:t>
            </a:r>
            <a:r>
              <a:rPr lang="en-US" sz="1000" b="1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r>
              <a:rPr lang="en-US" sz="1000" b="1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Vendite</a:t>
            </a:r>
            <a:r>
              <a:rPr lang="en-US" sz="1000" b="1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r>
              <a:rPr lang="en-US" sz="1000" b="1" dirty="0">
                <a:solidFill>
                  <a:srgbClr val="0596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2026</a:t>
            </a:r>
            <a:r>
              <a:rPr lang="en-US" sz="1000" b="1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r>
              <a:rPr lang="en-US" sz="1000" b="1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Q1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1200607" y="3385109"/>
            <a:ext cx="238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SP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1200607" y="3594506"/>
            <a:ext cx="17574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Sito SharePoint • Creato ieri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4576572" y="3438144"/>
            <a:ext cx="1876349" cy="237744"/>
          </a:xfrm>
          <a:prstGeom prst="roundRect">
            <a:avLst>
              <a:gd name="adj" fmla="val 12307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29"/>
          <p:cNvSpPr txBox="1"/>
          <p:nvPr/>
        </p:nvSpPr>
        <p:spPr>
          <a:xfrm>
            <a:off x="4576572" y="3438144"/>
            <a:ext cx="195224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App_Reparto_Anno_Periodo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580644" y="4567428"/>
            <a:ext cx="6057900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 l="-12600" r="-12600"/>
          <a:stretch/>
        </p:blipFill>
        <p:spPr>
          <a:xfrm>
            <a:off x="771754" y="4118458"/>
            <a:ext cx="286207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200607" y="4042562"/>
            <a:ext cx="25731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Contratto</a:t>
            </a:r>
            <a:r>
              <a:rPr lang="en-US" sz="1000" b="1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</a:t>
            </a:r>
            <a:r>
              <a:rPr lang="en-US" sz="1000" b="1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ClienteXYZ</a:t>
            </a:r>
            <a:r>
              <a:rPr lang="en-US" sz="1000" b="1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</a:t>
            </a:r>
            <a:r>
              <a:rPr lang="en-US" sz="1000" b="1" dirty="0">
                <a:solidFill>
                  <a:srgbClr val="DC262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v2</a:t>
            </a:r>
            <a:r>
              <a:rPr lang="en-US" sz="1000" b="1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.pdf 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1200607" y="4061765"/>
            <a:ext cx="800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Contratto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1200607" y="4271162"/>
            <a:ext cx="224942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 PDF • 2.4 MB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4785970" y="4114800"/>
            <a:ext cx="1666951" cy="237744"/>
          </a:xfrm>
          <a:prstGeom prst="roundRect">
            <a:avLst>
              <a:gd name="adj" fmla="val 123077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7"/>
          <p:cNvSpPr txBox="1"/>
          <p:nvPr/>
        </p:nvSpPr>
        <p:spPr>
          <a:xfrm>
            <a:off x="4785970" y="4114800"/>
            <a:ext cx="17337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5B21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Tipo_Soggetto_Versione</a:t>
            </a:r>
            <a:endParaRPr lang="en-US" sz="800" dirty="0"/>
          </a:p>
        </p:txBody>
      </p:sp>
      <p:sp>
        <p:nvSpPr>
          <p:cNvPr id="48" name="Shape 38"/>
          <p:cNvSpPr/>
          <p:nvPr/>
        </p:nvSpPr>
        <p:spPr>
          <a:xfrm>
            <a:off x="580644" y="4575658"/>
            <a:ext cx="6057900" cy="676656"/>
          </a:xfrm>
          <a:prstGeom prst="rect">
            <a:avLst/>
          </a:prstGeom>
          <a:solidFill>
            <a:srgbClr val="F9FAFB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9" name="Shape 39"/>
          <p:cNvSpPr/>
          <p:nvPr/>
        </p:nvSpPr>
        <p:spPr>
          <a:xfrm>
            <a:off x="580644" y="5243170"/>
            <a:ext cx="6057900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0">
            <a:alphaModFix amt="50000"/>
          </a:blip>
          <a:srcRect l="-33467" r="-33467"/>
          <a:stretch/>
        </p:blipFill>
        <p:spPr>
          <a:xfrm>
            <a:off x="771754" y="4795114"/>
            <a:ext cx="286207" cy="228600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200607" y="4718304"/>
            <a:ext cx="25859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nuovo_doc_finale_stampa(1).docx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1200607" y="4946904"/>
            <a:ext cx="25859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✖ Esempio errato (Caotico)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7029907" y="1591970"/>
            <a:ext cx="4591202" cy="1095451"/>
          </a:xfrm>
          <a:prstGeom prst="roundRect">
            <a:avLst>
              <a:gd name="adj" fmla="val 116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4" name="Shape 43"/>
          <p:cNvSpPr/>
          <p:nvPr/>
        </p:nvSpPr>
        <p:spPr>
          <a:xfrm>
            <a:off x="7029907" y="1591970"/>
            <a:ext cx="38405" cy="1095451"/>
          </a:xfrm>
          <a:prstGeom prst="roundRect">
            <a:avLst>
              <a:gd name="adj" fmla="val 331261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44"/>
          <p:cNvSpPr txBox="1"/>
          <p:nvPr/>
        </p:nvSpPr>
        <p:spPr>
          <a:xfrm>
            <a:off x="7515454" y="1734617"/>
            <a:ext cx="40297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Organizzazione Chiara </a:t>
            </a:r>
            <a:endParaRPr lang="en-US" sz="1100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1"/>
          <a:srcRect l="-428" r="-428"/>
          <a:stretch/>
        </p:blipFill>
        <p:spPr>
          <a:xfrm>
            <a:off x="7258507" y="1772107"/>
            <a:ext cx="161849" cy="142646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7258507" y="1999793"/>
            <a:ext cx="42483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struttura logica elimina il caos. L'uso di prefissi (es. "SP-", "Team_") identifica immediatamente il tipo di risorsa o il reparto di appartenenza.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7029907" y="2830068"/>
            <a:ext cx="4591202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9" name="Shape 47"/>
          <p:cNvSpPr/>
          <p:nvPr/>
        </p:nvSpPr>
        <p:spPr>
          <a:xfrm>
            <a:off x="7029907" y="2830068"/>
            <a:ext cx="38405" cy="914400"/>
          </a:xfrm>
          <a:prstGeom prst="roundRect">
            <a:avLst>
              <a:gd name="adj" fmla="val 396823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48"/>
          <p:cNvSpPr txBox="1"/>
          <p:nvPr/>
        </p:nvSpPr>
        <p:spPr>
          <a:xfrm>
            <a:off x="7496251" y="2972714"/>
            <a:ext cx="40489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Ricerca Rapida </a:t>
            </a:r>
            <a:endParaRPr lang="en-US" sz="1100" dirty="0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258507" y="3009290"/>
            <a:ext cx="142646" cy="142646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7258507" y="3236976"/>
            <a:ext cx="42483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Trovare i file diventa istantaneo. La ricerca di M365 funziona meglio con metadati nel nome (es. "2026", "Contratto") standardizzati.</a:t>
            </a:r>
            <a:endParaRPr lang="en-US" sz="1000" dirty="0"/>
          </a:p>
        </p:txBody>
      </p:sp>
      <p:sp>
        <p:nvSpPr>
          <p:cNvPr id="63" name="Shape 50"/>
          <p:cNvSpPr/>
          <p:nvPr/>
        </p:nvSpPr>
        <p:spPr>
          <a:xfrm>
            <a:off x="7029907" y="3886200"/>
            <a:ext cx="4591202" cy="1095451"/>
          </a:xfrm>
          <a:prstGeom prst="roundRect">
            <a:avLst>
              <a:gd name="adj" fmla="val 116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4" name="Shape 51"/>
          <p:cNvSpPr/>
          <p:nvPr/>
        </p:nvSpPr>
        <p:spPr>
          <a:xfrm>
            <a:off x="7029907" y="3886200"/>
            <a:ext cx="38405" cy="1095451"/>
          </a:xfrm>
          <a:prstGeom prst="roundRect">
            <a:avLst>
              <a:gd name="adj" fmla="val 331261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52"/>
          <p:cNvSpPr txBox="1"/>
          <p:nvPr/>
        </p:nvSpPr>
        <p:spPr>
          <a:xfrm>
            <a:off x="7477963" y="4028846"/>
            <a:ext cx="40672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Controllo Versioni </a:t>
            </a:r>
            <a:endParaRPr lang="en-US" sz="1100" dirty="0"/>
          </a:p>
        </p:txBody>
      </p:sp>
      <p:pic>
        <p:nvPicPr>
          <p:cNvPr id="66" name="Image 11" descr="preencoded.png"/>
          <p:cNvPicPr>
            <a:picLocks noChangeAspect="1"/>
          </p:cNvPicPr>
          <p:nvPr/>
        </p:nvPicPr>
        <p:blipFill>
          <a:blip r:embed="rId13"/>
          <a:srcRect t="-556" b="-556"/>
          <a:stretch/>
        </p:blipFill>
        <p:spPr>
          <a:xfrm>
            <a:off x="7258507" y="4065422"/>
            <a:ext cx="123444" cy="142646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7258507" y="4293108"/>
            <a:ext cx="42483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 sovrascritture accidentali. L'uso sistematico di suffissi come "_v1", "_v2" o date "YYYY-MM-DD" mantiene chiaro lo storico delle modifiche.</a:t>
            </a:r>
            <a:endParaRPr lang="en-US" sz="1000" dirty="0"/>
          </a:p>
        </p:txBody>
      </p:sp>
      <p:sp>
        <p:nvSpPr>
          <p:cNvPr id="68" name="Shape 54"/>
          <p:cNvSpPr/>
          <p:nvPr/>
        </p:nvSpPr>
        <p:spPr>
          <a:xfrm>
            <a:off x="7029907" y="5123383"/>
            <a:ext cx="4591202" cy="1095451"/>
          </a:xfrm>
          <a:prstGeom prst="roundRect">
            <a:avLst>
              <a:gd name="adj" fmla="val 116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9" name="Shape 55"/>
          <p:cNvSpPr/>
          <p:nvPr/>
        </p:nvSpPr>
        <p:spPr>
          <a:xfrm>
            <a:off x="7029907" y="5123383"/>
            <a:ext cx="38405" cy="1095451"/>
          </a:xfrm>
          <a:prstGeom prst="roundRect">
            <a:avLst>
              <a:gd name="adj" fmla="val 331261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56"/>
          <p:cNvSpPr txBox="1"/>
          <p:nvPr/>
        </p:nvSpPr>
        <p:spPr>
          <a:xfrm>
            <a:off x="7496251" y="5266030"/>
            <a:ext cx="40489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Professionalità </a:t>
            </a:r>
            <a:endParaRPr lang="en-US" sz="1100" dirty="0"/>
          </a:p>
        </p:txBody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258507" y="5303520"/>
            <a:ext cx="142646" cy="142646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7258507" y="5531206"/>
            <a:ext cx="42483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Presentarsi a clienti e colleghi con file ordinati (es. "Proposta_Acme_vFinal.pdf") trasmette competenza e cura dei dettagli rispetto a nomi generici.</a:t>
            </a:r>
            <a:endParaRPr lang="en-US" sz="1000" dirty="0"/>
          </a:p>
        </p:txBody>
      </p:sp>
      <p:sp>
        <p:nvSpPr>
          <p:cNvPr id="73" name="Shape 58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4" name="Shape 59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60"/>
          <p:cNvSpPr txBox="1"/>
          <p:nvPr/>
        </p:nvSpPr>
        <p:spPr>
          <a:xfrm>
            <a:off x="571500" y="152705"/>
            <a:ext cx="3525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&amp; Policy</a:t>
            </a:r>
            <a:endParaRPr lang="en-US" sz="1000" dirty="0"/>
          </a:p>
        </p:txBody>
      </p:sp>
      <p:sp>
        <p:nvSpPr>
          <p:cNvPr id="76" name="Text 61"/>
          <p:cNvSpPr txBox="1"/>
          <p:nvPr/>
        </p:nvSpPr>
        <p:spPr>
          <a:xfrm>
            <a:off x="571500" y="381305"/>
            <a:ext cx="380481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Naming Convention</a:t>
            </a:r>
            <a:endParaRPr lang="en-US" sz="2700" dirty="0"/>
          </a:p>
        </p:txBody>
      </p:sp>
      <p:sp>
        <p:nvSpPr>
          <p:cNvPr id="77" name="Shape 62"/>
          <p:cNvSpPr/>
          <p:nvPr/>
        </p:nvSpPr>
        <p:spPr>
          <a:xfrm>
            <a:off x="10086746" y="276149"/>
            <a:ext cx="1533449" cy="362102"/>
          </a:xfrm>
          <a:prstGeom prst="roundRect">
            <a:avLst>
              <a:gd name="adj" fmla="val 10632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287000" y="381305"/>
            <a:ext cx="152705" cy="152705"/>
          </a:xfrm>
          <a:prstGeom prst="rect">
            <a:avLst/>
          </a:prstGeom>
        </p:spPr>
      </p:pic>
      <p:sp>
        <p:nvSpPr>
          <p:cNvPr id="79" name="Text 63"/>
          <p:cNvSpPr txBox="1"/>
          <p:nvPr/>
        </p:nvSpPr>
        <p:spPr>
          <a:xfrm>
            <a:off x="10554005" y="276149"/>
            <a:ext cx="9244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18058"/>
            <a:ext cx="12191695" cy="59436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7357262" y="1611173"/>
            <a:ext cx="218998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 Funziona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99986" y="1916582"/>
            <a:ext cx="2505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ciclo di vita della protezione dati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rcRect l="-405" r="-405"/>
          <a:stretch/>
        </p:blipFill>
        <p:spPr>
          <a:xfrm>
            <a:off x="6210605" y="2734970"/>
            <a:ext cx="38405" cy="30476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29300" y="2354580"/>
            <a:ext cx="5238598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5829300" y="2354580"/>
            <a:ext cx="47549" cy="1143000"/>
          </a:xfrm>
          <a:prstGeom prst="roundRect">
            <a:avLst>
              <a:gd name="adj" fmla="val 384614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67044" y="2544775"/>
            <a:ext cx="761695" cy="76169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10274" y="2788006"/>
            <a:ext cx="276149" cy="27614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67398" y="2573122"/>
            <a:ext cx="39246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Identifica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7067398" y="2894990"/>
            <a:ext cx="38862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Scansiona contenuti in Exchange, SharePoint e Teams alla ricerca di pattern sensibili.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829300" y="3687775"/>
            <a:ext cx="5238598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0"/>
          <p:cNvSpPr/>
          <p:nvPr/>
        </p:nvSpPr>
        <p:spPr>
          <a:xfrm>
            <a:off x="5829300" y="3687775"/>
            <a:ext cx="47549" cy="1143000"/>
          </a:xfrm>
          <a:prstGeom prst="roundRect">
            <a:avLst>
              <a:gd name="adj" fmla="val 384614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67044" y="3877970"/>
            <a:ext cx="761695" cy="761695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10274" y="4121201"/>
            <a:ext cx="276149" cy="276149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67398" y="3906317"/>
            <a:ext cx="39246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Blocca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7067398" y="4228186"/>
            <a:ext cx="38862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Impedisce azioni rischiose come l'invio di email esterne o la condivisione di link.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5829300" y="5020970"/>
            <a:ext cx="5238598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4"/>
          <p:cNvSpPr/>
          <p:nvPr/>
        </p:nvSpPr>
        <p:spPr>
          <a:xfrm>
            <a:off x="5829300" y="5020970"/>
            <a:ext cx="47549" cy="1143000"/>
          </a:xfrm>
          <a:prstGeom prst="roundRect">
            <a:avLst>
              <a:gd name="adj" fmla="val 384614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67044" y="5212080"/>
            <a:ext cx="761695" cy="761695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310274" y="5454396"/>
            <a:ext cx="276149" cy="276149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067398" y="5239512"/>
            <a:ext cx="39246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Notifica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7067398" y="5561381"/>
            <a:ext cx="38862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Invia un avviso all'utente (Policy Tip) per educarlo e segnala l'evento all'IT.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18"/>
          <p:cNvSpPr/>
          <p:nvPr/>
        </p:nvSpPr>
        <p:spPr>
          <a:xfrm>
            <a:off x="0" y="885139"/>
            <a:ext cx="12191695" cy="38405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19"/>
          <p:cNvSpPr txBox="1"/>
          <p:nvPr/>
        </p:nvSpPr>
        <p:spPr>
          <a:xfrm>
            <a:off x="571500" y="135331"/>
            <a:ext cx="4734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Modulo 3: Governance &amp; Sicurezza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571500" y="363931"/>
            <a:ext cx="5718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Loss Prevention (DLP)</a:t>
            </a:r>
            <a:endParaRPr lang="en-US" sz="2700" dirty="0"/>
          </a:p>
        </p:txBody>
      </p:sp>
      <p:sp>
        <p:nvSpPr>
          <p:cNvPr id="30" name="Shape 21"/>
          <p:cNvSpPr/>
          <p:nvPr/>
        </p:nvSpPr>
        <p:spPr>
          <a:xfrm>
            <a:off x="9856318" y="258775"/>
            <a:ext cx="1772107" cy="362102"/>
          </a:xfrm>
          <a:prstGeom prst="roundRect">
            <a:avLst>
              <a:gd name="adj" fmla="val 10632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10056571" y="344729"/>
            <a:ext cx="219456" cy="19019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389413" y="258775"/>
            <a:ext cx="10954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 Dati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571500" y="1298448"/>
            <a:ext cx="4229100" cy="1514246"/>
          </a:xfrm>
          <a:prstGeom prst="roundRect">
            <a:avLst>
              <a:gd name="adj" fmla="val 9115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4"/>
          <p:cNvSpPr/>
          <p:nvPr/>
        </p:nvSpPr>
        <p:spPr>
          <a:xfrm>
            <a:off x="571500" y="1298448"/>
            <a:ext cx="38405" cy="1514246"/>
          </a:xfrm>
          <a:prstGeom prst="roundRect">
            <a:avLst>
              <a:gd name="adj" fmla="val 35938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5"/>
          <p:cNvSpPr txBox="1"/>
          <p:nvPr/>
        </p:nvSpPr>
        <p:spPr>
          <a:xfrm>
            <a:off x="1133856" y="1546250"/>
            <a:ext cx="35341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Cos'è la DLP? </a:t>
            </a:r>
            <a:endParaRPr lang="en-US" sz="13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7649" y="1586484"/>
            <a:ext cx="171907" cy="171907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47649" y="1912010"/>
            <a:ext cx="3781958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</a:t>
            </a: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Loss Prevention</a:t>
            </a: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è il sistema che identifica, monitora e protegge automaticamente i dati sensibili, prevenendo rischi di condivisione accidentale o furto. 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571500" y="4709160"/>
            <a:ext cx="4229100" cy="1772107"/>
          </a:xfrm>
          <a:prstGeom prst="roundRect">
            <a:avLst>
              <a:gd name="adj" fmla="val 6658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Text 28"/>
          <p:cNvSpPr txBox="1"/>
          <p:nvPr/>
        </p:nvSpPr>
        <p:spPr>
          <a:xfrm>
            <a:off x="1076249" y="4956962"/>
            <a:ext cx="3591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Dati Protetti </a:t>
            </a:r>
            <a:endParaRPr lang="en-US" sz="13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1"/>
          <a:srcRect t="-2725" b="-2725"/>
          <a:stretch/>
        </p:blipFill>
        <p:spPr>
          <a:xfrm>
            <a:off x="819302" y="4997196"/>
            <a:ext cx="142646" cy="171907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819302" y="5322722"/>
            <a:ext cx="1600200" cy="381305"/>
          </a:xfrm>
          <a:prstGeom prst="roundRect">
            <a:avLst>
              <a:gd name="adj" fmla="val 239808"/>
            </a:avLst>
          </a:prstGeom>
          <a:solidFill>
            <a:srgbClr val="FDF3F0"/>
          </a:solidFill>
          <a:ln w="12700">
            <a:solidFill>
              <a:srgbClr val="FABE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0"/>
          <p:cNvSpPr/>
          <p:nvPr/>
        </p:nvSpPr>
        <p:spPr>
          <a:xfrm>
            <a:off x="1209751" y="5322722"/>
            <a:ext cx="1273759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426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Carte di Credito</a:t>
            </a:r>
            <a:endParaRPr lang="en-US" sz="10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2"/>
          <a:srcRect l="-837" r="-837"/>
          <a:stretch/>
        </p:blipFill>
        <p:spPr>
          <a:xfrm>
            <a:off x="981151" y="5444338"/>
            <a:ext cx="152705" cy="133502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2488082" y="5322722"/>
            <a:ext cx="1390802" cy="381305"/>
          </a:xfrm>
          <a:prstGeom prst="roundRect">
            <a:avLst>
              <a:gd name="adj" fmla="val 239808"/>
            </a:avLst>
          </a:prstGeom>
          <a:solidFill>
            <a:srgbClr val="FDF3F0"/>
          </a:solidFill>
          <a:ln w="12700">
            <a:solidFill>
              <a:srgbClr val="FABE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32"/>
          <p:cNvSpPr/>
          <p:nvPr/>
        </p:nvSpPr>
        <p:spPr>
          <a:xfrm>
            <a:off x="2878531" y="5322722"/>
            <a:ext cx="1057961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426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Codici Fiscali</a:t>
            </a:r>
            <a:endParaRPr lang="en-US" sz="10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3"/>
          <a:srcRect l="-837" r="-837"/>
          <a:stretch/>
        </p:blipFill>
        <p:spPr>
          <a:xfrm>
            <a:off x="2649931" y="5444338"/>
            <a:ext cx="152705" cy="133502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819302" y="5776265"/>
            <a:ext cx="1333195" cy="381305"/>
          </a:xfrm>
          <a:prstGeom prst="roundRect">
            <a:avLst>
              <a:gd name="adj" fmla="val 239808"/>
            </a:avLst>
          </a:prstGeom>
          <a:solidFill>
            <a:srgbClr val="FDF3F0"/>
          </a:solidFill>
          <a:ln w="12700">
            <a:solidFill>
              <a:srgbClr val="FABE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34"/>
          <p:cNvSpPr/>
          <p:nvPr/>
        </p:nvSpPr>
        <p:spPr>
          <a:xfrm>
            <a:off x="1162202" y="5776265"/>
            <a:ext cx="104790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426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Sanitari</a:t>
            </a:r>
            <a:endParaRPr lang="en-US" sz="1000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4"/>
          <a:srcRect l="-2512" r="-2512"/>
          <a:stretch/>
        </p:blipFill>
        <p:spPr>
          <a:xfrm>
            <a:off x="981151" y="5897880"/>
            <a:ext cx="105156" cy="133502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2219249" y="5776265"/>
            <a:ext cx="1457554" cy="381305"/>
          </a:xfrm>
          <a:prstGeom prst="roundRect">
            <a:avLst>
              <a:gd name="adj" fmla="val 239808"/>
            </a:avLst>
          </a:prstGeom>
          <a:solidFill>
            <a:srgbClr val="FDF3F0"/>
          </a:solidFill>
          <a:ln w="12700">
            <a:solidFill>
              <a:srgbClr val="FABE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36"/>
          <p:cNvSpPr/>
          <p:nvPr/>
        </p:nvSpPr>
        <p:spPr>
          <a:xfrm>
            <a:off x="2581351" y="5776265"/>
            <a:ext cx="1153973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426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Documenti PII</a:t>
            </a:r>
            <a:endParaRPr lang="en-US" sz="10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5"/>
          <a:srcRect l="-2838" r="-2838"/>
          <a:stretch/>
        </p:blipFill>
        <p:spPr>
          <a:xfrm>
            <a:off x="2381098" y="5897880"/>
            <a:ext cx="123444" cy="133502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571500" y="3047695"/>
            <a:ext cx="4229100" cy="1429207"/>
          </a:xfrm>
          <a:prstGeom prst="roundRect">
            <a:avLst>
              <a:gd name="adj" fmla="val 10237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4" name="Shape 38"/>
          <p:cNvSpPr/>
          <p:nvPr/>
        </p:nvSpPr>
        <p:spPr>
          <a:xfrm>
            <a:off x="571500" y="3047695"/>
            <a:ext cx="57607" cy="1429207"/>
          </a:xfrm>
          <a:prstGeom prst="roundRect">
            <a:avLst>
              <a:gd name="adj" fmla="val 253969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39"/>
          <p:cNvSpPr txBox="1"/>
          <p:nvPr/>
        </p:nvSpPr>
        <p:spPr>
          <a:xfrm>
            <a:off x="866851" y="3286354"/>
            <a:ext cx="3810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83B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GDPR Ready</a:t>
            </a:r>
            <a:endParaRPr lang="en-US" sz="2400" dirty="0"/>
          </a:p>
        </p:txBody>
      </p:sp>
      <p:sp>
        <p:nvSpPr>
          <p:cNvPr id="56" name="Text 40"/>
          <p:cNvSpPr txBox="1"/>
          <p:nvPr/>
        </p:nvSpPr>
        <p:spPr>
          <a:xfrm>
            <a:off x="866851" y="3699662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Riduzione del rischio sanzioni e conformità normativa garantita.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828800" y="1429207"/>
            <a:ext cx="182880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4267505" y="1429207"/>
            <a:ext cx="182880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6705295" y="1429207"/>
            <a:ext cx="1828800" cy="3840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9144000" y="1429207"/>
            <a:ext cx="1828800" cy="384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3746297"/>
            <a:ext cx="1990649" cy="1705356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5"/>
          <p:cNvSpPr txBox="1"/>
          <p:nvPr/>
        </p:nvSpPr>
        <p:spPr>
          <a:xfrm>
            <a:off x="676656" y="3936492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Purview Center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680314" y="4283050"/>
            <a:ext cx="1773936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Accedi al portale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compliance.microsoft.com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iniziare la configurazione della sicurezza dei dati. 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9965" y="2555748"/>
            <a:ext cx="952805" cy="95280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18158" y="2593238"/>
            <a:ext cx="286207" cy="28620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679753" y="2593238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36853" y="2802636"/>
            <a:ext cx="457200" cy="457200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2836469" y="3746297"/>
            <a:ext cx="1990649" cy="1705356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9"/>
          <p:cNvSpPr txBox="1"/>
          <p:nvPr/>
        </p:nvSpPr>
        <p:spPr>
          <a:xfrm>
            <a:off x="2941625" y="3936492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Scegli Template</a:t>
            </a:r>
            <a:endParaRPr lang="en-US" sz="1300" dirty="0"/>
          </a:p>
        </p:txBody>
      </p:sp>
      <p:sp>
        <p:nvSpPr>
          <p:cNvPr id="19" name="Text 10"/>
          <p:cNvSpPr txBox="1"/>
          <p:nvPr/>
        </p:nvSpPr>
        <p:spPr>
          <a:xfrm>
            <a:off x="2945282" y="4283050"/>
            <a:ext cx="1773936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Seleziona modelli predefiniti per conformità normativa come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GDPR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Finanziario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Sanitari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54934" y="2555748"/>
            <a:ext cx="952805" cy="95280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83126" y="2593238"/>
            <a:ext cx="286207" cy="286207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3944722" y="2593238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59429" y="2802636"/>
            <a:ext cx="342900" cy="45720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5101438" y="3746297"/>
            <a:ext cx="1990649" cy="1524305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13"/>
          <p:cNvSpPr txBox="1"/>
          <p:nvPr/>
        </p:nvSpPr>
        <p:spPr>
          <a:xfrm>
            <a:off x="5082235" y="3936492"/>
            <a:ext cx="20290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Definisci Posizioni</a:t>
            </a:r>
            <a:endParaRPr lang="en-US" sz="1300" dirty="0"/>
          </a:p>
        </p:txBody>
      </p:sp>
      <p:sp>
        <p:nvSpPr>
          <p:cNvPr id="26" name="Text 14"/>
          <p:cNvSpPr txBox="1"/>
          <p:nvPr/>
        </p:nvSpPr>
        <p:spPr>
          <a:xfrm>
            <a:off x="5210251" y="4283050"/>
            <a:ext cx="17739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Scegli dove applicare la policy: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chat di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19902" y="2555748"/>
            <a:ext cx="952805" cy="952805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095" y="2593238"/>
            <a:ext cx="286207" cy="286207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6210605" y="2593238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9"/>
          <a:srcRect l="-44" r="-44"/>
          <a:stretch/>
        </p:blipFill>
        <p:spPr>
          <a:xfrm>
            <a:off x="5838444" y="2802636"/>
            <a:ext cx="514807" cy="457200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7366406" y="3746297"/>
            <a:ext cx="1990649" cy="1705356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17"/>
          <p:cNvSpPr txBox="1"/>
          <p:nvPr/>
        </p:nvSpPr>
        <p:spPr>
          <a:xfrm>
            <a:off x="7471562" y="3936492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 Regole</a:t>
            </a:r>
            <a:endParaRPr lang="en-US" sz="1300" dirty="0"/>
          </a:p>
        </p:txBody>
      </p:sp>
      <p:sp>
        <p:nvSpPr>
          <p:cNvPr id="33" name="Text 18"/>
          <p:cNvSpPr txBox="1"/>
          <p:nvPr/>
        </p:nvSpPr>
        <p:spPr>
          <a:xfrm>
            <a:off x="7475220" y="4283050"/>
            <a:ext cx="1773936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Imposta condizioni di blocco automatico, ad esempio se vengono rilevate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&gt;10 carte di credito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un file. </a:t>
            </a:r>
            <a:endParaRPr lang="en-US" sz="10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84871" y="2555748"/>
            <a:ext cx="952805" cy="952805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13064" y="2593238"/>
            <a:ext cx="286207" cy="286207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8475574" y="2593238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32674" y="2802636"/>
            <a:ext cx="457200" cy="457200"/>
          </a:xfrm>
          <a:prstGeom prst="rect">
            <a:avLst/>
          </a:prstGeom>
        </p:spPr>
      </p:pic>
      <p:sp>
        <p:nvSpPr>
          <p:cNvPr id="38" name="Shape 20"/>
          <p:cNvSpPr/>
          <p:nvPr/>
        </p:nvSpPr>
        <p:spPr>
          <a:xfrm>
            <a:off x="9631375" y="3746297"/>
            <a:ext cx="1990649" cy="1524305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Text 21"/>
          <p:cNvSpPr txBox="1"/>
          <p:nvPr/>
        </p:nvSpPr>
        <p:spPr>
          <a:xfrm>
            <a:off x="9736531" y="3936492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&amp; Live</a:t>
            </a:r>
            <a:endParaRPr lang="en-US" sz="1300" dirty="0"/>
          </a:p>
        </p:txBody>
      </p:sp>
      <p:sp>
        <p:nvSpPr>
          <p:cNvPr id="40" name="Text 22"/>
          <p:cNvSpPr txBox="1"/>
          <p:nvPr/>
        </p:nvSpPr>
        <p:spPr>
          <a:xfrm>
            <a:off x="9740189" y="4283050"/>
            <a:ext cx="17739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Esegui prima in modalità test per verificare i report, poi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attiva in produzione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applicare i blocchi. </a:t>
            </a:r>
            <a:endParaRPr lang="en-US" sz="1000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149840" y="2555748"/>
            <a:ext cx="952805" cy="952805"/>
          </a:xfrm>
          <a:prstGeom prst="rect">
            <a:avLst/>
          </a:prstGeom>
        </p:spPr>
      </p:pic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78033" y="2593238"/>
            <a:ext cx="286207" cy="286207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10740542" y="2593238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3"/>
          <a:srcRect l="-57" r="-57"/>
          <a:stretch/>
        </p:blipFill>
        <p:spPr>
          <a:xfrm>
            <a:off x="10425989" y="2802636"/>
            <a:ext cx="400507" cy="457200"/>
          </a:xfrm>
          <a:prstGeom prst="rect">
            <a:avLst/>
          </a:prstGeom>
        </p:spPr>
      </p:pic>
      <p:sp>
        <p:nvSpPr>
          <p:cNvPr id="45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26"/>
          <p:cNvSpPr txBox="1"/>
          <p:nvPr/>
        </p:nvSpPr>
        <p:spPr>
          <a:xfrm>
            <a:off x="571500" y="152705"/>
            <a:ext cx="4010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Loss Prevention</a:t>
            </a:r>
            <a:endParaRPr lang="en-US" sz="1000" dirty="0"/>
          </a:p>
        </p:txBody>
      </p:sp>
      <p:sp>
        <p:nvSpPr>
          <p:cNvPr id="48" name="Text 27"/>
          <p:cNvSpPr txBox="1"/>
          <p:nvPr/>
        </p:nvSpPr>
        <p:spPr>
          <a:xfrm>
            <a:off x="571500" y="381305"/>
            <a:ext cx="5293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Policy di DLP in Pratica</a:t>
            </a:r>
            <a:endParaRPr lang="en-US" sz="2700" dirty="0"/>
          </a:p>
        </p:txBody>
      </p:sp>
      <p:sp>
        <p:nvSpPr>
          <p:cNvPr id="49" name="Shape 28"/>
          <p:cNvSpPr/>
          <p:nvPr/>
        </p:nvSpPr>
        <p:spPr>
          <a:xfrm>
            <a:off x="9853574" y="276149"/>
            <a:ext cx="1772107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19" descr="preencoded.png"/>
          <p:cNvPicPr>
            <a:picLocks noChangeAspect="1"/>
          </p:cNvPicPr>
          <p:nvPr/>
        </p:nvPicPr>
        <p:blipFill>
          <a:blip r:embed="rId14"/>
          <a:srcRect t="-100" b="-100"/>
          <a:stretch/>
        </p:blipFill>
        <p:spPr>
          <a:xfrm>
            <a:off x="10052914" y="381305"/>
            <a:ext cx="114300" cy="152705"/>
          </a:xfrm>
          <a:prstGeom prst="rect">
            <a:avLst/>
          </a:prstGeom>
        </p:spPr>
      </p:pic>
      <p:sp>
        <p:nvSpPr>
          <p:cNvPr id="51" name="Text 29"/>
          <p:cNvSpPr txBox="1"/>
          <p:nvPr/>
        </p:nvSpPr>
        <p:spPr>
          <a:xfrm>
            <a:off x="10281514" y="276149"/>
            <a:ext cx="12006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Creazione Regole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6"/>
            <a:ext cx="12191695" cy="6218734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105510" y="655524"/>
            <a:ext cx="4762195" cy="5600700"/>
          </a:xfrm>
          <a:prstGeom prst="roundRect">
            <a:avLst>
              <a:gd name="adj" fmla="val 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400861" y="3503880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1782166" y="2674520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Durata Specifica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82166" y="2979929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Regole basate sul tempo per tipo di documento (es. Contratti 10 anni, Email 3 anni).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00861" y="4580129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1782166" y="3750768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 Legale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782166" y="4056178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Garantisce che i dati critici non vengano eliminati prima della scadenza normativa.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82166" y="4827017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782166" y="5132427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Impedisce la cancellazione, anche accidentale, da parte degli utenti finali.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7164" y="5799024"/>
            <a:ext cx="4819802" cy="448056"/>
          </a:xfrm>
          <a:prstGeom prst="rect">
            <a:avLst/>
          </a:prstGeom>
          <a:solidFill>
            <a:srgbClr val="E6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1100" b="1" kern="0" spc="57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"Cosa dobbiamo tenere?"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24636" y="2745843"/>
            <a:ext cx="190195" cy="190195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24636" y="3822092"/>
            <a:ext cx="190195" cy="190195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4636" y="4898340"/>
            <a:ext cx="190195" cy="19019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114654" y="664668"/>
            <a:ext cx="4743907" cy="1723644"/>
          </a:xfrm>
          <a:prstGeom prst="roundRect">
            <a:avLst>
              <a:gd name="adj" fmla="val 7034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3201315" y="903327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72308" y="107432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48156" y="1617473"/>
            <a:ext cx="4476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Conservazione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248156" y="1960373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Retention Policy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249010" y="655524"/>
            <a:ext cx="4762195" cy="5600700"/>
          </a:xfrm>
          <a:prstGeom prst="roundRect">
            <a:avLst>
              <a:gd name="adj" fmla="val 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8"/>
          <p:cNvSpPr/>
          <p:nvPr/>
        </p:nvSpPr>
        <p:spPr>
          <a:xfrm>
            <a:off x="6544361" y="3407868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 txBox="1"/>
          <p:nvPr/>
        </p:nvSpPr>
        <p:spPr>
          <a:xfrm>
            <a:off x="6925666" y="2769617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Pulizia Automatica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925666" y="3075027"/>
            <a:ext cx="44083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Rimozione programmata di file obsoleti o non più necessari.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544361" y="4485032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2"/>
          <p:cNvSpPr txBox="1"/>
          <p:nvPr/>
        </p:nvSpPr>
        <p:spPr>
          <a:xfrm>
            <a:off x="6925666" y="3655671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Ottimizzazione Spazio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925666" y="3960166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Libera risorse di archiviazione eliminando dati "rot" (Redundant, Obsolete, Trivial).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925666" y="4731920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Privacy &amp; GDPR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925666" y="5037329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Minimizzazione dei dati conservati per ridurre il rischio di esposizione.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220664" y="5799024"/>
            <a:ext cx="4819802" cy="448056"/>
          </a:xfrm>
          <a:prstGeom prst="rect">
            <a:avLst/>
          </a:prstGeom>
          <a:solidFill>
            <a:srgbClr val="E6FFE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1100" b="1" kern="0" spc="57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"Cosa possiamo eliminare?"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6553505" y="2840940"/>
            <a:ext cx="219456" cy="190195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68136" y="3726994"/>
            <a:ext cx="190195" cy="190195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44361" y="4803243"/>
            <a:ext cx="237744" cy="1901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258154" y="664668"/>
            <a:ext cx="4743907" cy="1723644"/>
          </a:xfrm>
          <a:prstGeom prst="roundRect">
            <a:avLst>
              <a:gd name="adj" fmla="val 7034"/>
            </a:avLst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8"/>
          <p:cNvSpPr/>
          <p:nvPr/>
        </p:nvSpPr>
        <p:spPr>
          <a:xfrm>
            <a:off x="8344815" y="903327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8530438" y="1074320"/>
            <a:ext cx="200254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391656" y="1617473"/>
            <a:ext cx="4476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Eliminazione</a:t>
            </a:r>
            <a:endParaRPr lang="en-US" sz="1800" dirty="0"/>
          </a:p>
        </p:txBody>
      </p:sp>
      <p:sp>
        <p:nvSpPr>
          <p:cNvPr id="40" name="Text 30"/>
          <p:cNvSpPr txBox="1"/>
          <p:nvPr/>
        </p:nvSpPr>
        <p:spPr>
          <a:xfrm>
            <a:off x="6391656" y="1960373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Deletion Policy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71500" y="6264353"/>
            <a:ext cx="11048695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32"/>
          <p:cNvSpPr/>
          <p:nvPr/>
        </p:nvSpPr>
        <p:spPr>
          <a:xfrm>
            <a:off x="571500" y="6264353"/>
            <a:ext cx="47549" cy="629107"/>
          </a:xfrm>
          <a:prstGeom prst="roundRect">
            <a:avLst>
              <a:gd name="adj" fmla="val 466199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956462" y="6460949"/>
            <a:ext cx="171907" cy="2286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242670" y="6454548"/>
            <a:ext cx="12472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Practice:</a:t>
            </a:r>
            <a:endParaRPr lang="en-US" sz="12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665476" y="6479237"/>
            <a:ext cx="237744" cy="19019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3018434" y="6454548"/>
            <a:ext cx="38276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Bilanciare obblighi legali e costi di storage</a:t>
            </a:r>
            <a:endParaRPr lang="en-US" sz="12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rcRect l="-363" r="-363"/>
          <a:stretch/>
        </p:blipFill>
        <p:spPr>
          <a:xfrm>
            <a:off x="6622085" y="6493867"/>
            <a:ext cx="142646" cy="161849"/>
          </a:xfrm>
          <a:prstGeom prst="rect">
            <a:avLst/>
          </a:prstGeom>
        </p:spPr>
      </p:pic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146036" y="6479237"/>
            <a:ext cx="237744" cy="190195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498080" y="6454548"/>
            <a:ext cx="447415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Automatizzare il ciclo di vita in Microsoft Purview</a:t>
            </a:r>
            <a:endParaRPr lang="en-US" sz="1200" dirty="0"/>
          </a:p>
        </p:txBody>
      </p:sp>
      <p:sp>
        <p:nvSpPr>
          <p:cNvPr id="50" name="Shape 36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Shape 37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38"/>
          <p:cNvSpPr txBox="1"/>
          <p:nvPr/>
        </p:nvSpPr>
        <p:spPr>
          <a:xfrm>
            <a:off x="571500" y="0"/>
            <a:ext cx="7734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del Ciclo di Vita dei Dati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571500" y="228600"/>
            <a:ext cx="93323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Retention Policy vs Eliminazione Automatica</a:t>
            </a:r>
            <a:endParaRPr lang="en-US" sz="2700" dirty="0"/>
          </a:p>
        </p:txBody>
      </p:sp>
      <p:sp>
        <p:nvSpPr>
          <p:cNvPr id="54" name="Shape 40"/>
          <p:cNvSpPr/>
          <p:nvPr/>
        </p:nvSpPr>
        <p:spPr>
          <a:xfrm>
            <a:off x="9455810" y="123444"/>
            <a:ext cx="2171700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656064" y="228600"/>
            <a:ext cx="152705" cy="152705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9923069" y="123444"/>
            <a:ext cx="156545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Lifecycle Management</a:t>
            </a:r>
            <a:endParaRPr lang="en-US" sz="100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820156" y="3646527"/>
            <a:ext cx="476402" cy="476402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5791810" y="3646527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238098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t="-404" b="-404"/>
          <a:stretch/>
        </p:blipFill>
        <p:spPr>
          <a:xfrm>
            <a:off x="580644" y="1248156"/>
            <a:ext cx="3504895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2295144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Pubblico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0898" y="2669134"/>
            <a:ext cx="31053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non sensibili visualizzabili da chiunque. Nessuna protezione crittografica applicata ai documenti.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34256" y="1238098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404" b="-404"/>
          <a:stretch/>
        </p:blipFill>
        <p:spPr>
          <a:xfrm>
            <a:off x="4343400" y="1248156"/>
            <a:ext cx="3504895" cy="576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4451" y="2295144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43654" y="2669134"/>
            <a:ext cx="31053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aziendali standard accessibili a tutti i dipendenti. Non destinati alla condivisione pubblica esterna.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096098" y="1238098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404" b="-404"/>
          <a:stretch/>
        </p:blipFill>
        <p:spPr>
          <a:xfrm>
            <a:off x="8106156" y="1248156"/>
            <a:ext cx="3504895" cy="576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87207" y="2295144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Confidenziale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305495" y="2669134"/>
            <a:ext cx="31053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limitato a gruppi specifici o personale autorizzato. Dati di progetto o informazioni sensibili interne.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71500" y="3976726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t="-404" b="-404"/>
          <a:stretch/>
        </p:blipFill>
        <p:spPr>
          <a:xfrm>
            <a:off x="580644" y="3985870"/>
            <a:ext cx="3504895" cy="576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1695" y="5033772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Riservato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80898" y="5407762"/>
            <a:ext cx="31053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Crittografia obbligatoria. Il contenuto resta protetto anche se il file esce dall'azienda. Include restrizioni di copia/stampa.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334256" y="3976726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 t="-404" b="-404"/>
          <a:stretch/>
        </p:blipFill>
        <p:spPr>
          <a:xfrm>
            <a:off x="4343400" y="3985870"/>
            <a:ext cx="3504895" cy="576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24451" y="5033772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Segreto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4543654" y="5407762"/>
            <a:ext cx="31053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altamente critici per il business. Accesso limitatissimo (es. C-level, R&amp;D). Monitoraggio attivo degli accessi.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8096098" y="3976726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rcRect t="-404" b="-404"/>
          <a:stretch/>
        </p:blipFill>
        <p:spPr>
          <a:xfrm>
            <a:off x="8106156" y="3985870"/>
            <a:ext cx="3504895" cy="5760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87207" y="5033772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Applicazione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8305495" y="5407762"/>
            <a:ext cx="31053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Classificazione automatica per dati sensibili rilevati (es. carte di credito) o manuale dall'utente tramite app Office.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3323844" y="1057046"/>
            <a:ext cx="952805" cy="952805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2"/>
          <p:cNvSpPr/>
          <p:nvPr/>
        </p:nvSpPr>
        <p:spPr>
          <a:xfrm>
            <a:off x="7086600" y="1057046"/>
            <a:ext cx="952805" cy="952805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3"/>
          <p:cNvSpPr/>
          <p:nvPr/>
        </p:nvSpPr>
        <p:spPr>
          <a:xfrm>
            <a:off x="10849356" y="1057046"/>
            <a:ext cx="952805" cy="952805"/>
          </a:xfrm>
          <a:prstGeom prst="ellipse">
            <a:avLst/>
          </a:prstGeom>
          <a:solidFill>
            <a:srgbClr val="FFB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4"/>
          <p:cNvSpPr/>
          <p:nvPr/>
        </p:nvSpPr>
        <p:spPr>
          <a:xfrm>
            <a:off x="3323844" y="3795674"/>
            <a:ext cx="952805" cy="952805"/>
          </a:xfrm>
          <a:prstGeom prst="ellipse">
            <a:avLst/>
          </a:prstGeom>
          <a:solidFill>
            <a:srgbClr val="5C2D9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5"/>
          <p:cNvSpPr/>
          <p:nvPr/>
        </p:nvSpPr>
        <p:spPr>
          <a:xfrm>
            <a:off x="7086600" y="3795674"/>
            <a:ext cx="952805" cy="952805"/>
          </a:xfrm>
          <a:prstGeom prst="ellipse">
            <a:avLst/>
          </a:prstGeom>
          <a:solidFill>
            <a:srgbClr val="D134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26"/>
          <p:cNvSpPr/>
          <p:nvPr/>
        </p:nvSpPr>
        <p:spPr>
          <a:xfrm>
            <a:off x="10849356" y="3795674"/>
            <a:ext cx="952805" cy="952805"/>
          </a:xfrm>
          <a:prstGeom prst="ellipse">
            <a:avLst/>
          </a:prstGeom>
          <a:solidFill>
            <a:srgbClr val="00606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7"/>
          <p:cNvSpPr/>
          <p:nvPr/>
        </p:nvSpPr>
        <p:spPr>
          <a:xfrm>
            <a:off x="2000707" y="1485900"/>
            <a:ext cx="666598" cy="666598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167128" y="1652321"/>
            <a:ext cx="333756" cy="333756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5762549" y="1485900"/>
            <a:ext cx="666598" cy="666598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rcRect t="-507" b="-507"/>
          <a:stretch/>
        </p:blipFill>
        <p:spPr>
          <a:xfrm>
            <a:off x="5971946" y="1652321"/>
            <a:ext cx="247802" cy="3337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525305" y="1485900"/>
            <a:ext cx="666598" cy="666598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0"/>
          <a:srcRect l="-192" r="-192"/>
          <a:stretch/>
        </p:blipFill>
        <p:spPr>
          <a:xfrm>
            <a:off x="9648749" y="1652321"/>
            <a:ext cx="418795" cy="333756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2000707" y="4224528"/>
            <a:ext cx="666598" cy="666598"/>
          </a:xfrm>
          <a:prstGeom prst="ellipse">
            <a:avLst/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 l="-567" r="-567"/>
          <a:stretch/>
        </p:blipFill>
        <p:spPr>
          <a:xfrm>
            <a:off x="2186330" y="4390949"/>
            <a:ext cx="295351" cy="333756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5762549" y="4224528"/>
            <a:ext cx="666598" cy="666598"/>
          </a:xfrm>
          <a:prstGeom prst="ellipse">
            <a:avLst/>
          </a:prstGeom>
          <a:solidFill>
            <a:srgbClr val="FF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928970" y="4390949"/>
            <a:ext cx="333756" cy="333756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9525305" y="4224528"/>
            <a:ext cx="666598" cy="66659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691726" y="4390949"/>
            <a:ext cx="333756" cy="333756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Shape 34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35"/>
          <p:cNvSpPr txBox="1"/>
          <p:nvPr/>
        </p:nvSpPr>
        <p:spPr>
          <a:xfrm>
            <a:off x="571500" y="105156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e Policy</a:t>
            </a:r>
            <a:endParaRPr lang="en-US" sz="1000" dirty="0"/>
          </a:p>
        </p:txBody>
      </p:sp>
      <p:sp>
        <p:nvSpPr>
          <p:cNvPr id="50" name="Text 36"/>
          <p:cNvSpPr txBox="1"/>
          <p:nvPr/>
        </p:nvSpPr>
        <p:spPr>
          <a:xfrm>
            <a:off x="571500" y="333756"/>
            <a:ext cx="5505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Classificazione Documenti</a:t>
            </a:r>
            <a:endParaRPr lang="en-US" sz="2700" dirty="0"/>
          </a:p>
        </p:txBody>
      </p:sp>
      <p:sp>
        <p:nvSpPr>
          <p:cNvPr id="51" name="Shape 37"/>
          <p:cNvSpPr/>
          <p:nvPr/>
        </p:nvSpPr>
        <p:spPr>
          <a:xfrm>
            <a:off x="9797796" y="228600"/>
            <a:ext cx="1828800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997135" y="333756"/>
            <a:ext cx="152705" cy="15270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10264140" y="228600"/>
            <a:ext cx="1219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Sensitivity Labels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72998"/>
            <a:ext cx="12191695" cy="6191402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053389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225296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7707" y="1339596"/>
            <a:ext cx="200254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225296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Unificata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1503274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Interfaccia centrale per monitorare la conformità, gestire i rischi e visualizzare avvisi critici su un unico pannello di controllo.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409444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581351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881482" y="2695651"/>
            <a:ext cx="152705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581351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Protection &amp; DLP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2859329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centralizzata delle policy per la prevenzione della perdita dei dati (DLP) e classificazione dei documenti sensibili.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765499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3936492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4050792"/>
            <a:ext cx="200254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3936492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&amp; eDiscovery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4215384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Strumenti avanzati per la ricerca legale (eDiscovery) e log di audit dettagliati per tracciare attività sospette e accessi.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121554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5292547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5406847"/>
            <a:ext cx="200254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292547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Score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570525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Punteggio dinamico che valuta la postura di conformità dell'organizzazione e suggerisce azioni correttive prioritarie.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 rot="21000000">
            <a:off x="5086807" y="768096"/>
            <a:ext cx="1904695" cy="1904695"/>
          </a:xfrm>
          <a:prstGeom prst="roundRect">
            <a:avLst>
              <a:gd name="adj" fmla="val 9602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638251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12802"/>
            <a:ext cx="3363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Purview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241402"/>
            <a:ext cx="380481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 Center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9971532" y="136246"/>
            <a:ext cx="1657807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71786" y="241402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438790" y="136246"/>
            <a:ext cx="10479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Purview Portal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rcRect l="-1" r="-1"/>
          <a:stretch/>
        </p:blipFill>
        <p:spPr>
          <a:xfrm>
            <a:off x="5372100" y="1669694"/>
            <a:ext cx="6248095" cy="4190695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381244" y="1679753"/>
            <a:ext cx="6229807" cy="342900"/>
          </a:xfrm>
          <a:prstGeom prst="roundRect">
            <a:avLst>
              <a:gd name="adj" fmla="val 177778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28"/>
          <p:cNvSpPr/>
          <p:nvPr/>
        </p:nvSpPr>
        <p:spPr>
          <a:xfrm>
            <a:off x="5381244" y="2013509"/>
            <a:ext cx="6229807" cy="9144"/>
          </a:xfrm>
          <a:prstGeom prst="roundRect">
            <a:avLst>
              <a:gd name="adj" fmla="val 666666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9"/>
          <p:cNvSpPr/>
          <p:nvPr/>
        </p:nvSpPr>
        <p:spPr>
          <a:xfrm>
            <a:off x="5524805" y="1798625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0"/>
          <p:cNvSpPr/>
          <p:nvPr/>
        </p:nvSpPr>
        <p:spPr>
          <a:xfrm>
            <a:off x="5676595" y="1798625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1"/>
          <p:cNvSpPr/>
          <p:nvPr/>
        </p:nvSpPr>
        <p:spPr>
          <a:xfrm>
            <a:off x="5829300" y="1798625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rcRect t="-35" b="-35"/>
          <a:stretch/>
        </p:blipFill>
        <p:spPr>
          <a:xfrm>
            <a:off x="6077102" y="1721815"/>
            <a:ext cx="3962095" cy="2478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381598" y="1721815"/>
            <a:ext cx="3734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compliance.microsoft.com </a:t>
            </a:r>
            <a:endParaRPr lang="en-US" sz="9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6200546" y="1788566"/>
            <a:ext cx="105156" cy="1143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5381244" y="2022653"/>
            <a:ext cx="2095805" cy="4172407"/>
          </a:xfrm>
          <a:prstGeom prst="rect">
            <a:avLst/>
          </a:prstGeom>
          <a:solidFill>
            <a:srgbClr val="2125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34"/>
          <p:cNvSpPr/>
          <p:nvPr/>
        </p:nvSpPr>
        <p:spPr>
          <a:xfrm>
            <a:off x="5381244" y="2117750"/>
            <a:ext cx="2095805" cy="381305"/>
          </a:xfrm>
          <a:prstGeom prst="rect">
            <a:avLst/>
          </a:prstGeom>
          <a:solidFill>
            <a:srgbClr val="3231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Shape 35"/>
          <p:cNvSpPr/>
          <p:nvPr/>
        </p:nvSpPr>
        <p:spPr>
          <a:xfrm>
            <a:off x="5381244" y="2117750"/>
            <a:ext cx="28346" cy="3813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36"/>
          <p:cNvSpPr txBox="1"/>
          <p:nvPr/>
        </p:nvSpPr>
        <p:spPr>
          <a:xfrm>
            <a:off x="6009437" y="2117750"/>
            <a:ext cx="15435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</a:t>
            </a:r>
            <a:endParaRPr lang="en-US" sz="9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rcRect l="-18477" r="-18477"/>
          <a:stretch/>
        </p:blipFill>
        <p:spPr>
          <a:xfrm>
            <a:off x="5600700" y="2242109"/>
            <a:ext cx="190195" cy="123444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5381244" y="2490826"/>
            <a:ext cx="28346" cy="38130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38"/>
          <p:cNvSpPr txBox="1"/>
          <p:nvPr/>
        </p:nvSpPr>
        <p:spPr>
          <a:xfrm>
            <a:off x="6009437" y="2490826"/>
            <a:ext cx="15435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Data Loss Prevention</a:t>
            </a:r>
            <a:endParaRPr lang="en-US" sz="9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1"/>
          <a:srcRect l="-27037" r="-27037"/>
          <a:stretch/>
        </p:blipFill>
        <p:spPr>
          <a:xfrm>
            <a:off x="5600700" y="2616098"/>
            <a:ext cx="190195" cy="123444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5381244" y="2863901"/>
            <a:ext cx="28346" cy="38130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40"/>
          <p:cNvSpPr txBox="1"/>
          <p:nvPr/>
        </p:nvSpPr>
        <p:spPr>
          <a:xfrm>
            <a:off x="6009437" y="2863901"/>
            <a:ext cx="15435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Information Protection</a:t>
            </a:r>
            <a:endParaRPr lang="en-US" sz="900" dirty="0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2"/>
          <a:srcRect l="-27037" r="-27037"/>
          <a:stretch/>
        </p:blipFill>
        <p:spPr>
          <a:xfrm>
            <a:off x="5600700" y="2989174"/>
            <a:ext cx="190195" cy="123444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5381244" y="3237890"/>
            <a:ext cx="28346" cy="38130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42"/>
          <p:cNvSpPr txBox="1"/>
          <p:nvPr/>
        </p:nvSpPr>
        <p:spPr>
          <a:xfrm>
            <a:off x="6009437" y="3237890"/>
            <a:ext cx="15435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Insider Risk</a:t>
            </a:r>
            <a:endParaRPr lang="en-US" sz="900" dirty="0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3"/>
          <a:srcRect l="-38042" r="-38042"/>
          <a:stretch/>
        </p:blipFill>
        <p:spPr>
          <a:xfrm>
            <a:off x="5600700" y="3362249"/>
            <a:ext cx="190195" cy="123444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5381244" y="3610966"/>
            <a:ext cx="28346" cy="38130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44"/>
          <p:cNvSpPr txBox="1"/>
          <p:nvPr/>
        </p:nvSpPr>
        <p:spPr>
          <a:xfrm>
            <a:off x="6009437" y="3610966"/>
            <a:ext cx="15435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eDiscovery</a:t>
            </a:r>
            <a:endParaRPr lang="en-US" sz="900" dirty="0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4"/>
          <a:srcRect l="-27037" r="-27037"/>
          <a:stretch/>
        </p:blipFill>
        <p:spPr>
          <a:xfrm>
            <a:off x="5600700" y="3736238"/>
            <a:ext cx="190195" cy="123444"/>
          </a:xfrm>
          <a:prstGeom prst="rect">
            <a:avLst/>
          </a:prstGeom>
        </p:spPr>
      </p:pic>
      <p:sp>
        <p:nvSpPr>
          <p:cNvPr id="60" name="Shape 45"/>
          <p:cNvSpPr/>
          <p:nvPr/>
        </p:nvSpPr>
        <p:spPr>
          <a:xfrm>
            <a:off x="5381244" y="3984955"/>
            <a:ext cx="28346" cy="38130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46"/>
          <p:cNvSpPr txBox="1"/>
          <p:nvPr/>
        </p:nvSpPr>
        <p:spPr>
          <a:xfrm>
            <a:off x="6009437" y="3984955"/>
            <a:ext cx="15435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Audit</a:t>
            </a:r>
            <a:endParaRPr lang="en-US" sz="900" dirty="0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15"/>
          <a:srcRect l="-18477" r="-18477"/>
          <a:stretch/>
        </p:blipFill>
        <p:spPr>
          <a:xfrm>
            <a:off x="5600700" y="4109314"/>
            <a:ext cx="190195" cy="123444"/>
          </a:xfrm>
          <a:prstGeom prst="rect">
            <a:avLst/>
          </a:prstGeom>
        </p:spPr>
      </p:pic>
      <p:sp>
        <p:nvSpPr>
          <p:cNvPr id="63" name="Shape 47"/>
          <p:cNvSpPr/>
          <p:nvPr/>
        </p:nvSpPr>
        <p:spPr>
          <a:xfrm>
            <a:off x="5381244" y="4358030"/>
            <a:ext cx="28346" cy="38130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48"/>
          <p:cNvSpPr txBox="1"/>
          <p:nvPr/>
        </p:nvSpPr>
        <p:spPr>
          <a:xfrm>
            <a:off x="6009437" y="4358030"/>
            <a:ext cx="15435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Data lifecycle</a:t>
            </a:r>
            <a:endParaRPr lang="en-US" sz="900" dirty="0"/>
          </a:p>
        </p:txBody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16"/>
          <a:srcRect l="-38042" r="-38042"/>
          <a:stretch/>
        </p:blipFill>
        <p:spPr>
          <a:xfrm>
            <a:off x="5600700" y="4482389"/>
            <a:ext cx="190195" cy="123444"/>
          </a:xfrm>
          <a:prstGeom prst="rect">
            <a:avLst/>
          </a:prstGeom>
        </p:spPr>
      </p:pic>
      <p:sp>
        <p:nvSpPr>
          <p:cNvPr id="66" name="Shape 49"/>
          <p:cNvSpPr/>
          <p:nvPr/>
        </p:nvSpPr>
        <p:spPr>
          <a:xfrm>
            <a:off x="7477049" y="2022653"/>
            <a:ext cx="4134002" cy="4172407"/>
          </a:xfrm>
          <a:prstGeom prst="rect">
            <a:avLst/>
          </a:prstGeom>
          <a:solidFill>
            <a:srgbClr val="FAF9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50"/>
          <p:cNvSpPr txBox="1"/>
          <p:nvPr/>
        </p:nvSpPr>
        <p:spPr>
          <a:xfrm>
            <a:off x="7667244" y="2212848"/>
            <a:ext cx="210860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Manager</a:t>
            </a:r>
            <a:endParaRPr lang="en-US" sz="1400" dirty="0"/>
          </a:p>
        </p:txBody>
      </p:sp>
      <p:sp>
        <p:nvSpPr>
          <p:cNvPr id="68" name="Text 51"/>
          <p:cNvSpPr txBox="1"/>
          <p:nvPr/>
        </p:nvSpPr>
        <p:spPr>
          <a:xfrm>
            <a:off x="9967874" y="2273198"/>
            <a:ext cx="173461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Ultimo aggiornamento: Oggi</a:t>
            </a:r>
            <a:endParaRPr lang="en-US" sz="900" dirty="0"/>
          </a:p>
        </p:txBody>
      </p:sp>
      <p:sp>
        <p:nvSpPr>
          <p:cNvPr id="69" name="Shape 52"/>
          <p:cNvSpPr/>
          <p:nvPr/>
        </p:nvSpPr>
        <p:spPr>
          <a:xfrm>
            <a:off x="7667244" y="2677363"/>
            <a:ext cx="1809598" cy="3895344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53"/>
          <p:cNvSpPr txBox="1"/>
          <p:nvPr/>
        </p:nvSpPr>
        <p:spPr>
          <a:xfrm>
            <a:off x="7819949" y="2830068"/>
            <a:ext cx="156545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Compliance Score </a:t>
            </a:r>
            <a:endParaRPr lang="en-US" sz="1000" dirty="0"/>
          </a:p>
        </p:txBody>
      </p:sp>
      <p:pic>
        <p:nvPicPr>
          <p:cNvPr id="71" name="Image 15" descr="preencoded.png"/>
          <p:cNvPicPr>
            <a:picLocks noChangeAspect="1"/>
          </p:cNvPicPr>
          <p:nvPr/>
        </p:nvPicPr>
        <p:blipFill>
          <a:blip r:embed="rId17"/>
          <a:srcRect t="-103425" b="-103425"/>
          <a:stretch/>
        </p:blipFill>
        <p:spPr>
          <a:xfrm>
            <a:off x="9186977" y="2830068"/>
            <a:ext cx="133502" cy="409651"/>
          </a:xfrm>
          <a:prstGeom prst="rect">
            <a:avLst/>
          </a:prstGeom>
        </p:spPr>
      </p:pic>
      <p:sp>
        <p:nvSpPr>
          <p:cNvPr id="72" name="Text 54"/>
          <p:cNvSpPr/>
          <p:nvPr/>
        </p:nvSpPr>
        <p:spPr>
          <a:xfrm>
            <a:off x="8160106" y="3941064"/>
            <a:ext cx="819302" cy="762610"/>
          </a:xfrm>
          <a:prstGeom prst="rect">
            <a:avLst/>
          </a:prstGeom>
          <a:noFill/>
          <a:ln w="101600">
            <a:solidFill>
              <a:srgbClr val="0078D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78%</a:t>
            </a:r>
            <a:endParaRPr lang="en-US" sz="1800" dirty="0"/>
          </a:p>
        </p:txBody>
      </p:sp>
      <p:sp>
        <p:nvSpPr>
          <p:cNvPr id="73" name="Text 55"/>
          <p:cNvSpPr txBox="1"/>
          <p:nvPr/>
        </p:nvSpPr>
        <p:spPr>
          <a:xfrm>
            <a:off x="8040319" y="4855464"/>
            <a:ext cx="1270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Punteggio Buono</a:t>
            </a:r>
            <a:endParaRPr lang="en-US" sz="1000" dirty="0"/>
          </a:p>
        </p:txBody>
      </p:sp>
      <p:sp>
        <p:nvSpPr>
          <p:cNvPr id="74" name="Text 56"/>
          <p:cNvSpPr txBox="1"/>
          <p:nvPr/>
        </p:nvSpPr>
        <p:spPr>
          <a:xfrm>
            <a:off x="7789774" y="5122469"/>
            <a:ext cx="15654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 completato 12 su 24 azioni di miglioramento consigliate.</a:t>
            </a:r>
            <a:endParaRPr lang="en-US" sz="900" dirty="0"/>
          </a:p>
        </p:txBody>
      </p:sp>
      <p:pic>
        <p:nvPicPr>
          <p:cNvPr id="75" name="Image 16" descr="preencoded.png"/>
          <p:cNvPicPr>
            <a:picLocks noChangeAspect="1"/>
          </p:cNvPicPr>
          <p:nvPr/>
        </p:nvPicPr>
        <p:blipFill>
          <a:blip r:embed="rId18"/>
          <a:srcRect l="-212" r="-212"/>
          <a:stretch/>
        </p:blipFill>
        <p:spPr>
          <a:xfrm>
            <a:off x="7819949" y="5732374"/>
            <a:ext cx="1500530" cy="75895"/>
          </a:xfrm>
          <a:prstGeom prst="rect">
            <a:avLst/>
          </a:prstGeom>
        </p:spPr>
      </p:pic>
      <p:pic>
        <p:nvPicPr>
          <p:cNvPr id="76" name="Image 17" descr="preencoded.png"/>
          <p:cNvPicPr>
            <a:picLocks noChangeAspect="1"/>
          </p:cNvPicPr>
          <p:nvPr/>
        </p:nvPicPr>
        <p:blipFill>
          <a:blip r:embed="rId19"/>
          <a:srcRect l="-215" r="-215"/>
          <a:stretch/>
        </p:blipFill>
        <p:spPr>
          <a:xfrm>
            <a:off x="7819949" y="5732374"/>
            <a:ext cx="1170432" cy="75895"/>
          </a:xfrm>
          <a:prstGeom prst="rect">
            <a:avLst/>
          </a:prstGeom>
        </p:spPr>
      </p:pic>
      <p:sp>
        <p:nvSpPr>
          <p:cNvPr id="77" name="Shape 57"/>
          <p:cNvSpPr/>
          <p:nvPr/>
        </p:nvSpPr>
        <p:spPr>
          <a:xfrm>
            <a:off x="9615830" y="2677363"/>
            <a:ext cx="1809598" cy="171450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58"/>
          <p:cNvSpPr txBox="1"/>
          <p:nvPr/>
        </p:nvSpPr>
        <p:spPr>
          <a:xfrm>
            <a:off x="9767621" y="2830068"/>
            <a:ext cx="1581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Avvisi attivi </a:t>
            </a:r>
            <a:endParaRPr lang="en-US" sz="1000" dirty="0"/>
          </a:p>
        </p:txBody>
      </p:sp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20"/>
          <a:srcRect t="-24213" b="-24213"/>
          <a:stretch/>
        </p:blipFill>
        <p:spPr>
          <a:xfrm>
            <a:off x="11144707" y="2830068"/>
            <a:ext cx="123444" cy="209398"/>
          </a:xfrm>
          <a:prstGeom prst="rect">
            <a:avLst/>
          </a:prstGeom>
        </p:spPr>
      </p:pic>
      <p:sp>
        <p:nvSpPr>
          <p:cNvPr id="80" name="Shape 59"/>
          <p:cNvSpPr/>
          <p:nvPr/>
        </p:nvSpPr>
        <p:spPr>
          <a:xfrm>
            <a:off x="9767621" y="3211373"/>
            <a:ext cx="1505102" cy="45720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1" name="Shape 60"/>
          <p:cNvSpPr/>
          <p:nvPr/>
        </p:nvSpPr>
        <p:spPr>
          <a:xfrm>
            <a:off x="9767621" y="3211373"/>
            <a:ext cx="38405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61"/>
          <p:cNvSpPr txBox="1"/>
          <p:nvPr/>
        </p:nvSpPr>
        <p:spPr>
          <a:xfrm>
            <a:off x="9881921" y="3287268"/>
            <a:ext cx="1143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Dati carta di credito rilevati</a:t>
            </a:r>
            <a:endParaRPr lang="en-US" sz="900" dirty="0"/>
          </a:p>
        </p:txBody>
      </p:sp>
      <p:sp>
        <p:nvSpPr>
          <p:cNvPr id="83" name="Text 62"/>
          <p:cNvSpPr txBox="1"/>
          <p:nvPr/>
        </p:nvSpPr>
        <p:spPr>
          <a:xfrm>
            <a:off x="10965485" y="3363163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Alto</a:t>
            </a:r>
            <a:endParaRPr lang="en-US" sz="900" dirty="0"/>
          </a:p>
        </p:txBody>
      </p:sp>
      <p:sp>
        <p:nvSpPr>
          <p:cNvPr id="84" name="Shape 63"/>
          <p:cNvSpPr/>
          <p:nvPr/>
        </p:nvSpPr>
        <p:spPr>
          <a:xfrm>
            <a:off x="9767621" y="3782873"/>
            <a:ext cx="1505102" cy="45720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5" name="Shape 64"/>
          <p:cNvSpPr/>
          <p:nvPr/>
        </p:nvSpPr>
        <p:spPr>
          <a:xfrm>
            <a:off x="9767621" y="3782873"/>
            <a:ext cx="38405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65"/>
          <p:cNvSpPr txBox="1"/>
          <p:nvPr/>
        </p:nvSpPr>
        <p:spPr>
          <a:xfrm>
            <a:off x="9881921" y="3858768"/>
            <a:ext cx="10287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Condivisione esterna anomala</a:t>
            </a:r>
            <a:endParaRPr lang="en-US" sz="900" dirty="0"/>
          </a:p>
        </p:txBody>
      </p:sp>
      <p:sp>
        <p:nvSpPr>
          <p:cNvPr id="87" name="Text 66"/>
          <p:cNvSpPr txBox="1"/>
          <p:nvPr/>
        </p:nvSpPr>
        <p:spPr>
          <a:xfrm>
            <a:off x="10847527" y="3934663"/>
            <a:ext cx="428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Medio</a:t>
            </a:r>
            <a:endParaRPr lang="en-US" sz="900" dirty="0"/>
          </a:p>
        </p:txBody>
      </p:sp>
      <p:sp>
        <p:nvSpPr>
          <p:cNvPr id="88" name="Shape 67"/>
          <p:cNvSpPr/>
          <p:nvPr/>
        </p:nvSpPr>
        <p:spPr>
          <a:xfrm>
            <a:off x="9615830" y="4534510"/>
            <a:ext cx="1809598" cy="203819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Text 68"/>
          <p:cNvSpPr txBox="1"/>
          <p:nvPr/>
        </p:nvSpPr>
        <p:spPr>
          <a:xfrm>
            <a:off x="9767621" y="4687214"/>
            <a:ext cx="156545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Corrispondenze policy DLP </a:t>
            </a:r>
            <a:endParaRPr lang="en-US" sz="1000" dirty="0"/>
          </a:p>
        </p:txBody>
      </p:sp>
      <p:pic>
        <p:nvPicPr>
          <p:cNvPr id="90" name="Image 19" descr="preencoded.png"/>
          <p:cNvPicPr>
            <a:picLocks noChangeAspect="1"/>
          </p:cNvPicPr>
          <p:nvPr/>
        </p:nvPicPr>
        <p:blipFill>
          <a:blip r:embed="rId21"/>
          <a:srcRect t="-95185" b="-95185"/>
          <a:stretch/>
        </p:blipFill>
        <p:spPr>
          <a:xfrm>
            <a:off x="11144707" y="4687214"/>
            <a:ext cx="123444" cy="409651"/>
          </a:xfrm>
          <a:prstGeom prst="rect">
            <a:avLst/>
          </a:prstGeom>
        </p:spPr>
      </p:pic>
      <p:pic>
        <p:nvPicPr>
          <p:cNvPr id="91" name="Image 20" descr="preencoded.png"/>
          <p:cNvPicPr>
            <a:picLocks noChangeAspect="1"/>
          </p:cNvPicPr>
          <p:nvPr/>
        </p:nvPicPr>
        <p:blipFill>
          <a:blip r:embed="rId22"/>
          <a:srcRect l="-95" r="-95"/>
          <a:stretch/>
        </p:blipFill>
        <p:spPr>
          <a:xfrm>
            <a:off x="9844430" y="5910682"/>
            <a:ext cx="152705" cy="274320"/>
          </a:xfrm>
          <a:prstGeom prst="rect">
            <a:avLst/>
          </a:prstGeom>
        </p:spPr>
      </p:pic>
      <p:pic>
        <p:nvPicPr>
          <p:cNvPr id="92" name="Image 21" descr="preencoded.png"/>
          <p:cNvPicPr>
            <a:picLocks noChangeAspect="1"/>
          </p:cNvPicPr>
          <p:nvPr/>
        </p:nvPicPr>
        <p:blipFill>
          <a:blip r:embed="rId23"/>
          <a:srcRect l="-100" r="-100"/>
          <a:stretch/>
        </p:blipFill>
        <p:spPr>
          <a:xfrm>
            <a:off x="10083089" y="5727802"/>
            <a:ext cx="152705" cy="457200"/>
          </a:xfrm>
          <a:prstGeom prst="rect">
            <a:avLst/>
          </a:prstGeom>
        </p:spPr>
      </p:pic>
      <p:pic>
        <p:nvPicPr>
          <p:cNvPr id="93" name="Image 22" descr="preencoded.png"/>
          <p:cNvPicPr>
            <a:picLocks noChangeAspect="1"/>
          </p:cNvPicPr>
          <p:nvPr/>
        </p:nvPicPr>
        <p:blipFill>
          <a:blip r:embed="rId24"/>
          <a:srcRect l="-88" r="-88"/>
          <a:stretch/>
        </p:blipFill>
        <p:spPr>
          <a:xfrm>
            <a:off x="10322662" y="5819242"/>
            <a:ext cx="152705" cy="365760"/>
          </a:xfrm>
          <a:prstGeom prst="rect">
            <a:avLst/>
          </a:prstGeom>
        </p:spPr>
      </p:pic>
      <p:pic>
        <p:nvPicPr>
          <p:cNvPr id="94" name="Image 23" descr="preencoded.png"/>
          <p:cNvPicPr>
            <a:picLocks noChangeAspect="1"/>
          </p:cNvPicPr>
          <p:nvPr/>
        </p:nvPicPr>
        <p:blipFill>
          <a:blip r:embed="rId25"/>
          <a:srcRect l="-98" r="-98"/>
          <a:stretch/>
        </p:blipFill>
        <p:spPr>
          <a:xfrm>
            <a:off x="10561320" y="5453482"/>
            <a:ext cx="152705" cy="731520"/>
          </a:xfrm>
          <a:prstGeom prst="rect">
            <a:avLst/>
          </a:prstGeom>
        </p:spPr>
      </p:pic>
      <p:pic>
        <p:nvPicPr>
          <p:cNvPr id="95" name="Image 24" descr="preencoded.png"/>
          <p:cNvPicPr>
            <a:picLocks noChangeAspect="1"/>
          </p:cNvPicPr>
          <p:nvPr/>
        </p:nvPicPr>
        <p:blipFill>
          <a:blip r:embed="rId26"/>
          <a:srcRect l="-95" r="-95"/>
          <a:stretch/>
        </p:blipFill>
        <p:spPr>
          <a:xfrm>
            <a:off x="10800893" y="5636362"/>
            <a:ext cx="152705" cy="548640"/>
          </a:xfrm>
          <a:prstGeom prst="rect">
            <a:avLst/>
          </a:prstGeom>
        </p:spPr>
      </p:pic>
      <p:pic>
        <p:nvPicPr>
          <p:cNvPr id="96" name="Image 25" descr="preencoded.png"/>
          <p:cNvPicPr>
            <a:picLocks noChangeAspect="1"/>
          </p:cNvPicPr>
          <p:nvPr/>
        </p:nvPicPr>
        <p:blipFill>
          <a:blip r:embed="rId27"/>
          <a:srcRect l="-95" r="-95"/>
          <a:stretch/>
        </p:blipFill>
        <p:spPr>
          <a:xfrm>
            <a:off x="11039551" y="5362042"/>
            <a:ext cx="152705" cy="822960"/>
          </a:xfrm>
          <a:prstGeom prst="rect">
            <a:avLst/>
          </a:prstGeom>
        </p:spPr>
      </p:pic>
      <p:sp>
        <p:nvSpPr>
          <p:cNvPr id="97" name="Text 69"/>
          <p:cNvSpPr txBox="1"/>
          <p:nvPr/>
        </p:nvSpPr>
        <p:spPr>
          <a:xfrm>
            <a:off x="9730130" y="6260897"/>
            <a:ext cx="1581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Ultimi 7 giorni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696151" y="1285646"/>
            <a:ext cx="4286707" cy="4286707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6838798" y="1423721"/>
            <a:ext cx="4000500" cy="40105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25005" y="2510028"/>
            <a:ext cx="3429000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25005" y="184343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1785823"/>
            <a:ext cx="211043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Segregazione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153412"/>
            <a:ext cx="24149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Purview | Insider Risk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125005" y="4279392"/>
            <a:ext cx="3429000" cy="875995"/>
          </a:xfrm>
          <a:prstGeom prst="roundRect">
            <a:avLst>
              <a:gd name="adj" fmla="val 18154"/>
            </a:avLst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67651" y="4441241"/>
            <a:ext cx="181051" cy="1810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63002" y="4422038"/>
            <a:ext cx="292425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426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comunicazione tra questi due segmenti è disabilitata a livello di tenant per garantire la conformità normativa.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125005" y="2939796"/>
            <a:ext cx="1143000" cy="9144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43800" y="3092501"/>
            <a:ext cx="304495" cy="3044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39305" y="349300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Trading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9411005" y="2939796"/>
            <a:ext cx="1143000" cy="9144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9791395" y="3092501"/>
            <a:ext cx="381305" cy="3044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525305" y="349300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Advisory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8476488" y="3320186"/>
            <a:ext cx="733349" cy="200254"/>
          </a:xfrm>
          <a:prstGeom prst="roundRect">
            <a:avLst>
              <a:gd name="adj" fmla="val 173951"/>
            </a:avLst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4"/>
          <p:cNvSpPr txBox="1"/>
          <p:nvPr/>
        </p:nvSpPr>
        <p:spPr>
          <a:xfrm>
            <a:off x="8476488" y="3320186"/>
            <a:ext cx="810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426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BLOCCATO</a:t>
            </a:r>
            <a:endParaRPr lang="en-US" sz="8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t="-405" b="-405"/>
          <a:stretch/>
        </p:blipFill>
        <p:spPr>
          <a:xfrm>
            <a:off x="9635033" y="1231697"/>
            <a:ext cx="1895551" cy="40050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35540" y="1231697"/>
            <a:ext cx="157093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Settore Finanziario </a:t>
            </a:r>
            <a:endParaRPr lang="en-US" sz="10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825228" y="1363370"/>
            <a:ext cx="133502" cy="133502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9"/>
          <a:srcRect t="-395" b="-395"/>
          <a:stretch/>
        </p:blipFill>
        <p:spPr>
          <a:xfrm>
            <a:off x="6152998" y="4942332"/>
            <a:ext cx="1295705" cy="400507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553505" y="4942332"/>
            <a:ext cx="952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Licenza E5 </a:t>
            </a:r>
            <a:endParaRPr lang="en-US" sz="10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44107" y="5073091"/>
            <a:ext cx="133502" cy="133502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18"/>
          <p:cNvSpPr/>
          <p:nvPr/>
        </p:nvSpPr>
        <p:spPr>
          <a:xfrm>
            <a:off x="476402" y="663854"/>
            <a:ext cx="2343607" cy="314554"/>
          </a:xfrm>
          <a:prstGeom prst="roundRect">
            <a:avLst>
              <a:gd name="adj" fmla="val 290697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19"/>
          <p:cNvSpPr/>
          <p:nvPr/>
        </p:nvSpPr>
        <p:spPr>
          <a:xfrm>
            <a:off x="437998" y="663854"/>
            <a:ext cx="241950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201F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Modulo 3 • Governance</a:t>
            </a:r>
            <a:endParaRPr lang="en-US" sz="1000" dirty="0"/>
          </a:p>
        </p:txBody>
      </p:sp>
      <p:sp>
        <p:nvSpPr>
          <p:cNvPr id="31" name="Text 20"/>
          <p:cNvSpPr txBox="1"/>
          <p:nvPr/>
        </p:nvSpPr>
        <p:spPr>
          <a:xfrm>
            <a:off x="476402" y="1163117"/>
            <a:ext cx="4705502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Barriers</a:t>
            </a:r>
            <a:endParaRPr lang="en-US" sz="3600" dirty="0"/>
          </a:p>
        </p:txBody>
      </p:sp>
      <p:sp>
        <p:nvSpPr>
          <p:cNvPr id="32" name="Text 21"/>
          <p:cNvSpPr txBox="1"/>
          <p:nvPr/>
        </p:nvSpPr>
        <p:spPr>
          <a:xfrm>
            <a:off x="476402" y="2406701"/>
            <a:ext cx="4610405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barriere informative sono policy avanzate di Microsoft Purview progettate per impedire la comunicazione e la collaborazione tra segmenti specifici di utenti, evitando conflitti di interesse.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476402" y="3860597"/>
            <a:ext cx="381305" cy="381305"/>
          </a:xfrm>
          <a:prstGeom prst="ellipse">
            <a:avLst/>
          </a:prstGeom>
          <a:solidFill>
            <a:srgbClr val="EF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rcRect l="-1403" r="-1403"/>
          <a:stretch/>
        </p:blipFill>
        <p:spPr>
          <a:xfrm>
            <a:off x="562356" y="3961181"/>
            <a:ext cx="209398" cy="181051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000354" y="3860597"/>
            <a:ext cx="4124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Separazione Gruppi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1000354" y="4127602"/>
            <a:ext cx="408645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 dipartimenti critici (es. Trading vs Advisory) per garantire l'indipendenza operativa e prevenire insider trading.</a:t>
            </a:r>
            <a:endParaRPr lang="en-US" sz="1000" dirty="0"/>
          </a:p>
        </p:txBody>
      </p:sp>
      <p:sp>
        <p:nvSpPr>
          <p:cNvPr id="37" name="Shape 25"/>
          <p:cNvSpPr/>
          <p:nvPr/>
        </p:nvSpPr>
        <p:spPr>
          <a:xfrm>
            <a:off x="476402" y="4701845"/>
            <a:ext cx="381305" cy="381305"/>
          </a:xfrm>
          <a:prstGeom prst="ellipse">
            <a:avLst/>
          </a:prstGeom>
          <a:solidFill>
            <a:srgbClr val="EF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6072" y="4802429"/>
            <a:ext cx="181051" cy="181051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1000354" y="4701845"/>
            <a:ext cx="4124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Blocco Comunicazioni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1000354" y="4968850"/>
            <a:ext cx="408645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Impedisce tecnicamente chat, chiamate Teams, riunioni e condivisione di file SharePoint tra i segmenti definiti.</a:t>
            </a:r>
            <a:endParaRPr lang="en-US" sz="1000" dirty="0"/>
          </a:p>
        </p:txBody>
      </p:sp>
      <p:sp>
        <p:nvSpPr>
          <p:cNvPr id="41" name="Shape 28"/>
          <p:cNvSpPr/>
          <p:nvPr/>
        </p:nvSpPr>
        <p:spPr>
          <a:xfrm>
            <a:off x="476402" y="5543093"/>
            <a:ext cx="381305" cy="381305"/>
          </a:xfrm>
          <a:prstGeom prst="ellipse">
            <a:avLst/>
          </a:prstGeom>
          <a:solidFill>
            <a:srgbClr val="EF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3"/>
          <a:srcRect t="-856" b="-856"/>
          <a:stretch/>
        </p:blipFill>
        <p:spPr>
          <a:xfrm>
            <a:off x="599846" y="5643677"/>
            <a:ext cx="133502" cy="181051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00354" y="5543093"/>
            <a:ext cx="4124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&amp; Requisiti</a:t>
            </a:r>
            <a:endParaRPr lang="en-US" sz="1200" dirty="0"/>
          </a:p>
        </p:txBody>
      </p:sp>
      <p:sp>
        <p:nvSpPr>
          <p:cNvPr id="44" name="Text 30"/>
          <p:cNvSpPr txBox="1"/>
          <p:nvPr/>
        </p:nvSpPr>
        <p:spPr>
          <a:xfrm>
            <a:off x="1000354" y="5810098"/>
            <a:ext cx="408645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Essenziale per la conformità nel settore finanziario (FINRA). Richiede licenze avanzate Microsoft 365 E5.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048902" y="1762049"/>
            <a:ext cx="4286707" cy="4286707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6249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Strategia e Controllo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74194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 Governance Aziendale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205618" y="276149"/>
            <a:ext cx="1419149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 t="-100" b="-100"/>
          <a:stretch/>
        </p:blipFill>
        <p:spPr>
          <a:xfrm>
            <a:off x="10405872" y="381305"/>
            <a:ext cx="114300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634472" y="276149"/>
            <a:ext cx="8485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Linee Guida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1333195"/>
            <a:ext cx="5695798" cy="5143500"/>
          </a:xfrm>
          <a:prstGeom prst="roundRect">
            <a:avLst>
              <a:gd name="adj" fmla="val 7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809244" y="2267712"/>
            <a:ext cx="521939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809244" y="1705356"/>
            <a:ext cx="304495" cy="30449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905256" y="1782166"/>
            <a:ext cx="114300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57300" y="1571854"/>
            <a:ext cx="4886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 policy scritte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257300" y="1807769"/>
            <a:ext cx="484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lasciare regole implicite. Crea documenti ufficiali chiari su uso, accesso e gestione dati.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09244" y="3086100"/>
            <a:ext cx="521939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809244" y="2524658"/>
            <a:ext cx="304495" cy="304495"/>
          </a:xfrm>
          <a:prstGeom prst="ellipse">
            <a:avLst/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054" y="2600554"/>
            <a:ext cx="152705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257300" y="2390242"/>
            <a:ext cx="4886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 regole a tutti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2627071"/>
            <a:ext cx="484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Assicurati che ogni dipendente conosca le policy. Usa email, intranet e riunioni per diffonderle.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09244" y="3905402"/>
            <a:ext cx="521939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09244" y="3343046"/>
            <a:ext cx="304495" cy="304495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66851" y="3419856"/>
            <a:ext cx="190195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57300" y="3209544"/>
            <a:ext cx="4886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 gli utenti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1257300" y="3445459"/>
            <a:ext cx="484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Organizza sessioni di training regolari su sicurezza, phishing e corretto utilizzo degli strumenti.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809244" y="4723790"/>
            <a:ext cx="521939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4"/>
          <p:cNvSpPr/>
          <p:nvPr/>
        </p:nvSpPr>
        <p:spPr>
          <a:xfrm>
            <a:off x="809244" y="4162349"/>
            <a:ext cx="304495" cy="304495"/>
          </a:xfrm>
          <a:prstGeom prst="ellipse">
            <a:avLst/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4238244"/>
            <a:ext cx="152705" cy="1527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57300" y="4027932"/>
            <a:ext cx="4886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Naming convention coerente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1257300" y="4263847"/>
            <a:ext cx="484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Standardizza i nomi di file, team e siti (es. [Dipartimento]_[Progetto]) per ordine e rintracciabilità.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9244" y="5543093"/>
            <a:ext cx="521939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8"/>
          <p:cNvSpPr/>
          <p:nvPr/>
        </p:nvSpPr>
        <p:spPr>
          <a:xfrm>
            <a:off x="809244" y="4980737"/>
            <a:ext cx="304495" cy="304495"/>
          </a:xfrm>
          <a:prstGeom prst="ellipse">
            <a:avLst/>
          </a:prstGeom>
          <a:solidFill>
            <a:srgbClr val="FDE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6054" y="5057546"/>
            <a:ext cx="152705" cy="15270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257300" y="4847234"/>
            <a:ext cx="4886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Attiva DLP gradualmente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1257300" y="5083150"/>
            <a:ext cx="484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Inizia con policy DLP in modalità "test" o "audit" per evitare blocchi operativi improvvisi.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809244" y="5800039"/>
            <a:ext cx="304495" cy="30449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866851" y="5875934"/>
            <a:ext cx="19019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257300" y="5665622"/>
            <a:ext cx="4886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Bilancia sicurezza e usabilità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1257300" y="5901538"/>
            <a:ext cx="484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Trova il giusto compromesso: troppa sicurezza blocca il lavoro, troppa libertà crea rischi.</a:t>
            </a:r>
            <a:endParaRPr lang="en-US" sz="1000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9"/>
          <a:srcRect l="-4" r="-4"/>
          <a:stretch/>
        </p:blipFill>
        <p:spPr>
          <a:xfrm>
            <a:off x="6991502" y="1679753"/>
            <a:ext cx="4286707" cy="4450385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8372246" y="1965960"/>
            <a:ext cx="1524305" cy="15243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0"/>
          <a:srcRect l="-36" r="-36"/>
          <a:stretch/>
        </p:blipFill>
        <p:spPr>
          <a:xfrm>
            <a:off x="8658454" y="2347265"/>
            <a:ext cx="952805" cy="761695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8236915" y="3775558"/>
            <a:ext cx="1800454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6"/>
          <p:cNvSpPr/>
          <p:nvPr/>
        </p:nvSpPr>
        <p:spPr>
          <a:xfrm>
            <a:off x="8599018" y="3775558"/>
            <a:ext cx="1510589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38C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Governance Attiva </a:t>
            </a:r>
            <a:endParaRPr lang="en-US" sz="10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1"/>
          <a:srcRect l="-2838" r="-2838"/>
          <a:stretch/>
        </p:blipFill>
        <p:spPr>
          <a:xfrm>
            <a:off x="8398764" y="3897173"/>
            <a:ext cx="123444" cy="13350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7276795" y="4496105"/>
            <a:ext cx="3715207" cy="619049"/>
          </a:xfrm>
          <a:prstGeom prst="roundRect">
            <a:avLst>
              <a:gd name="adj" fmla="val 3635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Shape 38"/>
          <p:cNvSpPr/>
          <p:nvPr/>
        </p:nvSpPr>
        <p:spPr>
          <a:xfrm>
            <a:off x="7391095" y="46140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2"/>
          <a:srcRect l="-1082" r="-1082"/>
          <a:stretch/>
        </p:blipFill>
        <p:spPr>
          <a:xfrm>
            <a:off x="7500823" y="4713732"/>
            <a:ext cx="161849" cy="181051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7915046" y="4610405"/>
            <a:ext cx="26453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Nomina Owner</a:t>
            </a:r>
            <a:endParaRPr lang="en-US" sz="1000" dirty="0"/>
          </a:p>
        </p:txBody>
      </p:sp>
      <p:sp>
        <p:nvSpPr>
          <p:cNvPr id="53" name="Text 40"/>
          <p:cNvSpPr txBox="1"/>
          <p:nvPr/>
        </p:nvSpPr>
        <p:spPr>
          <a:xfrm>
            <a:off x="7915046" y="4816145"/>
            <a:ext cx="30266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Definisci chi è responsabile della governance</a:t>
            </a:r>
            <a:endParaRPr lang="en-US" sz="900" dirty="0"/>
          </a:p>
        </p:txBody>
      </p:sp>
      <p:sp>
        <p:nvSpPr>
          <p:cNvPr id="54" name="Shape 41"/>
          <p:cNvSpPr/>
          <p:nvPr/>
        </p:nvSpPr>
        <p:spPr>
          <a:xfrm>
            <a:off x="7276795" y="5227625"/>
            <a:ext cx="3715207" cy="619049"/>
          </a:xfrm>
          <a:prstGeom prst="roundRect">
            <a:avLst>
              <a:gd name="adj" fmla="val 3635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42"/>
          <p:cNvSpPr/>
          <p:nvPr/>
        </p:nvSpPr>
        <p:spPr>
          <a:xfrm>
            <a:off x="7391095" y="534558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3"/>
          <a:srcRect l="-1082" r="-1082"/>
          <a:stretch/>
        </p:blipFill>
        <p:spPr>
          <a:xfrm>
            <a:off x="7500823" y="5445252"/>
            <a:ext cx="161849" cy="181051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7915046" y="5341925"/>
            <a:ext cx="25264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Annuale</a:t>
            </a:r>
            <a:endParaRPr lang="en-US" sz="1000" dirty="0"/>
          </a:p>
        </p:txBody>
      </p:sp>
      <p:sp>
        <p:nvSpPr>
          <p:cNvPr id="58" name="Text 44"/>
          <p:cNvSpPr txBox="1"/>
          <p:nvPr/>
        </p:nvSpPr>
        <p:spPr>
          <a:xfrm>
            <a:off x="7915046" y="5547665"/>
            <a:ext cx="28904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Revisiona le policy almeno una volta l'anno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2106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933602"/>
            <a:ext cx="6486754" cy="5808268"/>
          </a:xfrm>
          <a:prstGeom prst="roundRect">
            <a:avLst>
              <a:gd name="adj" fmla="val 50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19302" y="1705356"/>
            <a:ext cx="5991149" cy="1920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19302" y="1181405"/>
            <a:ext cx="428854" cy="428854"/>
          </a:xfrm>
          <a:prstGeom prst="roundRect">
            <a:avLst>
              <a:gd name="adj" fmla="val 75811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8972" y="1281074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90802" y="1258214"/>
            <a:ext cx="38386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Perché serve il backup nel Cloud?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3076" y="2009627"/>
            <a:ext cx="60679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Molti credono erroneamente che "essere nel cloud" significhi essere automaticamente protetti da tutto. In realtà, Microsoft garantisce l'infrastruttura, ma i dati sono a rischio.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9185" y="2676001"/>
            <a:ext cx="5991149" cy="743407"/>
          </a:xfrm>
          <a:prstGeom prst="roundRect">
            <a:avLst>
              <a:gd name="adj" fmla="val 12616"/>
            </a:avLst>
          </a:prstGeom>
          <a:solidFill>
            <a:srgbClr val="FFF4C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799185" y="2676001"/>
            <a:ext cx="47549" cy="743407"/>
          </a:xfrm>
          <a:prstGeom prst="roundRect">
            <a:avLst>
              <a:gd name="adj" fmla="val 197238"/>
            </a:avLst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079906" y="2931118"/>
            <a:ext cx="200254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13332" y="2819562"/>
            <a:ext cx="5058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Errori Umani (70%+)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513332" y="3066450"/>
            <a:ext cx="56299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Eliminazioni accidentali, sovrascrittura di file, pulizia cestino non intenzionale.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99185" y="3558397"/>
            <a:ext cx="5991149" cy="743407"/>
          </a:xfrm>
          <a:prstGeom prst="roundRect">
            <a:avLst>
              <a:gd name="adj" fmla="val 12616"/>
            </a:avLst>
          </a:prstGeom>
          <a:solidFill>
            <a:srgbClr val="FDF3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799185" y="3558397"/>
            <a:ext cx="47549" cy="743407"/>
          </a:xfrm>
          <a:prstGeom prst="roundRect">
            <a:avLst>
              <a:gd name="adj" fmla="val 197238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1051560" y="3813514"/>
            <a:ext cx="256946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13332" y="3701043"/>
            <a:ext cx="4439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Attacchi Ransomware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513332" y="3948846"/>
            <a:ext cx="5010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malware può criptare i file sincronizzati su OneDrive e SharePoint.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99185" y="4440793"/>
            <a:ext cx="5991149" cy="743407"/>
          </a:xfrm>
          <a:prstGeom prst="roundRect">
            <a:avLst>
              <a:gd name="adj" fmla="val 12616"/>
            </a:avLst>
          </a:prstGeom>
          <a:solidFill>
            <a:srgbClr val="E6F2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799185" y="4440793"/>
            <a:ext cx="47549" cy="743407"/>
          </a:xfrm>
          <a:prstGeom prst="roundRect">
            <a:avLst>
              <a:gd name="adj" fmla="val 197238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1079906" y="4695910"/>
            <a:ext cx="200254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13332" y="4583439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Minacce Interne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513332" y="4831242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Dipendenti scontenti che eliminano dati prima di lasciare l'azienda.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295998" y="933602"/>
            <a:ext cx="4324198" cy="3095244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7543800" y="1705356"/>
            <a:ext cx="3829507" cy="1920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7543800" y="1181405"/>
            <a:ext cx="428854" cy="428854"/>
          </a:xfrm>
          <a:prstGeom prst="roundRect">
            <a:avLst>
              <a:gd name="adj" fmla="val 75811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7615123" y="1281074"/>
            <a:ext cx="286207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115300" y="1258214"/>
            <a:ext cx="281726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Responsabilità Condivisa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7543800" y="1867205"/>
            <a:ext cx="1867205" cy="1914754"/>
          </a:xfrm>
          <a:prstGeom prst="roundRect">
            <a:avLst>
              <a:gd name="adj" fmla="val 3998"/>
            </a:avLst>
          </a:prstGeom>
          <a:solidFill>
            <a:srgbClr val="E6F2FF"/>
          </a:solidFill>
          <a:ln w="12700">
            <a:solidFill>
              <a:srgbClr val="CCE4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5"/>
          <p:cNvSpPr txBox="1"/>
          <p:nvPr/>
        </p:nvSpPr>
        <p:spPr>
          <a:xfrm>
            <a:off x="8175650" y="2018995"/>
            <a:ext cx="87965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Microsoft</a:t>
            </a:r>
            <a:endParaRPr lang="en-US" sz="10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rcRect l="-2838" r="-2838"/>
          <a:stretch/>
        </p:blipFill>
        <p:spPr>
          <a:xfrm>
            <a:off x="7978140" y="2055571"/>
            <a:ext cx="123444" cy="133502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7696505" y="2597810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7"/>
          <p:cNvSpPr txBox="1"/>
          <p:nvPr/>
        </p:nvSpPr>
        <p:spPr>
          <a:xfrm>
            <a:off x="7915961" y="2320747"/>
            <a:ext cx="140543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Uptime Infrastruttura</a:t>
            </a:r>
            <a:endParaRPr lang="en-US" sz="10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7739482" y="2401214"/>
            <a:ext cx="105156" cy="1143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7696505" y="2877617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29"/>
          <p:cNvSpPr txBox="1"/>
          <p:nvPr/>
        </p:nvSpPr>
        <p:spPr>
          <a:xfrm>
            <a:off x="8102498" y="2600554"/>
            <a:ext cx="121889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Sicurezza Fisica</a:t>
            </a:r>
            <a:endParaRPr lang="en-US" sz="10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7926019" y="2681021"/>
            <a:ext cx="105156" cy="11430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7696505" y="3157423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1"/>
          <p:cNvSpPr txBox="1"/>
          <p:nvPr/>
        </p:nvSpPr>
        <p:spPr>
          <a:xfrm>
            <a:off x="8008315" y="2880360"/>
            <a:ext cx="131307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Replica Geografica</a:t>
            </a:r>
            <a:endParaRPr lang="en-US" sz="10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7831836" y="2961742"/>
            <a:ext cx="105156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011058" y="3161081"/>
            <a:ext cx="131033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Patching OS Cloud</a:t>
            </a:r>
            <a:endParaRPr lang="en-US" sz="10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7834579" y="3241548"/>
            <a:ext cx="105156" cy="114300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9506102" y="1867205"/>
            <a:ext cx="1867205" cy="1914754"/>
          </a:xfrm>
          <a:prstGeom prst="roundRect">
            <a:avLst>
              <a:gd name="adj" fmla="val 3998"/>
            </a:avLst>
          </a:prstGeom>
          <a:solidFill>
            <a:srgbClr val="E6FFEC"/>
          </a:solidFill>
          <a:ln w="12700">
            <a:solidFill>
              <a:srgbClr val="CCEEB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34"/>
          <p:cNvSpPr txBox="1"/>
          <p:nvPr/>
        </p:nvSpPr>
        <p:spPr>
          <a:xfrm>
            <a:off x="10105034" y="2018995"/>
            <a:ext cx="9454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Cliente (Tu)</a:t>
            </a:r>
            <a:endParaRPr lang="en-US" sz="10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9"/>
          <a:srcRect l="-2838" r="-2838"/>
          <a:stretch/>
        </p:blipFill>
        <p:spPr>
          <a:xfrm>
            <a:off x="9907524" y="2055571"/>
            <a:ext cx="123444" cy="13350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658807" y="2597810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36"/>
          <p:cNvSpPr txBox="1"/>
          <p:nvPr/>
        </p:nvSpPr>
        <p:spPr>
          <a:xfrm>
            <a:off x="10064801" y="2320747"/>
            <a:ext cx="121889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e Backup</a:t>
            </a:r>
            <a:endParaRPr lang="en-US" sz="10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9921240" y="2401214"/>
            <a:ext cx="105156" cy="114300"/>
          </a:xfrm>
          <a:prstGeom prst="rect">
            <a:avLst/>
          </a:prstGeom>
        </p:spPr>
      </p:pic>
      <p:sp>
        <p:nvSpPr>
          <p:cNvPr id="51" name="Shape 37"/>
          <p:cNvSpPr/>
          <p:nvPr/>
        </p:nvSpPr>
        <p:spPr>
          <a:xfrm>
            <a:off x="9658807" y="2877617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38"/>
          <p:cNvSpPr txBox="1"/>
          <p:nvPr/>
        </p:nvSpPr>
        <p:spPr>
          <a:xfrm>
            <a:off x="9981590" y="2600554"/>
            <a:ext cx="130210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Account e Identità</a:t>
            </a:r>
            <a:endParaRPr lang="en-US" sz="10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9804197" y="2681021"/>
            <a:ext cx="105156" cy="114300"/>
          </a:xfrm>
          <a:prstGeom prst="rect">
            <a:avLst/>
          </a:prstGeom>
        </p:spPr>
      </p:pic>
      <p:sp>
        <p:nvSpPr>
          <p:cNvPr id="54" name="Shape 39"/>
          <p:cNvSpPr/>
          <p:nvPr/>
        </p:nvSpPr>
        <p:spPr>
          <a:xfrm>
            <a:off x="9658807" y="3157423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40"/>
          <p:cNvSpPr txBox="1"/>
          <p:nvPr/>
        </p:nvSpPr>
        <p:spPr>
          <a:xfrm>
            <a:off x="9891979" y="2880360"/>
            <a:ext cx="139171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Dispositivi (Endpoint)</a:t>
            </a:r>
            <a:endParaRPr lang="en-US" sz="1000" dirty="0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9715500" y="2961742"/>
            <a:ext cx="105156" cy="114300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10071202" y="3161081"/>
            <a:ext cx="121249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Configurazione InfoSec</a:t>
            </a:r>
            <a:endParaRPr lang="en-US" sz="1000" dirty="0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9894722" y="3241548"/>
            <a:ext cx="105156" cy="114300"/>
          </a:xfrm>
          <a:prstGeom prst="rect">
            <a:avLst/>
          </a:prstGeom>
        </p:spPr>
      </p:pic>
      <p:sp>
        <p:nvSpPr>
          <p:cNvPr id="59" name="Shape 42"/>
          <p:cNvSpPr/>
          <p:nvPr/>
        </p:nvSpPr>
        <p:spPr>
          <a:xfrm>
            <a:off x="7295998" y="4263847"/>
            <a:ext cx="4324198" cy="2478023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0" name="Shape 43"/>
          <p:cNvSpPr/>
          <p:nvPr/>
        </p:nvSpPr>
        <p:spPr>
          <a:xfrm>
            <a:off x="7543800" y="5035601"/>
            <a:ext cx="3829507" cy="1920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Shape 44"/>
          <p:cNvSpPr/>
          <p:nvPr/>
        </p:nvSpPr>
        <p:spPr>
          <a:xfrm>
            <a:off x="7543800" y="4511650"/>
            <a:ext cx="428854" cy="428854"/>
          </a:xfrm>
          <a:prstGeom prst="roundRect">
            <a:avLst>
              <a:gd name="adj" fmla="val 75811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7629754" y="4611319"/>
            <a:ext cx="256946" cy="228600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8115300" y="4588459"/>
            <a:ext cx="168889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Regola 3-2-1</a:t>
            </a:r>
            <a:endParaRPr lang="en-US" sz="1400" dirty="0"/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11"/>
          <a:srcRect t="-80" b="-80"/>
          <a:stretch/>
        </p:blipFill>
        <p:spPr>
          <a:xfrm>
            <a:off x="8783726" y="5670195"/>
            <a:ext cx="142646" cy="228600"/>
          </a:xfrm>
          <a:prstGeom prst="rect">
            <a:avLst/>
          </a:prstGeom>
        </p:spPr>
      </p:pic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1"/>
          <a:srcRect t="-80" b="-80"/>
          <a:stretch/>
        </p:blipFill>
        <p:spPr>
          <a:xfrm>
            <a:off x="9990734" y="5670195"/>
            <a:ext cx="142646" cy="228600"/>
          </a:xfrm>
          <a:prstGeom prst="rect">
            <a:avLst/>
          </a:prstGeom>
        </p:spPr>
      </p:pic>
      <p:sp>
        <p:nvSpPr>
          <p:cNvPr id="88" name="Text 67"/>
          <p:cNvSpPr txBox="1"/>
          <p:nvPr/>
        </p:nvSpPr>
        <p:spPr>
          <a:xfrm>
            <a:off x="8098841" y="5301691"/>
            <a:ext cx="3145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89" name="Text 68"/>
          <p:cNvSpPr txBox="1"/>
          <p:nvPr/>
        </p:nvSpPr>
        <p:spPr>
          <a:xfrm>
            <a:off x="7733995" y="5729631"/>
            <a:ext cx="1043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Copie dei Dati</a:t>
            </a:r>
            <a:endParaRPr lang="en-US" sz="1000" dirty="0"/>
          </a:p>
        </p:txBody>
      </p:sp>
      <p:sp>
        <p:nvSpPr>
          <p:cNvPr id="90" name="Text 69"/>
          <p:cNvSpPr txBox="1"/>
          <p:nvPr/>
        </p:nvSpPr>
        <p:spPr>
          <a:xfrm>
            <a:off x="7705649" y="5924398"/>
            <a:ext cx="1095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Originale + 2 Backup</a:t>
            </a:r>
            <a:endParaRPr lang="en-US" sz="900" dirty="0"/>
          </a:p>
        </p:txBody>
      </p:sp>
      <p:sp>
        <p:nvSpPr>
          <p:cNvPr id="91" name="Text 70"/>
          <p:cNvSpPr txBox="1"/>
          <p:nvPr/>
        </p:nvSpPr>
        <p:spPr>
          <a:xfrm>
            <a:off x="9305849" y="5301691"/>
            <a:ext cx="305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92" name="Text 71"/>
          <p:cNvSpPr txBox="1"/>
          <p:nvPr/>
        </p:nvSpPr>
        <p:spPr>
          <a:xfrm>
            <a:off x="8862365" y="5729631"/>
            <a:ext cx="1201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Supporti Diversi</a:t>
            </a:r>
            <a:endParaRPr lang="en-US" sz="1000" dirty="0"/>
          </a:p>
        </p:txBody>
      </p:sp>
      <p:sp>
        <p:nvSpPr>
          <p:cNvPr id="93" name="Text 72"/>
          <p:cNvSpPr txBox="1"/>
          <p:nvPr/>
        </p:nvSpPr>
        <p:spPr>
          <a:xfrm>
            <a:off x="8912657" y="5924398"/>
            <a:ext cx="1095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Es. Cloud + Locale/Altro Cloud</a:t>
            </a:r>
            <a:endParaRPr lang="en-US" sz="900" dirty="0"/>
          </a:p>
        </p:txBody>
      </p:sp>
      <p:sp>
        <p:nvSpPr>
          <p:cNvPr id="94" name="Text 73"/>
          <p:cNvSpPr txBox="1"/>
          <p:nvPr/>
        </p:nvSpPr>
        <p:spPr>
          <a:xfrm>
            <a:off x="10543946" y="5301691"/>
            <a:ext cx="24963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95" name="Text 74"/>
          <p:cNvSpPr txBox="1"/>
          <p:nvPr/>
        </p:nvSpPr>
        <p:spPr>
          <a:xfrm>
            <a:off x="10184587" y="5729631"/>
            <a:ext cx="9637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Copia Offsite</a:t>
            </a:r>
            <a:endParaRPr lang="en-US" sz="1000" dirty="0"/>
          </a:p>
        </p:txBody>
      </p:sp>
      <p:sp>
        <p:nvSpPr>
          <p:cNvPr id="96" name="Text 75"/>
          <p:cNvSpPr txBox="1"/>
          <p:nvPr/>
        </p:nvSpPr>
        <p:spPr>
          <a:xfrm>
            <a:off x="10119665" y="5924398"/>
            <a:ext cx="1095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Fuori sede fisica/logica</a:t>
            </a:r>
            <a:endParaRPr lang="en-US" sz="900" dirty="0"/>
          </a:p>
        </p:txBody>
      </p:sp>
      <p:sp>
        <p:nvSpPr>
          <p:cNvPr id="97" name="Shape 76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8" name="Shape 77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9" name="Text 78"/>
          <p:cNvSpPr txBox="1"/>
          <p:nvPr/>
        </p:nvSpPr>
        <p:spPr>
          <a:xfrm>
            <a:off x="571500" y="0"/>
            <a:ext cx="4858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 Dati &amp; Disaster Recovery</a:t>
            </a:r>
            <a:endParaRPr lang="en-US" sz="1000" dirty="0"/>
          </a:p>
        </p:txBody>
      </p:sp>
      <p:sp>
        <p:nvSpPr>
          <p:cNvPr id="100" name="Text 79"/>
          <p:cNvSpPr txBox="1"/>
          <p:nvPr/>
        </p:nvSpPr>
        <p:spPr>
          <a:xfrm>
            <a:off x="571500" y="228600"/>
            <a:ext cx="59307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Strategie di Backup in M365</a:t>
            </a:r>
            <a:endParaRPr lang="en-US" sz="2700" dirty="0"/>
          </a:p>
        </p:txBody>
      </p:sp>
      <p:sp>
        <p:nvSpPr>
          <p:cNvPr id="101" name="Shape 80"/>
          <p:cNvSpPr/>
          <p:nvPr/>
        </p:nvSpPr>
        <p:spPr>
          <a:xfrm>
            <a:off x="9913010" y="123444"/>
            <a:ext cx="1714500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2" name="Image 1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113264" y="228600"/>
            <a:ext cx="152705" cy="152705"/>
          </a:xfrm>
          <a:prstGeom prst="rect">
            <a:avLst/>
          </a:prstGeom>
        </p:spPr>
      </p:pic>
      <p:sp>
        <p:nvSpPr>
          <p:cNvPr id="103" name="Text 81"/>
          <p:cNvSpPr txBox="1"/>
          <p:nvPr/>
        </p:nvSpPr>
        <p:spPr>
          <a:xfrm>
            <a:off x="10379354" y="123444"/>
            <a:ext cx="11055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Assurance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F4D5-E216-2DFE-0F8D-0FAD84D1B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7CAFC5-4383-4F5B-46A4-52A1808E3CA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0B0AD1-8706-E83F-35A8-1E9114F684C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C1990D-6D1C-E4EC-E58A-C48FD0FAFA1F}"/>
              </a:ext>
            </a:extLst>
          </p:cNvPr>
          <p:cNvSpPr/>
          <p:nvPr/>
        </p:nvSpPr>
        <p:spPr>
          <a:xfrm>
            <a:off x="0" y="647395"/>
            <a:ext cx="12191695" cy="62106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6AA12673-4258-BB31-ED67-4EDA69847FC8}"/>
              </a:ext>
            </a:extLst>
          </p:cNvPr>
          <p:cNvSpPr/>
          <p:nvPr/>
        </p:nvSpPr>
        <p:spPr>
          <a:xfrm>
            <a:off x="7295998" y="933602"/>
            <a:ext cx="4324198" cy="3095244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6C4AE2C6-5D40-1928-11F5-87612B7684F7}"/>
              </a:ext>
            </a:extLst>
          </p:cNvPr>
          <p:cNvSpPr/>
          <p:nvPr/>
        </p:nvSpPr>
        <p:spPr>
          <a:xfrm>
            <a:off x="7543800" y="1705356"/>
            <a:ext cx="3829507" cy="1920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4B69AECB-65A1-0936-E812-B8D27DBF4109}"/>
              </a:ext>
            </a:extLst>
          </p:cNvPr>
          <p:cNvSpPr/>
          <p:nvPr/>
        </p:nvSpPr>
        <p:spPr>
          <a:xfrm>
            <a:off x="7543800" y="1181405"/>
            <a:ext cx="428854" cy="428854"/>
          </a:xfrm>
          <a:prstGeom prst="roundRect">
            <a:avLst>
              <a:gd name="adj" fmla="val 75811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0C470A35-8E42-594A-361D-044BB44E24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7615123" y="1281074"/>
            <a:ext cx="286207" cy="228600"/>
          </a:xfrm>
          <a:prstGeom prst="rect">
            <a:avLst/>
          </a:prstGeom>
        </p:spPr>
      </p:pic>
      <p:sp>
        <p:nvSpPr>
          <p:cNvPr id="30" name="Text 23">
            <a:extLst>
              <a:ext uri="{FF2B5EF4-FFF2-40B4-BE49-F238E27FC236}">
                <a16:creationId xmlns:a16="http://schemas.microsoft.com/office/drawing/2014/main" id="{00F02773-6405-19D9-20A3-F6E12617FD2C}"/>
              </a:ext>
            </a:extLst>
          </p:cNvPr>
          <p:cNvSpPr txBox="1"/>
          <p:nvPr/>
        </p:nvSpPr>
        <p:spPr>
          <a:xfrm>
            <a:off x="8115300" y="1258214"/>
            <a:ext cx="281726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Responsabilità Condivisa</a:t>
            </a:r>
            <a:endParaRPr lang="en-US" sz="140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58876153-9F50-FC77-20E4-D36DC57FDD14}"/>
              </a:ext>
            </a:extLst>
          </p:cNvPr>
          <p:cNvSpPr/>
          <p:nvPr/>
        </p:nvSpPr>
        <p:spPr>
          <a:xfrm>
            <a:off x="7543800" y="1867205"/>
            <a:ext cx="1867205" cy="1914754"/>
          </a:xfrm>
          <a:prstGeom prst="roundRect">
            <a:avLst>
              <a:gd name="adj" fmla="val 3998"/>
            </a:avLst>
          </a:prstGeom>
          <a:solidFill>
            <a:srgbClr val="E6F2FF"/>
          </a:solidFill>
          <a:ln w="12700">
            <a:solidFill>
              <a:srgbClr val="CCE4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09500B97-628B-1262-7E35-1201D6A23756}"/>
              </a:ext>
            </a:extLst>
          </p:cNvPr>
          <p:cNvSpPr txBox="1"/>
          <p:nvPr/>
        </p:nvSpPr>
        <p:spPr>
          <a:xfrm>
            <a:off x="8175650" y="2018995"/>
            <a:ext cx="87965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Microsoft</a:t>
            </a:r>
            <a:endParaRPr lang="en-US" sz="1000" dirty="0"/>
          </a:p>
        </p:txBody>
      </p:sp>
      <p:pic>
        <p:nvPicPr>
          <p:cNvPr id="33" name="Image 5" descr="preencoded.png">
            <a:extLst>
              <a:ext uri="{FF2B5EF4-FFF2-40B4-BE49-F238E27FC236}">
                <a16:creationId xmlns:a16="http://schemas.microsoft.com/office/drawing/2014/main" id="{9DFDEF0A-7C26-9F30-907F-2A7605A0A1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7978140" y="2055571"/>
            <a:ext cx="123444" cy="133502"/>
          </a:xfrm>
          <a:prstGeom prst="rect">
            <a:avLst/>
          </a:prstGeom>
        </p:spPr>
      </p:pic>
      <p:sp>
        <p:nvSpPr>
          <p:cNvPr id="34" name="Shape 26">
            <a:extLst>
              <a:ext uri="{FF2B5EF4-FFF2-40B4-BE49-F238E27FC236}">
                <a16:creationId xmlns:a16="http://schemas.microsoft.com/office/drawing/2014/main" id="{F936413D-90B6-62D7-3BD8-E0B495470FE4}"/>
              </a:ext>
            </a:extLst>
          </p:cNvPr>
          <p:cNvSpPr/>
          <p:nvPr/>
        </p:nvSpPr>
        <p:spPr>
          <a:xfrm>
            <a:off x="7696505" y="2597810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49B70791-E2B5-6103-B17E-385BB871E197}"/>
              </a:ext>
            </a:extLst>
          </p:cNvPr>
          <p:cNvSpPr txBox="1"/>
          <p:nvPr/>
        </p:nvSpPr>
        <p:spPr>
          <a:xfrm>
            <a:off x="7915961" y="2320747"/>
            <a:ext cx="140543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Uptime Infrastruttura</a:t>
            </a:r>
            <a:endParaRPr lang="en-US" sz="1000" dirty="0"/>
          </a:p>
        </p:txBody>
      </p:sp>
      <p:pic>
        <p:nvPicPr>
          <p:cNvPr id="36" name="Image 6" descr="preencoded.png">
            <a:extLst>
              <a:ext uri="{FF2B5EF4-FFF2-40B4-BE49-F238E27FC236}">
                <a16:creationId xmlns:a16="http://schemas.microsoft.com/office/drawing/2014/main" id="{A6DABCE0-E088-8509-8CFB-1E9D61A33A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7739482" y="2401214"/>
            <a:ext cx="105156" cy="114300"/>
          </a:xfrm>
          <a:prstGeom prst="rect">
            <a:avLst/>
          </a:prstGeom>
        </p:spPr>
      </p:pic>
      <p:sp>
        <p:nvSpPr>
          <p:cNvPr id="37" name="Shape 28">
            <a:extLst>
              <a:ext uri="{FF2B5EF4-FFF2-40B4-BE49-F238E27FC236}">
                <a16:creationId xmlns:a16="http://schemas.microsoft.com/office/drawing/2014/main" id="{4162DD72-BDB8-795A-E881-CDAC7AF99F48}"/>
              </a:ext>
            </a:extLst>
          </p:cNvPr>
          <p:cNvSpPr/>
          <p:nvPr/>
        </p:nvSpPr>
        <p:spPr>
          <a:xfrm>
            <a:off x="7696505" y="2877617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5C72AC0D-A314-C9F9-1E0F-1FFD9E5F6FB9}"/>
              </a:ext>
            </a:extLst>
          </p:cNvPr>
          <p:cNvSpPr txBox="1"/>
          <p:nvPr/>
        </p:nvSpPr>
        <p:spPr>
          <a:xfrm>
            <a:off x="8102498" y="2600554"/>
            <a:ext cx="121889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Sicurezza Fisica</a:t>
            </a:r>
            <a:endParaRPr lang="en-US" sz="1000" dirty="0"/>
          </a:p>
        </p:txBody>
      </p:sp>
      <p:pic>
        <p:nvPicPr>
          <p:cNvPr id="39" name="Image 7" descr="preencoded.png">
            <a:extLst>
              <a:ext uri="{FF2B5EF4-FFF2-40B4-BE49-F238E27FC236}">
                <a16:creationId xmlns:a16="http://schemas.microsoft.com/office/drawing/2014/main" id="{41FE01B8-EF1E-4A4E-9301-FA4405D83E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7926019" y="2681021"/>
            <a:ext cx="105156" cy="114300"/>
          </a:xfrm>
          <a:prstGeom prst="rect">
            <a:avLst/>
          </a:prstGeom>
        </p:spPr>
      </p:pic>
      <p:sp>
        <p:nvSpPr>
          <p:cNvPr id="40" name="Shape 30">
            <a:extLst>
              <a:ext uri="{FF2B5EF4-FFF2-40B4-BE49-F238E27FC236}">
                <a16:creationId xmlns:a16="http://schemas.microsoft.com/office/drawing/2014/main" id="{772AE02B-1DE2-6689-B7FC-A7FCFF3EAE4B}"/>
              </a:ext>
            </a:extLst>
          </p:cNvPr>
          <p:cNvSpPr/>
          <p:nvPr/>
        </p:nvSpPr>
        <p:spPr>
          <a:xfrm>
            <a:off x="7696505" y="3157423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4D8B62A1-C5A3-244D-58F8-19712227809D}"/>
              </a:ext>
            </a:extLst>
          </p:cNvPr>
          <p:cNvSpPr txBox="1"/>
          <p:nvPr/>
        </p:nvSpPr>
        <p:spPr>
          <a:xfrm>
            <a:off x="8008315" y="2880360"/>
            <a:ext cx="131307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Replica Geografica</a:t>
            </a:r>
            <a:endParaRPr lang="en-US" sz="1000" dirty="0"/>
          </a:p>
        </p:txBody>
      </p:sp>
      <p:pic>
        <p:nvPicPr>
          <p:cNvPr id="42" name="Image 8" descr="preencoded.png">
            <a:extLst>
              <a:ext uri="{FF2B5EF4-FFF2-40B4-BE49-F238E27FC236}">
                <a16:creationId xmlns:a16="http://schemas.microsoft.com/office/drawing/2014/main" id="{D912AA69-6729-4DD7-C6C0-2BED110875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7831836" y="2961742"/>
            <a:ext cx="105156" cy="114300"/>
          </a:xfrm>
          <a:prstGeom prst="rect">
            <a:avLst/>
          </a:prstGeom>
        </p:spPr>
      </p:pic>
      <p:sp>
        <p:nvSpPr>
          <p:cNvPr id="43" name="Text 32">
            <a:extLst>
              <a:ext uri="{FF2B5EF4-FFF2-40B4-BE49-F238E27FC236}">
                <a16:creationId xmlns:a16="http://schemas.microsoft.com/office/drawing/2014/main" id="{277C8D5C-BFEE-B10E-5E82-1C10A2620758}"/>
              </a:ext>
            </a:extLst>
          </p:cNvPr>
          <p:cNvSpPr txBox="1"/>
          <p:nvPr/>
        </p:nvSpPr>
        <p:spPr>
          <a:xfrm>
            <a:off x="8011058" y="3161081"/>
            <a:ext cx="131033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Patching OS Cloud</a:t>
            </a:r>
            <a:endParaRPr lang="en-US" sz="1000" dirty="0"/>
          </a:p>
        </p:txBody>
      </p:sp>
      <p:pic>
        <p:nvPicPr>
          <p:cNvPr id="44" name="Image 9" descr="preencoded.png">
            <a:extLst>
              <a:ext uri="{FF2B5EF4-FFF2-40B4-BE49-F238E27FC236}">
                <a16:creationId xmlns:a16="http://schemas.microsoft.com/office/drawing/2014/main" id="{837EB4EE-562F-522F-1774-BCF7E44BE2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7834579" y="3241548"/>
            <a:ext cx="105156" cy="114300"/>
          </a:xfrm>
          <a:prstGeom prst="rect">
            <a:avLst/>
          </a:prstGeom>
        </p:spPr>
      </p:pic>
      <p:sp>
        <p:nvSpPr>
          <p:cNvPr id="45" name="Shape 33">
            <a:extLst>
              <a:ext uri="{FF2B5EF4-FFF2-40B4-BE49-F238E27FC236}">
                <a16:creationId xmlns:a16="http://schemas.microsoft.com/office/drawing/2014/main" id="{1284A636-8595-CA22-258A-71DC1F233C61}"/>
              </a:ext>
            </a:extLst>
          </p:cNvPr>
          <p:cNvSpPr/>
          <p:nvPr/>
        </p:nvSpPr>
        <p:spPr>
          <a:xfrm>
            <a:off x="9506102" y="1867205"/>
            <a:ext cx="1867205" cy="1914754"/>
          </a:xfrm>
          <a:prstGeom prst="roundRect">
            <a:avLst>
              <a:gd name="adj" fmla="val 3998"/>
            </a:avLst>
          </a:prstGeom>
          <a:solidFill>
            <a:srgbClr val="E6FFEC"/>
          </a:solidFill>
          <a:ln w="12700">
            <a:solidFill>
              <a:srgbClr val="CCEEB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1B16D9C0-ACA5-1CFA-D122-41670B8BB973}"/>
              </a:ext>
            </a:extLst>
          </p:cNvPr>
          <p:cNvSpPr txBox="1"/>
          <p:nvPr/>
        </p:nvSpPr>
        <p:spPr>
          <a:xfrm>
            <a:off x="10105034" y="2018995"/>
            <a:ext cx="9454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Cliente (Tu)</a:t>
            </a:r>
            <a:endParaRPr lang="en-US" sz="1000" dirty="0"/>
          </a:p>
        </p:txBody>
      </p:sp>
      <p:pic>
        <p:nvPicPr>
          <p:cNvPr id="47" name="Image 10" descr="preencoded.png">
            <a:extLst>
              <a:ext uri="{FF2B5EF4-FFF2-40B4-BE49-F238E27FC236}">
                <a16:creationId xmlns:a16="http://schemas.microsoft.com/office/drawing/2014/main" id="{94F7DFC0-EED6-EE1B-4840-58645179E8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838" r="-2838"/>
          <a:stretch/>
        </p:blipFill>
        <p:spPr>
          <a:xfrm>
            <a:off x="9907524" y="2055571"/>
            <a:ext cx="123444" cy="133502"/>
          </a:xfrm>
          <a:prstGeom prst="rect">
            <a:avLst/>
          </a:prstGeom>
        </p:spPr>
      </p:pic>
      <p:sp>
        <p:nvSpPr>
          <p:cNvPr id="48" name="Shape 35">
            <a:extLst>
              <a:ext uri="{FF2B5EF4-FFF2-40B4-BE49-F238E27FC236}">
                <a16:creationId xmlns:a16="http://schemas.microsoft.com/office/drawing/2014/main" id="{DDFA0134-40FE-5D2F-49EA-106D276F2EFB}"/>
              </a:ext>
            </a:extLst>
          </p:cNvPr>
          <p:cNvSpPr/>
          <p:nvPr/>
        </p:nvSpPr>
        <p:spPr>
          <a:xfrm>
            <a:off x="9658807" y="2597810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B244BA3B-DB13-5410-B3C1-AFE963CE4AD6}"/>
              </a:ext>
            </a:extLst>
          </p:cNvPr>
          <p:cNvSpPr txBox="1"/>
          <p:nvPr/>
        </p:nvSpPr>
        <p:spPr>
          <a:xfrm>
            <a:off x="10064801" y="2320747"/>
            <a:ext cx="121889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e Backup</a:t>
            </a:r>
            <a:endParaRPr lang="en-US" sz="1000" dirty="0"/>
          </a:p>
        </p:txBody>
      </p:sp>
      <p:pic>
        <p:nvPicPr>
          <p:cNvPr id="50" name="Image 11" descr="preencoded.png">
            <a:extLst>
              <a:ext uri="{FF2B5EF4-FFF2-40B4-BE49-F238E27FC236}">
                <a16:creationId xmlns:a16="http://schemas.microsoft.com/office/drawing/2014/main" id="{514A8692-4FFC-02C4-45A1-686CEA71CC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9921240" y="2401214"/>
            <a:ext cx="105156" cy="114300"/>
          </a:xfrm>
          <a:prstGeom prst="rect">
            <a:avLst/>
          </a:prstGeom>
        </p:spPr>
      </p:pic>
      <p:sp>
        <p:nvSpPr>
          <p:cNvPr id="51" name="Shape 37">
            <a:extLst>
              <a:ext uri="{FF2B5EF4-FFF2-40B4-BE49-F238E27FC236}">
                <a16:creationId xmlns:a16="http://schemas.microsoft.com/office/drawing/2014/main" id="{5A62F8AB-48FB-ADC5-B2AF-65E2A8FD17E9}"/>
              </a:ext>
            </a:extLst>
          </p:cNvPr>
          <p:cNvSpPr/>
          <p:nvPr/>
        </p:nvSpPr>
        <p:spPr>
          <a:xfrm>
            <a:off x="9658807" y="2877617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38">
            <a:extLst>
              <a:ext uri="{FF2B5EF4-FFF2-40B4-BE49-F238E27FC236}">
                <a16:creationId xmlns:a16="http://schemas.microsoft.com/office/drawing/2014/main" id="{4D0EB91D-FB8E-AFD8-6AF6-08C3467D8FB8}"/>
              </a:ext>
            </a:extLst>
          </p:cNvPr>
          <p:cNvSpPr txBox="1"/>
          <p:nvPr/>
        </p:nvSpPr>
        <p:spPr>
          <a:xfrm>
            <a:off x="9981590" y="2600554"/>
            <a:ext cx="130210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Account e Identità</a:t>
            </a:r>
            <a:endParaRPr lang="en-US" sz="1000" dirty="0"/>
          </a:p>
        </p:txBody>
      </p:sp>
      <p:pic>
        <p:nvPicPr>
          <p:cNvPr id="53" name="Image 12" descr="preencoded.png">
            <a:extLst>
              <a:ext uri="{FF2B5EF4-FFF2-40B4-BE49-F238E27FC236}">
                <a16:creationId xmlns:a16="http://schemas.microsoft.com/office/drawing/2014/main" id="{8AF22F69-E8C0-39A1-48DA-CD5D327892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9804197" y="2681021"/>
            <a:ext cx="105156" cy="114300"/>
          </a:xfrm>
          <a:prstGeom prst="rect">
            <a:avLst/>
          </a:prstGeom>
        </p:spPr>
      </p:pic>
      <p:sp>
        <p:nvSpPr>
          <p:cNvPr id="54" name="Shape 39">
            <a:extLst>
              <a:ext uri="{FF2B5EF4-FFF2-40B4-BE49-F238E27FC236}">
                <a16:creationId xmlns:a16="http://schemas.microsoft.com/office/drawing/2014/main" id="{D3D2AF5F-7B6D-95D6-A32D-2AABB24A93FB}"/>
              </a:ext>
            </a:extLst>
          </p:cNvPr>
          <p:cNvSpPr/>
          <p:nvPr/>
        </p:nvSpPr>
        <p:spPr>
          <a:xfrm>
            <a:off x="9658807" y="3157423"/>
            <a:ext cx="15617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40">
            <a:extLst>
              <a:ext uri="{FF2B5EF4-FFF2-40B4-BE49-F238E27FC236}">
                <a16:creationId xmlns:a16="http://schemas.microsoft.com/office/drawing/2014/main" id="{80EBB6C3-F872-E320-1441-044D1BABDF17}"/>
              </a:ext>
            </a:extLst>
          </p:cNvPr>
          <p:cNvSpPr txBox="1"/>
          <p:nvPr/>
        </p:nvSpPr>
        <p:spPr>
          <a:xfrm>
            <a:off x="9891979" y="2880360"/>
            <a:ext cx="139171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Dispositivi (Endpoint)</a:t>
            </a:r>
            <a:endParaRPr lang="en-US" sz="1000" dirty="0"/>
          </a:p>
        </p:txBody>
      </p:sp>
      <p:pic>
        <p:nvPicPr>
          <p:cNvPr id="56" name="Image 13" descr="preencoded.png">
            <a:extLst>
              <a:ext uri="{FF2B5EF4-FFF2-40B4-BE49-F238E27FC236}">
                <a16:creationId xmlns:a16="http://schemas.microsoft.com/office/drawing/2014/main" id="{39E412C2-3930-9CA1-83C5-80A7B36A33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9715500" y="2961742"/>
            <a:ext cx="105156" cy="114300"/>
          </a:xfrm>
          <a:prstGeom prst="rect">
            <a:avLst/>
          </a:prstGeom>
        </p:spPr>
      </p:pic>
      <p:sp>
        <p:nvSpPr>
          <p:cNvPr id="57" name="Text 41">
            <a:extLst>
              <a:ext uri="{FF2B5EF4-FFF2-40B4-BE49-F238E27FC236}">
                <a16:creationId xmlns:a16="http://schemas.microsoft.com/office/drawing/2014/main" id="{4F2DD885-6A57-680E-56CC-8692A66D12C0}"/>
              </a:ext>
            </a:extLst>
          </p:cNvPr>
          <p:cNvSpPr txBox="1"/>
          <p:nvPr/>
        </p:nvSpPr>
        <p:spPr>
          <a:xfrm>
            <a:off x="10071202" y="3161081"/>
            <a:ext cx="121249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Configurazione InfoSec</a:t>
            </a:r>
            <a:endParaRPr lang="en-US" sz="1000" dirty="0"/>
          </a:p>
        </p:txBody>
      </p:sp>
      <p:pic>
        <p:nvPicPr>
          <p:cNvPr id="58" name="Image 14" descr="preencoded.png">
            <a:extLst>
              <a:ext uri="{FF2B5EF4-FFF2-40B4-BE49-F238E27FC236}">
                <a16:creationId xmlns:a16="http://schemas.microsoft.com/office/drawing/2014/main" id="{3A284C36-3197-C99A-BC82-2A97679759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9894722" y="3241548"/>
            <a:ext cx="105156" cy="114300"/>
          </a:xfrm>
          <a:prstGeom prst="rect">
            <a:avLst/>
          </a:prstGeom>
        </p:spPr>
      </p:pic>
      <p:sp>
        <p:nvSpPr>
          <p:cNvPr id="66" name="Shape 46">
            <a:extLst>
              <a:ext uri="{FF2B5EF4-FFF2-40B4-BE49-F238E27FC236}">
                <a16:creationId xmlns:a16="http://schemas.microsoft.com/office/drawing/2014/main" id="{278BEA27-4DDE-963D-2225-D5CB802C2815}"/>
              </a:ext>
            </a:extLst>
          </p:cNvPr>
          <p:cNvSpPr/>
          <p:nvPr/>
        </p:nvSpPr>
        <p:spPr>
          <a:xfrm>
            <a:off x="404622" y="2597810"/>
            <a:ext cx="6486754" cy="2590495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7" name="Shape 47">
            <a:extLst>
              <a:ext uri="{FF2B5EF4-FFF2-40B4-BE49-F238E27FC236}">
                <a16:creationId xmlns:a16="http://schemas.microsoft.com/office/drawing/2014/main" id="{94CB7845-D331-26A0-2C78-669A90133E5D}"/>
              </a:ext>
            </a:extLst>
          </p:cNvPr>
          <p:cNvSpPr/>
          <p:nvPr/>
        </p:nvSpPr>
        <p:spPr>
          <a:xfrm>
            <a:off x="652424" y="3369564"/>
            <a:ext cx="5991149" cy="1920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Shape 48">
            <a:extLst>
              <a:ext uri="{FF2B5EF4-FFF2-40B4-BE49-F238E27FC236}">
                <a16:creationId xmlns:a16="http://schemas.microsoft.com/office/drawing/2014/main" id="{DAC7AB1F-5C23-0BAA-037F-58C54F2EA7C0}"/>
              </a:ext>
            </a:extLst>
          </p:cNvPr>
          <p:cNvSpPr/>
          <p:nvPr/>
        </p:nvSpPr>
        <p:spPr>
          <a:xfrm>
            <a:off x="652424" y="2845612"/>
            <a:ext cx="428854" cy="428854"/>
          </a:xfrm>
          <a:prstGeom prst="roundRect">
            <a:avLst>
              <a:gd name="adj" fmla="val 75811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9" name="Image 18" descr="preencoded.png">
            <a:extLst>
              <a:ext uri="{FF2B5EF4-FFF2-40B4-BE49-F238E27FC236}">
                <a16:creationId xmlns:a16="http://schemas.microsoft.com/office/drawing/2014/main" id="{8091704D-E605-3148-F2C8-D99ACAC67A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723748" y="2945282"/>
            <a:ext cx="286207" cy="228600"/>
          </a:xfrm>
          <a:prstGeom prst="rect">
            <a:avLst/>
          </a:prstGeom>
        </p:spPr>
      </p:pic>
      <p:sp>
        <p:nvSpPr>
          <p:cNvPr id="70" name="Text 49">
            <a:extLst>
              <a:ext uri="{FF2B5EF4-FFF2-40B4-BE49-F238E27FC236}">
                <a16:creationId xmlns:a16="http://schemas.microsoft.com/office/drawing/2014/main" id="{2F83203D-48E7-A2FC-C365-A64DC8E8D9E7}"/>
              </a:ext>
            </a:extLst>
          </p:cNvPr>
          <p:cNvSpPr txBox="1"/>
          <p:nvPr/>
        </p:nvSpPr>
        <p:spPr>
          <a:xfrm>
            <a:off x="1223924" y="2922422"/>
            <a:ext cx="223479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vs Backup</a:t>
            </a:r>
            <a:endParaRPr lang="en-US" sz="1400" dirty="0"/>
          </a:p>
        </p:txBody>
      </p:sp>
      <p:sp>
        <p:nvSpPr>
          <p:cNvPr id="71" name="Shape 50">
            <a:extLst>
              <a:ext uri="{FF2B5EF4-FFF2-40B4-BE49-F238E27FC236}">
                <a16:creationId xmlns:a16="http://schemas.microsoft.com/office/drawing/2014/main" id="{4DF29695-A330-E0E9-7C56-566292C75D03}"/>
              </a:ext>
            </a:extLst>
          </p:cNvPr>
          <p:cNvSpPr/>
          <p:nvPr/>
        </p:nvSpPr>
        <p:spPr>
          <a:xfrm>
            <a:off x="652424" y="3922776"/>
            <a:ext cx="5991149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51">
            <a:extLst>
              <a:ext uri="{FF2B5EF4-FFF2-40B4-BE49-F238E27FC236}">
                <a16:creationId xmlns:a16="http://schemas.microsoft.com/office/drawing/2014/main" id="{039282C4-3596-CF8D-22C1-8A5CDCBC482A}"/>
              </a:ext>
            </a:extLst>
          </p:cNvPr>
          <p:cNvSpPr txBox="1"/>
          <p:nvPr/>
        </p:nvSpPr>
        <p:spPr>
          <a:xfrm>
            <a:off x="652424" y="3563416"/>
            <a:ext cx="18772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Scopo</a:t>
            </a:r>
            <a:endParaRPr lang="en-US" sz="1000" dirty="0"/>
          </a:p>
        </p:txBody>
      </p:sp>
      <p:sp>
        <p:nvSpPr>
          <p:cNvPr id="73" name="Shape 52">
            <a:extLst>
              <a:ext uri="{FF2B5EF4-FFF2-40B4-BE49-F238E27FC236}">
                <a16:creationId xmlns:a16="http://schemas.microsoft.com/office/drawing/2014/main" id="{C763F4FA-DDBE-EC57-8A89-88CE8ADD9A33}"/>
              </a:ext>
            </a:extLst>
          </p:cNvPr>
          <p:cNvSpPr/>
          <p:nvPr/>
        </p:nvSpPr>
        <p:spPr>
          <a:xfrm>
            <a:off x="2749144" y="3531412"/>
            <a:ext cx="1800454" cy="276149"/>
          </a:xfrm>
          <a:prstGeom prst="roundRect">
            <a:avLst>
              <a:gd name="adj" fmla="val 91345"/>
            </a:avLst>
          </a:prstGeom>
          <a:solidFill>
            <a:srgbClr val="FD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53">
            <a:extLst>
              <a:ext uri="{FF2B5EF4-FFF2-40B4-BE49-F238E27FC236}">
                <a16:creationId xmlns:a16="http://schemas.microsoft.com/office/drawing/2014/main" id="{878D4BEF-78CF-5FDF-F81F-6FFE2A11A648}"/>
              </a:ext>
            </a:extLst>
          </p:cNvPr>
          <p:cNvSpPr txBox="1"/>
          <p:nvPr/>
        </p:nvSpPr>
        <p:spPr>
          <a:xfrm>
            <a:off x="2713482" y="3531412"/>
            <a:ext cx="187269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34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75" name="Shape 54">
            <a:extLst>
              <a:ext uri="{FF2B5EF4-FFF2-40B4-BE49-F238E27FC236}">
                <a16:creationId xmlns:a16="http://schemas.microsoft.com/office/drawing/2014/main" id="{FAAF4194-B695-E529-5B8D-FDD5E6A2890F}"/>
              </a:ext>
            </a:extLst>
          </p:cNvPr>
          <p:cNvSpPr/>
          <p:nvPr/>
        </p:nvSpPr>
        <p:spPr>
          <a:xfrm>
            <a:off x="4845863" y="3531412"/>
            <a:ext cx="1800454" cy="276149"/>
          </a:xfrm>
          <a:prstGeom prst="roundRect">
            <a:avLst>
              <a:gd name="adj" fmla="val 91345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Text 55">
            <a:extLst>
              <a:ext uri="{FF2B5EF4-FFF2-40B4-BE49-F238E27FC236}">
                <a16:creationId xmlns:a16="http://schemas.microsoft.com/office/drawing/2014/main" id="{93A17264-4760-208E-907B-189E2725FAFB}"/>
              </a:ext>
            </a:extLst>
          </p:cNvPr>
          <p:cNvSpPr txBox="1"/>
          <p:nvPr/>
        </p:nvSpPr>
        <p:spPr>
          <a:xfrm>
            <a:off x="4810201" y="3531412"/>
            <a:ext cx="187269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77" name="Shape 56">
            <a:extLst>
              <a:ext uri="{FF2B5EF4-FFF2-40B4-BE49-F238E27FC236}">
                <a16:creationId xmlns:a16="http://schemas.microsoft.com/office/drawing/2014/main" id="{F8C69CBA-445C-3738-AF55-8C97A0301A2B}"/>
              </a:ext>
            </a:extLst>
          </p:cNvPr>
          <p:cNvSpPr/>
          <p:nvPr/>
        </p:nvSpPr>
        <p:spPr>
          <a:xfrm>
            <a:off x="652424" y="4431182"/>
            <a:ext cx="5991149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57">
            <a:extLst>
              <a:ext uri="{FF2B5EF4-FFF2-40B4-BE49-F238E27FC236}">
                <a16:creationId xmlns:a16="http://schemas.microsoft.com/office/drawing/2014/main" id="{CF4C8264-C156-712C-E8D7-B283407C5CA1}"/>
              </a:ext>
            </a:extLst>
          </p:cNvPr>
          <p:cNvSpPr txBox="1"/>
          <p:nvPr/>
        </p:nvSpPr>
        <p:spPr>
          <a:xfrm>
            <a:off x="652424" y="4071823"/>
            <a:ext cx="18772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Ransomware</a:t>
            </a:r>
            <a:endParaRPr lang="en-US" sz="1000" dirty="0"/>
          </a:p>
        </p:txBody>
      </p:sp>
      <p:sp>
        <p:nvSpPr>
          <p:cNvPr id="79" name="Shape 58">
            <a:extLst>
              <a:ext uri="{FF2B5EF4-FFF2-40B4-BE49-F238E27FC236}">
                <a16:creationId xmlns:a16="http://schemas.microsoft.com/office/drawing/2014/main" id="{DF2C9ED7-C614-54E5-AE89-5A392486AFA6}"/>
              </a:ext>
            </a:extLst>
          </p:cNvPr>
          <p:cNvSpPr/>
          <p:nvPr/>
        </p:nvSpPr>
        <p:spPr>
          <a:xfrm>
            <a:off x="2749144" y="4039819"/>
            <a:ext cx="1800454" cy="276149"/>
          </a:xfrm>
          <a:prstGeom prst="roundRect">
            <a:avLst>
              <a:gd name="adj" fmla="val 91345"/>
            </a:avLst>
          </a:prstGeom>
          <a:solidFill>
            <a:srgbClr val="FD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Text 59">
            <a:extLst>
              <a:ext uri="{FF2B5EF4-FFF2-40B4-BE49-F238E27FC236}">
                <a16:creationId xmlns:a16="http://schemas.microsoft.com/office/drawing/2014/main" id="{AF558BF0-E641-809C-CB68-3C8D0FF80E7C}"/>
              </a:ext>
            </a:extLst>
          </p:cNvPr>
          <p:cNvSpPr txBox="1"/>
          <p:nvPr/>
        </p:nvSpPr>
        <p:spPr>
          <a:xfrm>
            <a:off x="2713482" y="4039819"/>
            <a:ext cx="187269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34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Vulnerabile</a:t>
            </a:r>
            <a:endParaRPr lang="en-US" sz="1000" dirty="0"/>
          </a:p>
        </p:txBody>
      </p:sp>
      <p:sp>
        <p:nvSpPr>
          <p:cNvPr id="81" name="Shape 60">
            <a:extLst>
              <a:ext uri="{FF2B5EF4-FFF2-40B4-BE49-F238E27FC236}">
                <a16:creationId xmlns:a16="http://schemas.microsoft.com/office/drawing/2014/main" id="{4CDAC0E3-3AFA-ADDE-E8D3-9BA6E080C732}"/>
              </a:ext>
            </a:extLst>
          </p:cNvPr>
          <p:cNvSpPr/>
          <p:nvPr/>
        </p:nvSpPr>
        <p:spPr>
          <a:xfrm>
            <a:off x="4845863" y="4039819"/>
            <a:ext cx="1800454" cy="276149"/>
          </a:xfrm>
          <a:prstGeom prst="roundRect">
            <a:avLst>
              <a:gd name="adj" fmla="val 91345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61">
            <a:extLst>
              <a:ext uri="{FF2B5EF4-FFF2-40B4-BE49-F238E27FC236}">
                <a16:creationId xmlns:a16="http://schemas.microsoft.com/office/drawing/2014/main" id="{E87166C4-2D8D-0B5D-68A5-E5C6091F728E}"/>
              </a:ext>
            </a:extLst>
          </p:cNvPr>
          <p:cNvSpPr txBox="1"/>
          <p:nvPr/>
        </p:nvSpPr>
        <p:spPr>
          <a:xfrm>
            <a:off x="4810201" y="4039819"/>
            <a:ext cx="187269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Protetto (Immutabile)</a:t>
            </a:r>
            <a:endParaRPr lang="en-US" sz="1000" dirty="0"/>
          </a:p>
        </p:txBody>
      </p:sp>
      <p:sp>
        <p:nvSpPr>
          <p:cNvPr id="83" name="Text 62">
            <a:extLst>
              <a:ext uri="{FF2B5EF4-FFF2-40B4-BE49-F238E27FC236}">
                <a16:creationId xmlns:a16="http://schemas.microsoft.com/office/drawing/2014/main" id="{ADE2F8C1-E503-9C3B-30D2-D059B1C9F6CB}"/>
              </a:ext>
            </a:extLst>
          </p:cNvPr>
          <p:cNvSpPr txBox="1"/>
          <p:nvPr/>
        </p:nvSpPr>
        <p:spPr>
          <a:xfrm>
            <a:off x="652424" y="4581144"/>
            <a:ext cx="18772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Restore</a:t>
            </a:r>
            <a:endParaRPr lang="en-US" sz="1000" dirty="0"/>
          </a:p>
        </p:txBody>
      </p:sp>
      <p:sp>
        <p:nvSpPr>
          <p:cNvPr id="84" name="Shape 63">
            <a:extLst>
              <a:ext uri="{FF2B5EF4-FFF2-40B4-BE49-F238E27FC236}">
                <a16:creationId xmlns:a16="http://schemas.microsoft.com/office/drawing/2014/main" id="{AA6641A9-F6E9-3DFE-6D44-513EEFF24BDF}"/>
              </a:ext>
            </a:extLst>
          </p:cNvPr>
          <p:cNvSpPr/>
          <p:nvPr/>
        </p:nvSpPr>
        <p:spPr>
          <a:xfrm>
            <a:off x="2749144" y="4548225"/>
            <a:ext cx="1800454" cy="276149"/>
          </a:xfrm>
          <a:prstGeom prst="roundRect">
            <a:avLst>
              <a:gd name="adj" fmla="val 91345"/>
            </a:avLst>
          </a:prstGeom>
          <a:solidFill>
            <a:srgbClr val="FD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Text 64">
            <a:extLst>
              <a:ext uri="{FF2B5EF4-FFF2-40B4-BE49-F238E27FC236}">
                <a16:creationId xmlns:a16="http://schemas.microsoft.com/office/drawing/2014/main" id="{D8AB829A-6285-0CDF-C2AD-E12AB41F2914}"/>
              </a:ext>
            </a:extLst>
          </p:cNvPr>
          <p:cNvSpPr txBox="1"/>
          <p:nvPr/>
        </p:nvSpPr>
        <p:spPr>
          <a:xfrm>
            <a:off x="2713482" y="4548225"/>
            <a:ext cx="187269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34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Singolo File</a:t>
            </a:r>
            <a:endParaRPr lang="en-US" sz="1000" dirty="0"/>
          </a:p>
        </p:txBody>
      </p:sp>
      <p:sp>
        <p:nvSpPr>
          <p:cNvPr id="86" name="Shape 65">
            <a:extLst>
              <a:ext uri="{FF2B5EF4-FFF2-40B4-BE49-F238E27FC236}">
                <a16:creationId xmlns:a16="http://schemas.microsoft.com/office/drawing/2014/main" id="{204FF5FC-0491-F0D3-B9AC-9565B4B31FBA}"/>
              </a:ext>
            </a:extLst>
          </p:cNvPr>
          <p:cNvSpPr/>
          <p:nvPr/>
        </p:nvSpPr>
        <p:spPr>
          <a:xfrm>
            <a:off x="4845863" y="4548225"/>
            <a:ext cx="1800454" cy="276149"/>
          </a:xfrm>
          <a:prstGeom prst="roundRect">
            <a:avLst>
              <a:gd name="adj" fmla="val 91345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7" name="Text 66">
            <a:extLst>
              <a:ext uri="{FF2B5EF4-FFF2-40B4-BE49-F238E27FC236}">
                <a16:creationId xmlns:a16="http://schemas.microsoft.com/office/drawing/2014/main" id="{291B3149-7B4B-A4A4-F4E2-4C29953CE5C5}"/>
              </a:ext>
            </a:extLst>
          </p:cNvPr>
          <p:cNvSpPr txBox="1"/>
          <p:nvPr/>
        </p:nvSpPr>
        <p:spPr>
          <a:xfrm>
            <a:off x="4810201" y="4548225"/>
            <a:ext cx="187269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Massivo / Point-in-time</a:t>
            </a:r>
            <a:endParaRPr lang="en-US" sz="1000" dirty="0"/>
          </a:p>
        </p:txBody>
      </p:sp>
      <p:sp>
        <p:nvSpPr>
          <p:cNvPr id="97" name="Shape 76">
            <a:extLst>
              <a:ext uri="{FF2B5EF4-FFF2-40B4-BE49-F238E27FC236}">
                <a16:creationId xmlns:a16="http://schemas.microsoft.com/office/drawing/2014/main" id="{11D12F2C-4639-EF22-3782-0562ADAE68A4}"/>
              </a:ext>
            </a:extLst>
          </p:cNvPr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8" name="Shape 77">
            <a:extLst>
              <a:ext uri="{FF2B5EF4-FFF2-40B4-BE49-F238E27FC236}">
                <a16:creationId xmlns:a16="http://schemas.microsoft.com/office/drawing/2014/main" id="{7F03B5EA-09F7-128C-6299-800511EBB172}"/>
              </a:ext>
            </a:extLst>
          </p:cNvPr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9" name="Text 78">
            <a:extLst>
              <a:ext uri="{FF2B5EF4-FFF2-40B4-BE49-F238E27FC236}">
                <a16:creationId xmlns:a16="http://schemas.microsoft.com/office/drawing/2014/main" id="{5FC2B559-3167-F5A5-1247-63A12664C6C3}"/>
              </a:ext>
            </a:extLst>
          </p:cNvPr>
          <p:cNvSpPr txBox="1"/>
          <p:nvPr/>
        </p:nvSpPr>
        <p:spPr>
          <a:xfrm>
            <a:off x="571500" y="0"/>
            <a:ext cx="4858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 Dati &amp; Disaster Recovery</a:t>
            </a:r>
            <a:endParaRPr lang="en-US" sz="1000" dirty="0"/>
          </a:p>
        </p:txBody>
      </p:sp>
      <p:sp>
        <p:nvSpPr>
          <p:cNvPr id="100" name="Text 79">
            <a:extLst>
              <a:ext uri="{FF2B5EF4-FFF2-40B4-BE49-F238E27FC236}">
                <a16:creationId xmlns:a16="http://schemas.microsoft.com/office/drawing/2014/main" id="{B7E60B79-15A0-E75B-A50F-6E5594107A4E}"/>
              </a:ext>
            </a:extLst>
          </p:cNvPr>
          <p:cNvSpPr txBox="1"/>
          <p:nvPr/>
        </p:nvSpPr>
        <p:spPr>
          <a:xfrm>
            <a:off x="571500" y="228600"/>
            <a:ext cx="59307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Strategie di Backup in M365</a:t>
            </a:r>
            <a:endParaRPr lang="en-US" sz="2700" dirty="0"/>
          </a:p>
        </p:txBody>
      </p:sp>
      <p:sp>
        <p:nvSpPr>
          <p:cNvPr id="101" name="Shape 80">
            <a:extLst>
              <a:ext uri="{FF2B5EF4-FFF2-40B4-BE49-F238E27FC236}">
                <a16:creationId xmlns:a16="http://schemas.microsoft.com/office/drawing/2014/main" id="{A3FE2438-1DB3-DAA9-1E0A-5D47649A3CCC}"/>
              </a:ext>
            </a:extLst>
          </p:cNvPr>
          <p:cNvSpPr/>
          <p:nvPr/>
        </p:nvSpPr>
        <p:spPr>
          <a:xfrm>
            <a:off x="9913010" y="123444"/>
            <a:ext cx="1714500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2" name="Image 19" descr="preencoded.png">
            <a:extLst>
              <a:ext uri="{FF2B5EF4-FFF2-40B4-BE49-F238E27FC236}">
                <a16:creationId xmlns:a16="http://schemas.microsoft.com/office/drawing/2014/main" id="{6A11481F-09C6-A329-C4B6-9339A75957A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113264" y="228600"/>
            <a:ext cx="152705" cy="152705"/>
          </a:xfrm>
          <a:prstGeom prst="rect">
            <a:avLst/>
          </a:prstGeom>
        </p:spPr>
      </p:pic>
      <p:sp>
        <p:nvSpPr>
          <p:cNvPr id="103" name="Text 81">
            <a:extLst>
              <a:ext uri="{FF2B5EF4-FFF2-40B4-BE49-F238E27FC236}">
                <a16:creationId xmlns:a16="http://schemas.microsoft.com/office/drawing/2014/main" id="{07D8707C-0ACD-ED1B-3A6A-CC210BEEC70B}"/>
              </a:ext>
            </a:extLst>
          </p:cNvPr>
          <p:cNvSpPr txBox="1"/>
          <p:nvPr/>
        </p:nvSpPr>
        <p:spPr>
          <a:xfrm>
            <a:off x="10379354" y="123444"/>
            <a:ext cx="11055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Assurance</a:t>
            </a:r>
            <a:endParaRPr lang="en-US" sz="1000" dirty="0"/>
          </a:p>
        </p:txBody>
      </p:sp>
      <p:sp>
        <p:nvSpPr>
          <p:cNvPr id="104" name="Shape 42">
            <a:extLst>
              <a:ext uri="{FF2B5EF4-FFF2-40B4-BE49-F238E27FC236}">
                <a16:creationId xmlns:a16="http://schemas.microsoft.com/office/drawing/2014/main" id="{69D58701-5494-F525-64A6-646144286E4B}"/>
              </a:ext>
            </a:extLst>
          </p:cNvPr>
          <p:cNvSpPr/>
          <p:nvPr/>
        </p:nvSpPr>
        <p:spPr>
          <a:xfrm>
            <a:off x="7295998" y="4263847"/>
            <a:ext cx="4324198" cy="2478023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5" name="Shape 43">
            <a:extLst>
              <a:ext uri="{FF2B5EF4-FFF2-40B4-BE49-F238E27FC236}">
                <a16:creationId xmlns:a16="http://schemas.microsoft.com/office/drawing/2014/main" id="{AED9BA64-B971-A049-010F-C9D7BB0BD4F9}"/>
              </a:ext>
            </a:extLst>
          </p:cNvPr>
          <p:cNvSpPr/>
          <p:nvPr/>
        </p:nvSpPr>
        <p:spPr>
          <a:xfrm>
            <a:off x="7543800" y="5035601"/>
            <a:ext cx="3829507" cy="1920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6" name="Shape 44">
            <a:extLst>
              <a:ext uri="{FF2B5EF4-FFF2-40B4-BE49-F238E27FC236}">
                <a16:creationId xmlns:a16="http://schemas.microsoft.com/office/drawing/2014/main" id="{F67BECE9-EF62-025F-C9DC-834A0BDBDB8B}"/>
              </a:ext>
            </a:extLst>
          </p:cNvPr>
          <p:cNvSpPr/>
          <p:nvPr/>
        </p:nvSpPr>
        <p:spPr>
          <a:xfrm>
            <a:off x="7543800" y="4511650"/>
            <a:ext cx="428854" cy="428854"/>
          </a:xfrm>
          <a:prstGeom prst="roundRect">
            <a:avLst>
              <a:gd name="adj" fmla="val 75811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7" name="Image 15" descr="preencoded.png">
            <a:extLst>
              <a:ext uri="{FF2B5EF4-FFF2-40B4-BE49-F238E27FC236}">
                <a16:creationId xmlns:a16="http://schemas.microsoft.com/office/drawing/2014/main" id="{ADCBEB91-4647-3B7A-8CE6-BC83DEFF7B2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7629754" y="4611319"/>
            <a:ext cx="256946" cy="228600"/>
          </a:xfrm>
          <a:prstGeom prst="rect">
            <a:avLst/>
          </a:prstGeom>
        </p:spPr>
      </p:pic>
      <p:sp>
        <p:nvSpPr>
          <p:cNvPr id="108" name="Text 45">
            <a:extLst>
              <a:ext uri="{FF2B5EF4-FFF2-40B4-BE49-F238E27FC236}">
                <a16:creationId xmlns:a16="http://schemas.microsoft.com/office/drawing/2014/main" id="{BC46317C-DE9F-16AA-6D78-CF34B8912979}"/>
              </a:ext>
            </a:extLst>
          </p:cNvPr>
          <p:cNvSpPr txBox="1"/>
          <p:nvPr/>
        </p:nvSpPr>
        <p:spPr>
          <a:xfrm>
            <a:off x="8115300" y="4588459"/>
            <a:ext cx="168889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Regola 3-2-1</a:t>
            </a:r>
            <a:endParaRPr lang="en-US" sz="1400" dirty="0"/>
          </a:p>
        </p:txBody>
      </p:sp>
      <p:pic>
        <p:nvPicPr>
          <p:cNvPr id="109" name="Image 16" descr="preencoded.png">
            <a:extLst>
              <a:ext uri="{FF2B5EF4-FFF2-40B4-BE49-F238E27FC236}">
                <a16:creationId xmlns:a16="http://schemas.microsoft.com/office/drawing/2014/main" id="{3C38B4F0-5785-8BC9-0EB7-A49989BF6BD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8783726" y="5670195"/>
            <a:ext cx="142646" cy="228600"/>
          </a:xfrm>
          <a:prstGeom prst="rect">
            <a:avLst/>
          </a:prstGeom>
        </p:spPr>
      </p:pic>
      <p:pic>
        <p:nvPicPr>
          <p:cNvPr id="110" name="Image 17" descr="preencoded.png">
            <a:extLst>
              <a:ext uri="{FF2B5EF4-FFF2-40B4-BE49-F238E27FC236}">
                <a16:creationId xmlns:a16="http://schemas.microsoft.com/office/drawing/2014/main" id="{C90F3A77-430C-5E31-9A6F-7015CCA23A8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9990734" y="5670195"/>
            <a:ext cx="142646" cy="228600"/>
          </a:xfrm>
          <a:prstGeom prst="rect">
            <a:avLst/>
          </a:prstGeom>
        </p:spPr>
      </p:pic>
      <p:sp>
        <p:nvSpPr>
          <p:cNvPr id="111" name="Text 67">
            <a:extLst>
              <a:ext uri="{FF2B5EF4-FFF2-40B4-BE49-F238E27FC236}">
                <a16:creationId xmlns:a16="http://schemas.microsoft.com/office/drawing/2014/main" id="{967CBE6A-20D0-DE1F-D610-4CAEE4464F58}"/>
              </a:ext>
            </a:extLst>
          </p:cNvPr>
          <p:cNvSpPr txBox="1"/>
          <p:nvPr/>
        </p:nvSpPr>
        <p:spPr>
          <a:xfrm>
            <a:off x="8098841" y="5301691"/>
            <a:ext cx="3145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112" name="Text 68">
            <a:extLst>
              <a:ext uri="{FF2B5EF4-FFF2-40B4-BE49-F238E27FC236}">
                <a16:creationId xmlns:a16="http://schemas.microsoft.com/office/drawing/2014/main" id="{CB4BB036-0FEF-666F-36EB-C4E0D6008BA3}"/>
              </a:ext>
            </a:extLst>
          </p:cNvPr>
          <p:cNvSpPr txBox="1"/>
          <p:nvPr/>
        </p:nvSpPr>
        <p:spPr>
          <a:xfrm>
            <a:off x="7733995" y="5729631"/>
            <a:ext cx="1043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Copie dei Dati</a:t>
            </a:r>
            <a:endParaRPr lang="en-US" sz="1000" dirty="0"/>
          </a:p>
        </p:txBody>
      </p:sp>
      <p:sp>
        <p:nvSpPr>
          <p:cNvPr id="113" name="Text 69">
            <a:extLst>
              <a:ext uri="{FF2B5EF4-FFF2-40B4-BE49-F238E27FC236}">
                <a16:creationId xmlns:a16="http://schemas.microsoft.com/office/drawing/2014/main" id="{7F653B27-7E00-8AA7-99C5-86E3F30A1788}"/>
              </a:ext>
            </a:extLst>
          </p:cNvPr>
          <p:cNvSpPr txBox="1"/>
          <p:nvPr/>
        </p:nvSpPr>
        <p:spPr>
          <a:xfrm>
            <a:off x="7705649" y="5924398"/>
            <a:ext cx="1095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Originale + 2 Backup</a:t>
            </a:r>
            <a:endParaRPr lang="en-US" sz="900" dirty="0"/>
          </a:p>
        </p:txBody>
      </p:sp>
      <p:sp>
        <p:nvSpPr>
          <p:cNvPr id="114" name="Text 70">
            <a:extLst>
              <a:ext uri="{FF2B5EF4-FFF2-40B4-BE49-F238E27FC236}">
                <a16:creationId xmlns:a16="http://schemas.microsoft.com/office/drawing/2014/main" id="{462F33C0-7CAA-56DE-4F27-5ECD6DDF059A}"/>
              </a:ext>
            </a:extLst>
          </p:cNvPr>
          <p:cNvSpPr txBox="1"/>
          <p:nvPr/>
        </p:nvSpPr>
        <p:spPr>
          <a:xfrm>
            <a:off x="9305849" y="5301691"/>
            <a:ext cx="305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15" name="Text 71">
            <a:extLst>
              <a:ext uri="{FF2B5EF4-FFF2-40B4-BE49-F238E27FC236}">
                <a16:creationId xmlns:a16="http://schemas.microsoft.com/office/drawing/2014/main" id="{D0C69B11-B5B5-B8FE-99ED-BB877594B2DB}"/>
              </a:ext>
            </a:extLst>
          </p:cNvPr>
          <p:cNvSpPr txBox="1"/>
          <p:nvPr/>
        </p:nvSpPr>
        <p:spPr>
          <a:xfrm>
            <a:off x="8862365" y="5729631"/>
            <a:ext cx="1201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Supporti Diversi</a:t>
            </a:r>
            <a:endParaRPr lang="en-US" sz="1000" dirty="0"/>
          </a:p>
        </p:txBody>
      </p:sp>
      <p:sp>
        <p:nvSpPr>
          <p:cNvPr id="116" name="Text 72">
            <a:extLst>
              <a:ext uri="{FF2B5EF4-FFF2-40B4-BE49-F238E27FC236}">
                <a16:creationId xmlns:a16="http://schemas.microsoft.com/office/drawing/2014/main" id="{872396DD-947B-2DEC-EAE5-25CEFF2EF368}"/>
              </a:ext>
            </a:extLst>
          </p:cNvPr>
          <p:cNvSpPr txBox="1"/>
          <p:nvPr/>
        </p:nvSpPr>
        <p:spPr>
          <a:xfrm>
            <a:off x="8912657" y="5924398"/>
            <a:ext cx="1095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Es. Cloud + Locale/Altro Cloud</a:t>
            </a:r>
            <a:endParaRPr lang="en-US" sz="900" dirty="0"/>
          </a:p>
        </p:txBody>
      </p:sp>
      <p:sp>
        <p:nvSpPr>
          <p:cNvPr id="117" name="Text 73">
            <a:extLst>
              <a:ext uri="{FF2B5EF4-FFF2-40B4-BE49-F238E27FC236}">
                <a16:creationId xmlns:a16="http://schemas.microsoft.com/office/drawing/2014/main" id="{9CAD822A-F298-4928-71BB-F60EDFA32EE1}"/>
              </a:ext>
            </a:extLst>
          </p:cNvPr>
          <p:cNvSpPr txBox="1"/>
          <p:nvPr/>
        </p:nvSpPr>
        <p:spPr>
          <a:xfrm>
            <a:off x="10543946" y="5301691"/>
            <a:ext cx="24963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18" name="Text 74">
            <a:extLst>
              <a:ext uri="{FF2B5EF4-FFF2-40B4-BE49-F238E27FC236}">
                <a16:creationId xmlns:a16="http://schemas.microsoft.com/office/drawing/2014/main" id="{5D48ECDD-89A8-BA91-488E-389DAE4AB563}"/>
              </a:ext>
            </a:extLst>
          </p:cNvPr>
          <p:cNvSpPr txBox="1"/>
          <p:nvPr/>
        </p:nvSpPr>
        <p:spPr>
          <a:xfrm>
            <a:off x="10184587" y="5729631"/>
            <a:ext cx="9637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Copia Offsite</a:t>
            </a:r>
            <a:endParaRPr lang="en-US" sz="1000" dirty="0"/>
          </a:p>
        </p:txBody>
      </p:sp>
      <p:sp>
        <p:nvSpPr>
          <p:cNvPr id="119" name="Text 75">
            <a:extLst>
              <a:ext uri="{FF2B5EF4-FFF2-40B4-BE49-F238E27FC236}">
                <a16:creationId xmlns:a16="http://schemas.microsoft.com/office/drawing/2014/main" id="{210A94F8-9847-1C05-F108-CD479CD4AF7A}"/>
              </a:ext>
            </a:extLst>
          </p:cNvPr>
          <p:cNvSpPr txBox="1"/>
          <p:nvPr/>
        </p:nvSpPr>
        <p:spPr>
          <a:xfrm>
            <a:off x="10119665" y="5924398"/>
            <a:ext cx="1095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Fuori sede fisica/logica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14799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9B0B-BC31-9137-169A-B89AAF5FC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0">
            <a:extLst>
              <a:ext uri="{FF2B5EF4-FFF2-40B4-BE49-F238E27FC236}">
                <a16:creationId xmlns:a16="http://schemas.microsoft.com/office/drawing/2014/main" id="{75C7E1C9-12B0-69CD-0A7C-B17BE65D1CAB}"/>
              </a:ext>
            </a:extLst>
          </p:cNvPr>
          <p:cNvSpPr/>
          <p:nvPr/>
        </p:nvSpPr>
        <p:spPr>
          <a:xfrm>
            <a:off x="4559695" y="3333902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2088109-30B2-F07F-1783-1E895BFBD71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5A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4F3703-D0E0-A2F1-41F0-4E56BC581DE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5A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6877AA-8572-38B9-2B15-DE838AF47AC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5A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3A2C43-4894-4F22-F171-59D011BD6C83}"/>
              </a:ext>
            </a:extLst>
          </p:cNvPr>
          <p:cNvSpPr/>
          <p:nvPr/>
        </p:nvSpPr>
        <p:spPr>
          <a:xfrm>
            <a:off x="-1429207" y="-952805"/>
            <a:ext cx="4286707" cy="4286707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AE0124-072D-2AB6-09BF-3333CAE2BB8D}"/>
              </a:ext>
            </a:extLst>
          </p:cNvPr>
          <p:cNvSpPr/>
          <p:nvPr/>
        </p:nvSpPr>
        <p:spPr>
          <a:xfrm>
            <a:off x="9048902" y="3333902"/>
            <a:ext cx="5238598" cy="5238598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62662FA-BBB4-50E1-FF25-92B69FDF4833}"/>
              </a:ext>
            </a:extLst>
          </p:cNvPr>
          <p:cNvSpPr/>
          <p:nvPr/>
        </p:nvSpPr>
        <p:spPr>
          <a:xfrm>
            <a:off x="4762195" y="2381098"/>
            <a:ext cx="2667305" cy="2667305"/>
          </a:xfrm>
          <a:prstGeom prst="ellipse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6EF7F72-7066-0785-9BFA-619E64EAFA39}"/>
              </a:ext>
            </a:extLst>
          </p:cNvPr>
          <p:cNvSpPr/>
          <p:nvPr/>
        </p:nvSpPr>
        <p:spPr>
          <a:xfrm>
            <a:off x="5333695" y="666598"/>
            <a:ext cx="1524305" cy="418795"/>
          </a:xfrm>
          <a:prstGeom prst="roundRect">
            <a:avLst>
              <a:gd name="adj" fmla="val 218341"/>
            </a:avLst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1A23E85-3830-3816-120A-8F56F67AFA30}"/>
              </a:ext>
            </a:extLst>
          </p:cNvPr>
          <p:cNvSpPr/>
          <p:nvPr/>
        </p:nvSpPr>
        <p:spPr>
          <a:xfrm>
            <a:off x="952805" y="3333902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6C02DAB-82CA-0DC6-0633-54D9D565521C}"/>
              </a:ext>
            </a:extLst>
          </p:cNvPr>
          <p:cNvSpPr/>
          <p:nvPr/>
        </p:nvSpPr>
        <p:spPr>
          <a:xfrm>
            <a:off x="2190902" y="3619195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6973643C-4163-E944-1304-AF6F483D48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4572000" y="3333902"/>
            <a:ext cx="3124505" cy="2361895"/>
          </a:xfrm>
          <a:prstGeom prst="rect">
            <a:avLst/>
          </a:prstGeom>
        </p:spPr>
      </p:pic>
      <p:sp>
        <p:nvSpPr>
          <p:cNvPr id="12" name="Shape 9">
            <a:extLst>
              <a:ext uri="{FF2B5EF4-FFF2-40B4-BE49-F238E27FC236}">
                <a16:creationId xmlns:a16="http://schemas.microsoft.com/office/drawing/2014/main" id="{81FFDD85-4942-405F-B3AB-FED85A4049F0}"/>
              </a:ext>
            </a:extLst>
          </p:cNvPr>
          <p:cNvSpPr/>
          <p:nvPr/>
        </p:nvSpPr>
        <p:spPr>
          <a:xfrm>
            <a:off x="5810098" y="3619195"/>
            <a:ext cx="571500" cy="57150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53AF61E-A52F-32E5-F9AF-5328D0F17217}"/>
              </a:ext>
            </a:extLst>
          </p:cNvPr>
          <p:cNvSpPr/>
          <p:nvPr/>
        </p:nvSpPr>
        <p:spPr>
          <a:xfrm>
            <a:off x="8191195" y="3333902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A8B2CDE-D229-3E49-3A78-F000261511D7}"/>
              </a:ext>
            </a:extLst>
          </p:cNvPr>
          <p:cNvSpPr/>
          <p:nvPr/>
        </p:nvSpPr>
        <p:spPr>
          <a:xfrm>
            <a:off x="9430207" y="3619195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0302475-4330-C2AF-F213-1FABFDC7EB35}"/>
              </a:ext>
            </a:extLst>
          </p:cNvPr>
          <p:cNvSpPr/>
          <p:nvPr/>
        </p:nvSpPr>
        <p:spPr>
          <a:xfrm>
            <a:off x="7286854" y="3191256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F310110E-456B-C9F8-B9F7-01AC1E48DC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5524805" y="790956"/>
            <a:ext cx="190195" cy="171907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3930EB18-F092-3444-2222-F12CE1F2C7EA}"/>
              </a:ext>
            </a:extLst>
          </p:cNvPr>
          <p:cNvSpPr txBox="1"/>
          <p:nvPr/>
        </p:nvSpPr>
        <p:spPr>
          <a:xfrm>
            <a:off x="5790895" y="771754"/>
            <a:ext cx="1028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8" normalizeH="0" baseline="0" noProof="0" dirty="0">
                <a:ln>
                  <a:noFill/>
                </a:ln>
                <a:solidFill>
                  <a:srgbClr val="422006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Quiz Time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A458B79-43D2-FC1D-B664-6E03DF550A04}"/>
              </a:ext>
            </a:extLst>
          </p:cNvPr>
          <p:cNvSpPr txBox="1"/>
          <p:nvPr/>
        </p:nvSpPr>
        <p:spPr>
          <a:xfrm>
            <a:off x="1258214" y="1524305"/>
            <a:ext cx="9675266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è lo </a:t>
            </a:r>
            <a:r>
              <a:rPr lang="en-US" sz="32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scopo</a:t>
            </a: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principale</a:t>
            </a: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 </a:t>
            </a:r>
            <a:r>
              <a:rPr lang="en-US" sz="32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</a:t>
            </a: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policy DLP in M365?</a:t>
            </a:r>
            <a:endParaRPr lang="en-US" sz="32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88F0413-01CD-0C3E-C866-93A3891942A1}"/>
              </a:ext>
            </a:extLst>
          </p:cNvPr>
          <p:cNvSpPr txBox="1"/>
          <p:nvPr/>
        </p:nvSpPr>
        <p:spPr>
          <a:xfrm>
            <a:off x="895198" y="3733495"/>
            <a:ext cx="3162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DB1E52D-8E11-5E11-02F6-CB91F48C1080}"/>
              </a:ext>
            </a:extLst>
          </p:cNvPr>
          <p:cNvSpPr txBox="1"/>
          <p:nvPr/>
        </p:nvSpPr>
        <p:spPr>
          <a:xfrm>
            <a:off x="1089965" y="4429354"/>
            <a:ext cx="277429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</a:t>
            </a:r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automatico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dei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</a:t>
            </a:r>
            <a:endParaRPr lang="en-US" sz="160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D97AB01A-DFAA-2E1D-D717-845417EA31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58507" y="3161995"/>
            <a:ext cx="400507" cy="400507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D2D8BBE7-1747-9590-5848-666E5710F7C3}"/>
              </a:ext>
            </a:extLst>
          </p:cNvPr>
          <p:cNvSpPr txBox="1"/>
          <p:nvPr/>
        </p:nvSpPr>
        <p:spPr>
          <a:xfrm>
            <a:off x="4515307" y="3733495"/>
            <a:ext cx="3162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26AA345F-E84C-6ECB-86D2-369BCBD54C45}"/>
              </a:ext>
            </a:extLst>
          </p:cNvPr>
          <p:cNvSpPr txBox="1"/>
          <p:nvPr/>
        </p:nvSpPr>
        <p:spPr>
          <a:xfrm>
            <a:off x="4709160" y="4713395"/>
            <a:ext cx="277429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Prevenire</a:t>
            </a:r>
            <a:r>
              <a:rPr lang="en-US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</a:t>
            </a:r>
            <a:r>
              <a:rPr lang="en-US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perdita</a:t>
            </a:r>
            <a:r>
              <a:rPr lang="en-US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</a:t>
            </a:r>
            <a:r>
              <a:rPr lang="en-US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condivisione</a:t>
            </a:r>
            <a:r>
              <a:rPr lang="en-US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non </a:t>
            </a:r>
            <a:r>
              <a:rPr lang="en-US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autorizzata</a:t>
            </a:r>
            <a:r>
              <a:rPr lang="en-US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 </a:t>
            </a:r>
            <a:r>
              <a:rPr lang="en-US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</a:t>
            </a:r>
            <a:r>
              <a:rPr lang="en-US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sensibili</a:t>
            </a:r>
            <a:endParaRPr lang="en-US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159441C5-FAB7-40F4-4876-808B57783B03}"/>
              </a:ext>
            </a:extLst>
          </p:cNvPr>
          <p:cNvSpPr txBox="1"/>
          <p:nvPr/>
        </p:nvSpPr>
        <p:spPr>
          <a:xfrm>
            <a:off x="8134502" y="3733495"/>
            <a:ext cx="3162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B32EA817-4506-5CC0-B0AF-3307BC1DA263}"/>
              </a:ext>
            </a:extLst>
          </p:cNvPr>
          <p:cNvSpPr txBox="1"/>
          <p:nvPr/>
        </p:nvSpPr>
        <p:spPr>
          <a:xfrm>
            <a:off x="8328355" y="4429354"/>
            <a:ext cx="277429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Aumentare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</a:t>
            </a:r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velocità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 accesso ai file</a:t>
            </a:r>
            <a:endParaRPr lang="en-US" sz="16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8D74B358-C25B-0AAB-C120-6D951CEEB51C}"/>
              </a:ext>
            </a:extLst>
          </p:cNvPr>
          <p:cNvSpPr/>
          <p:nvPr/>
        </p:nvSpPr>
        <p:spPr>
          <a:xfrm>
            <a:off x="4605433" y="3352646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54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>
            <a:alphaModFix amt="40000"/>
          </a:blip>
          <a:srcRect l="-1" r="-1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18895" y="4095598"/>
            <a:ext cx="38405" cy="267005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 txBox="1"/>
          <p:nvPr/>
        </p:nvSpPr>
        <p:spPr>
          <a:xfrm>
            <a:off x="1333195" y="4095598"/>
            <a:ext cx="97539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Dettagli Critici sulla Retention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218895" y="4515307"/>
            <a:ext cx="3124505" cy="1410005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1218895" y="4515307"/>
            <a:ext cx="47549" cy="1410005"/>
          </a:xfrm>
          <a:prstGeom prst="roundRect">
            <a:avLst>
              <a:gd name="adj" fmla="val 207899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57554" y="4733849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4714646"/>
            <a:ext cx="2407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Regola dei 93 Giorni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4990795"/>
            <a:ext cx="239115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timer di 93 giorni inizia alla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eliminazione e non si resetta passando dal 1° al 2° livello. È un tempo totale condiviso.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33595" y="4515307"/>
            <a:ext cx="3124505" cy="1410005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4533595" y="4515307"/>
            <a:ext cx="47549" cy="1410005"/>
          </a:xfrm>
          <a:prstGeom prst="roundRect">
            <a:avLst>
              <a:gd name="adj" fmla="val 207899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72254" y="4733849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3500" y="4714646"/>
            <a:ext cx="2407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Eliminazione Manuale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143500" y="4990795"/>
            <a:ext cx="239115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un utente svuota il proprio cestino (1° livello), i file non spariscono ma si spostano immediatamente nel 2° livello.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848295" y="4515307"/>
            <a:ext cx="3124505" cy="1410005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7848295" y="4515307"/>
            <a:ext cx="47549" cy="1410005"/>
          </a:xfrm>
          <a:prstGeom prst="roundRect">
            <a:avLst>
              <a:gd name="adj" fmla="val 207899"/>
            </a:avLst>
          </a:prstGeom>
          <a:solidFill>
            <a:srgbClr val="008272"/>
          </a:solidFill>
          <a:ln w="12700">
            <a:solidFill>
              <a:srgbClr val="0082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86954" y="4733849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58200" y="4714646"/>
            <a:ext cx="2407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Impatto sullo Storage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8458200" y="4990795"/>
            <a:ext cx="239115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file presenti in entrambi i livelli del cestino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continuano a occupare spazio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nella quota di archiviazione della Site Collection.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1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 txBox="1"/>
          <p:nvPr/>
        </p:nvSpPr>
        <p:spPr>
          <a:xfrm>
            <a:off x="571500" y="152705"/>
            <a:ext cx="4772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e Recovery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71500" y="381305"/>
            <a:ext cx="63559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Cestino SharePoint: I Livelli</a:t>
            </a:r>
            <a:endParaRPr lang="en-US" sz="2700" dirty="0"/>
          </a:p>
        </p:txBody>
      </p:sp>
      <p:sp>
        <p:nvSpPr>
          <p:cNvPr id="27" name="Shape 21"/>
          <p:cNvSpPr/>
          <p:nvPr/>
        </p:nvSpPr>
        <p:spPr>
          <a:xfrm>
            <a:off x="9732874" y="276149"/>
            <a:ext cx="1895551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9932213" y="381305"/>
            <a:ext cx="133502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180015" y="276149"/>
            <a:ext cx="13057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Flusso di Recupero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 l="-3" r="-3"/>
          <a:stretch/>
        </p:blipFill>
        <p:spPr>
          <a:xfrm>
            <a:off x="619049" y="1429207"/>
            <a:ext cx="2286000" cy="2381098"/>
          </a:xfrm>
          <a:prstGeom prst="rect">
            <a:avLst/>
          </a:prstGeom>
        </p:spPr>
      </p:pic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476756" y="1676095"/>
            <a:ext cx="571500" cy="571500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rcRect t="-476" b="-476"/>
          <a:stretch/>
        </p:blipFill>
        <p:spPr>
          <a:xfrm>
            <a:off x="1623974" y="1837944"/>
            <a:ext cx="276149" cy="24780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1867205" y="2066544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0"/>
          <a:srcRect l="-1358" r="-1358"/>
          <a:stretch/>
        </p:blipFill>
        <p:spPr>
          <a:xfrm>
            <a:off x="1933956" y="2119579"/>
            <a:ext cx="95098" cy="123444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080821" y="2391156"/>
            <a:ext cx="1371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Eliminato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771754" y="2659075"/>
            <a:ext cx="1981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L'utente elimina un file o una cartella da una libreria documenti di SharePoint o OneDrive.</a:t>
            </a:r>
            <a:endParaRPr lang="en-US" sz="9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2980944" y="2600554"/>
            <a:ext cx="450799" cy="38405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3317443" y="2619756"/>
            <a:ext cx="209398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2"/>
          <a:srcRect l="-3" r="-3"/>
          <a:stretch/>
        </p:blipFill>
        <p:spPr>
          <a:xfrm>
            <a:off x="3508553" y="1429207"/>
            <a:ext cx="2286000" cy="2381098"/>
          </a:xfrm>
          <a:prstGeom prst="rect">
            <a:avLst/>
          </a:prstGeom>
        </p:spPr>
      </p:pic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365346" y="1676095"/>
            <a:ext cx="571500" cy="571500"/>
          </a:xfrm>
          <a:prstGeom prst="rect">
            <a:avLst/>
          </a:prstGeom>
        </p:spPr>
      </p:pic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4"/>
          <a:srcRect t="-1774" b="-1774"/>
          <a:stretch/>
        </p:blipFill>
        <p:spPr>
          <a:xfrm>
            <a:off x="4546397" y="1837944"/>
            <a:ext cx="209398" cy="247802"/>
          </a:xfrm>
          <a:prstGeom prst="rect">
            <a:avLst/>
          </a:prstGeom>
        </p:spPr>
      </p:pic>
      <p:sp>
        <p:nvSpPr>
          <p:cNvPr id="42" name="Shape 27"/>
          <p:cNvSpPr/>
          <p:nvPr/>
        </p:nvSpPr>
        <p:spPr>
          <a:xfrm>
            <a:off x="4755794" y="2066544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28"/>
          <p:cNvSpPr/>
          <p:nvPr/>
        </p:nvSpPr>
        <p:spPr>
          <a:xfrm>
            <a:off x="4718304" y="206654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3998671" y="2391156"/>
            <a:ext cx="13149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Cestino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(1° Livello)</a:t>
            </a:r>
            <a:endParaRPr lang="en-US" sz="1200" dirty="0"/>
          </a:p>
        </p:txBody>
      </p:sp>
      <p:sp>
        <p:nvSpPr>
          <p:cNvPr id="45" name="Text 30"/>
          <p:cNvSpPr txBox="1"/>
          <p:nvPr/>
        </p:nvSpPr>
        <p:spPr>
          <a:xfrm>
            <a:off x="3660343" y="2851099"/>
            <a:ext cx="1981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Visibile all'utente. Il file rimane qui per tutto il periodo di retention o finché non viene eliminato manualmente.</a:t>
            </a:r>
            <a:endParaRPr lang="en-US" sz="9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5"/>
          <a:srcRect t="-417" b="-417"/>
          <a:stretch/>
        </p:blipFill>
        <p:spPr>
          <a:xfrm>
            <a:off x="5870448" y="2600554"/>
            <a:ext cx="450799" cy="38405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6206947" y="2619756"/>
            <a:ext cx="209398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6"/>
          <a:srcRect l="-3" r="-3"/>
          <a:stretch/>
        </p:blipFill>
        <p:spPr>
          <a:xfrm>
            <a:off x="6398057" y="1429207"/>
            <a:ext cx="2286000" cy="2381098"/>
          </a:xfrm>
          <a:prstGeom prst="rect">
            <a:avLst/>
          </a:prstGeom>
        </p:spPr>
      </p:pic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254850" y="1676095"/>
            <a:ext cx="571500" cy="571500"/>
          </a:xfrm>
          <a:prstGeom prst="rect">
            <a:avLst/>
          </a:prstGeom>
        </p:spPr>
      </p:pic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8"/>
          <a:srcRect t="-863" b="-863"/>
          <a:stretch/>
        </p:blipFill>
        <p:spPr>
          <a:xfrm>
            <a:off x="7388352" y="1837944"/>
            <a:ext cx="304495" cy="247802"/>
          </a:xfrm>
          <a:prstGeom prst="rect">
            <a:avLst/>
          </a:prstGeom>
        </p:spPr>
      </p:pic>
      <p:sp>
        <p:nvSpPr>
          <p:cNvPr id="51" name="Shape 32"/>
          <p:cNvSpPr/>
          <p:nvPr/>
        </p:nvSpPr>
        <p:spPr>
          <a:xfrm>
            <a:off x="7645298" y="2066544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33"/>
          <p:cNvSpPr/>
          <p:nvPr/>
        </p:nvSpPr>
        <p:spPr>
          <a:xfrm>
            <a:off x="7606894" y="206654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2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34"/>
          <p:cNvSpPr txBox="1"/>
          <p:nvPr/>
        </p:nvSpPr>
        <p:spPr>
          <a:xfrm>
            <a:off x="6651346" y="2391156"/>
            <a:ext cx="178308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Cestino Raccolta Siti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(2° Livello)</a:t>
            </a:r>
            <a:endParaRPr lang="en-US" sz="1200" dirty="0"/>
          </a:p>
        </p:txBody>
      </p:sp>
      <p:sp>
        <p:nvSpPr>
          <p:cNvPr id="54" name="Text 35"/>
          <p:cNvSpPr txBox="1"/>
          <p:nvPr/>
        </p:nvSpPr>
        <p:spPr>
          <a:xfrm>
            <a:off x="6549847" y="2851099"/>
            <a:ext cx="19815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 svuotato dal 1° livello, il file passa qui. Solo gli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possono vederlo e recuperarlo. </a:t>
            </a:r>
            <a:endParaRPr lang="en-US" sz="900" dirty="0"/>
          </a:p>
        </p:txBody>
      </p:sp>
      <p:pic>
        <p:nvPicPr>
          <p:cNvPr id="55" name="Image 17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8759952" y="2600554"/>
            <a:ext cx="450799" cy="38405"/>
          </a:xfrm>
          <a:prstGeom prst="rect">
            <a:avLst/>
          </a:prstGeom>
        </p:spPr>
      </p:pic>
      <p:sp>
        <p:nvSpPr>
          <p:cNvPr id="56" name="Shape 36"/>
          <p:cNvSpPr/>
          <p:nvPr/>
        </p:nvSpPr>
        <p:spPr>
          <a:xfrm>
            <a:off x="9096451" y="2619756"/>
            <a:ext cx="209398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7" name="Image 18" descr="preencoded.png"/>
          <p:cNvPicPr>
            <a:picLocks noChangeAspect="1"/>
          </p:cNvPicPr>
          <p:nvPr/>
        </p:nvPicPr>
        <p:blipFill>
          <a:blip r:embed="rId19"/>
          <a:srcRect l="-3" r="-3"/>
          <a:stretch/>
        </p:blipFill>
        <p:spPr>
          <a:xfrm>
            <a:off x="9286646" y="1429207"/>
            <a:ext cx="2286000" cy="2381098"/>
          </a:xfrm>
          <a:prstGeom prst="rect">
            <a:avLst/>
          </a:prstGeom>
        </p:spPr>
      </p:pic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144354" y="1676095"/>
            <a:ext cx="571500" cy="571500"/>
          </a:xfrm>
          <a:prstGeom prst="rect">
            <a:avLst/>
          </a:prstGeom>
        </p:spPr>
      </p:pic>
      <p:pic>
        <p:nvPicPr>
          <p:cNvPr id="59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0306202" y="1837944"/>
            <a:ext cx="247802" cy="247802"/>
          </a:xfrm>
          <a:prstGeom prst="rect">
            <a:avLst/>
          </a:prstGeom>
        </p:spPr>
      </p:pic>
      <p:sp>
        <p:nvSpPr>
          <p:cNvPr id="60" name="Shape 37"/>
          <p:cNvSpPr/>
          <p:nvPr/>
        </p:nvSpPr>
        <p:spPr>
          <a:xfrm>
            <a:off x="10534802" y="2066544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1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0586923" y="2119579"/>
            <a:ext cx="123444" cy="123444"/>
          </a:xfrm>
          <a:prstGeom prst="rect">
            <a:avLst/>
          </a:prstGeom>
        </p:spPr>
      </p:pic>
      <p:sp>
        <p:nvSpPr>
          <p:cNvPr id="62" name="Text 38"/>
          <p:cNvSpPr txBox="1"/>
          <p:nvPr/>
        </p:nvSpPr>
        <p:spPr>
          <a:xfrm>
            <a:off x="9861804" y="2391156"/>
            <a:ext cx="11430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Eliminazione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Permanente</a:t>
            </a:r>
            <a:endParaRPr lang="en-US" sz="1200" dirty="0"/>
          </a:p>
        </p:txBody>
      </p:sp>
      <p:sp>
        <p:nvSpPr>
          <p:cNvPr id="63" name="Text 39"/>
          <p:cNvSpPr txBox="1"/>
          <p:nvPr/>
        </p:nvSpPr>
        <p:spPr>
          <a:xfrm>
            <a:off x="9439351" y="2851099"/>
            <a:ext cx="1981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termine dei 93 giorni totali, i dati vengono eliminati definitivamente dai server Microsoft.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72998"/>
            <a:ext cx="12191695" cy="6191402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053389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225296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rcRect t="-964" b="-964"/>
          <a:stretch/>
        </p:blipFill>
        <p:spPr>
          <a:xfrm>
            <a:off x="871423" y="1339596"/>
            <a:ext cx="171907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225296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Salvataggio Automatico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1503274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 e OneDrive salvano automaticamente ogni modifica. Viene creata una nuova versione ogni volta che si salva o si chiude un file.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409444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581351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707" y="2695651"/>
            <a:ext cx="200254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581351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Ripristino Versioni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2859329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Accedi alla "Cronologia versioni" per visualizzare, ripristinare o eliminare versioni precedenti senza sovrascrivere il lavoro attuale.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765499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3936492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4050792"/>
            <a:ext cx="200254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3936492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Limiti Configurabili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4215384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configurazione predefinita conserva le ultime 500 versioni principali. Gli amministratori possono estendere o limitare questo numero.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121554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5292547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5406847"/>
            <a:ext cx="200254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292547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Gestione dello Spazio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570525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Attenzione allo storage: ogni versione occupa spazio. 10 versioni di un file da 100MB consumano 1GB della quota totale del tenant.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 rot="21000000">
            <a:off x="5086807" y="768096"/>
            <a:ext cx="1904695" cy="1904695"/>
          </a:xfrm>
          <a:prstGeom prst="roundRect">
            <a:avLst>
              <a:gd name="adj" fmla="val 9602"/>
            </a:avLst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638251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12802"/>
            <a:ext cx="4163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e Recovery M365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241402"/>
            <a:ext cx="50804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Versioning e Cronologia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10344607" y="136246"/>
            <a:ext cx="1276502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44861" y="241402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811866" y="136246"/>
            <a:ext cx="6675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Recovery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rcRect t="-2" b="-2"/>
          <a:stretch/>
        </p:blipFill>
        <p:spPr>
          <a:xfrm>
            <a:off x="5372100" y="1764792"/>
            <a:ext cx="6248095" cy="40005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381244" y="1774850"/>
            <a:ext cx="6229807" cy="342900"/>
          </a:xfrm>
          <a:prstGeom prst="roundRect">
            <a:avLst>
              <a:gd name="adj" fmla="val 177778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28"/>
          <p:cNvSpPr/>
          <p:nvPr/>
        </p:nvSpPr>
        <p:spPr>
          <a:xfrm>
            <a:off x="5381244" y="2108606"/>
            <a:ext cx="6229807" cy="9144"/>
          </a:xfrm>
          <a:prstGeom prst="roundRect">
            <a:avLst>
              <a:gd name="adj" fmla="val 666666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9"/>
          <p:cNvSpPr/>
          <p:nvPr/>
        </p:nvSpPr>
        <p:spPr>
          <a:xfrm>
            <a:off x="5524805" y="1893722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0"/>
          <p:cNvSpPr/>
          <p:nvPr/>
        </p:nvSpPr>
        <p:spPr>
          <a:xfrm>
            <a:off x="5676595" y="1893722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1"/>
          <p:cNvSpPr/>
          <p:nvPr/>
        </p:nvSpPr>
        <p:spPr>
          <a:xfrm>
            <a:off x="5829300" y="1893722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rcRect t="-35" b="-35"/>
          <a:stretch/>
        </p:blipFill>
        <p:spPr>
          <a:xfrm>
            <a:off x="6077102" y="1817827"/>
            <a:ext cx="3962095" cy="2478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381598" y="1817827"/>
            <a:ext cx="3734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contoso.sharepoint.com/sites/Marketing </a:t>
            </a:r>
            <a:endParaRPr lang="en-US" sz="9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6200546" y="1884578"/>
            <a:ext cx="105156" cy="1143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5381244" y="2117750"/>
            <a:ext cx="6229807" cy="3638398"/>
          </a:xfrm>
          <a:prstGeom prst="roundRect">
            <a:avLst>
              <a:gd name="adj" fmla="val 1579"/>
            </a:avLst>
          </a:prstGeom>
          <a:solidFill>
            <a:srgbClr val="FAF9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34"/>
          <p:cNvSpPr/>
          <p:nvPr/>
        </p:nvSpPr>
        <p:spPr>
          <a:xfrm>
            <a:off x="5381244" y="2117750"/>
            <a:ext cx="6229807" cy="4288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Shape 35"/>
          <p:cNvSpPr/>
          <p:nvPr/>
        </p:nvSpPr>
        <p:spPr>
          <a:xfrm>
            <a:off x="5381244" y="2537460"/>
            <a:ext cx="6229807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36"/>
          <p:cNvSpPr txBox="1"/>
          <p:nvPr/>
        </p:nvSpPr>
        <p:spPr>
          <a:xfrm>
            <a:off x="5772607" y="2223821"/>
            <a:ext cx="48554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Nuovo</a:t>
            </a:r>
            <a:endParaRPr lang="en-US" sz="10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5572354" y="2260397"/>
            <a:ext cx="123444" cy="133502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578194" y="2223821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Carica</a:t>
            </a:r>
            <a:endParaRPr lang="en-US" sz="100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368796" y="2260397"/>
            <a:ext cx="133502" cy="133502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347204" y="2223821"/>
            <a:ext cx="762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Sincronizza</a:t>
            </a:r>
            <a:endParaRPr lang="en-US" sz="1000" dirty="0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137806" y="2260397"/>
            <a:ext cx="133502" cy="133502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8445398" y="2223821"/>
            <a:ext cx="5340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Esporta</a:t>
            </a:r>
            <a:endParaRPr lang="en-US" sz="1000" dirty="0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3"/>
          <a:srcRect l="-837" r="-837"/>
          <a:stretch/>
        </p:blipFill>
        <p:spPr>
          <a:xfrm>
            <a:off x="8216798" y="2260397"/>
            <a:ext cx="152705" cy="133502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5572354" y="2736799"/>
            <a:ext cx="5962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Documenti</a:t>
            </a:r>
            <a:endParaRPr lang="en-US" sz="1300" dirty="0"/>
          </a:p>
        </p:txBody>
      </p:sp>
      <p:sp>
        <p:nvSpPr>
          <p:cNvPr id="55" name="Shape 41"/>
          <p:cNvSpPr/>
          <p:nvPr/>
        </p:nvSpPr>
        <p:spPr>
          <a:xfrm>
            <a:off x="5572354" y="3155594"/>
            <a:ext cx="5848502" cy="3904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Shape 42"/>
          <p:cNvSpPr/>
          <p:nvPr/>
        </p:nvSpPr>
        <p:spPr>
          <a:xfrm>
            <a:off x="5572354" y="3536899"/>
            <a:ext cx="5848502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 r:embed="rId14"/>
          <a:srcRect l="-1773" r="-1773"/>
          <a:stretch/>
        </p:blipFill>
        <p:spPr>
          <a:xfrm>
            <a:off x="5715000" y="3260750"/>
            <a:ext cx="133502" cy="171907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5962802" y="3155594"/>
            <a:ext cx="49249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Budget_2026.xlsx</a:t>
            </a:r>
            <a:endParaRPr lang="en-US" sz="1000" dirty="0"/>
          </a:p>
        </p:txBody>
      </p:sp>
      <p:sp>
        <p:nvSpPr>
          <p:cNvPr id="59" name="Text 44"/>
          <p:cNvSpPr txBox="1"/>
          <p:nvPr/>
        </p:nvSpPr>
        <p:spPr>
          <a:xfrm>
            <a:off x="10807294" y="3155594"/>
            <a:ext cx="5340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fa</a:t>
            </a:r>
            <a:endParaRPr lang="en-US" sz="900" dirty="0"/>
          </a:p>
        </p:txBody>
      </p:sp>
      <p:sp>
        <p:nvSpPr>
          <p:cNvPr id="60" name="Shape 45"/>
          <p:cNvSpPr/>
          <p:nvPr/>
        </p:nvSpPr>
        <p:spPr>
          <a:xfrm>
            <a:off x="5572354" y="3546043"/>
            <a:ext cx="5848502" cy="390449"/>
          </a:xfrm>
          <a:prstGeom prst="rect">
            <a:avLst/>
          </a:prstGeom>
          <a:solidFill>
            <a:srgbClr val="EFF6FC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15"/>
          <a:srcRect l="-1773" r="-1773"/>
          <a:stretch/>
        </p:blipFill>
        <p:spPr>
          <a:xfrm>
            <a:off x="5743346" y="3651199"/>
            <a:ext cx="133502" cy="171907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5991149" y="3546043"/>
            <a:ext cx="498165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Proposta_Commerciale_Q1.docx</a:t>
            </a:r>
            <a:endParaRPr lang="en-US" sz="1000" dirty="0"/>
          </a:p>
        </p:txBody>
      </p:sp>
      <p:sp>
        <p:nvSpPr>
          <p:cNvPr id="63" name="Text 47"/>
          <p:cNvSpPr txBox="1"/>
          <p:nvPr/>
        </p:nvSpPr>
        <p:spPr>
          <a:xfrm>
            <a:off x="11143844" y="3546043"/>
            <a:ext cx="4480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ore fa</a:t>
            </a:r>
            <a:endParaRPr lang="en-US" sz="900" dirty="0"/>
          </a:p>
        </p:txBody>
      </p:sp>
      <p:sp>
        <p:nvSpPr>
          <p:cNvPr id="64" name="Shape 48"/>
          <p:cNvSpPr/>
          <p:nvPr/>
        </p:nvSpPr>
        <p:spPr>
          <a:xfrm>
            <a:off x="5572354" y="3936492"/>
            <a:ext cx="5848502" cy="3904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5" name="Shape 49"/>
          <p:cNvSpPr/>
          <p:nvPr/>
        </p:nvSpPr>
        <p:spPr>
          <a:xfrm>
            <a:off x="5572354" y="4317797"/>
            <a:ext cx="5848502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16"/>
          <a:srcRect l="-1773" r="-1773"/>
          <a:stretch/>
        </p:blipFill>
        <p:spPr>
          <a:xfrm>
            <a:off x="5715000" y="4041648"/>
            <a:ext cx="133502" cy="171907"/>
          </a:xfrm>
          <a:prstGeom prst="rect">
            <a:avLst/>
          </a:prstGeom>
        </p:spPr>
      </p:pic>
      <p:sp>
        <p:nvSpPr>
          <p:cNvPr id="67" name="Text 50"/>
          <p:cNvSpPr txBox="1"/>
          <p:nvPr/>
        </p:nvSpPr>
        <p:spPr>
          <a:xfrm>
            <a:off x="5962802" y="3936492"/>
            <a:ext cx="52395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Presentazione_Kickoff.pptx</a:t>
            </a:r>
            <a:endParaRPr lang="en-US" sz="1000" dirty="0"/>
          </a:p>
        </p:txBody>
      </p:sp>
      <p:sp>
        <p:nvSpPr>
          <p:cNvPr id="68" name="Text 51"/>
          <p:cNvSpPr txBox="1"/>
          <p:nvPr/>
        </p:nvSpPr>
        <p:spPr>
          <a:xfrm>
            <a:off x="11370615" y="3936492"/>
            <a:ext cx="2194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Ieri</a:t>
            </a:r>
            <a:endParaRPr lang="en-US" sz="900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7"/>
          <a:srcRect t="-6" b="-6"/>
          <a:stretch/>
        </p:blipFill>
        <p:spPr>
          <a:xfrm>
            <a:off x="7991856" y="2307946"/>
            <a:ext cx="3619195" cy="3448202"/>
          </a:xfrm>
          <a:prstGeom prst="rect">
            <a:avLst/>
          </a:prstGeom>
        </p:spPr>
      </p:pic>
      <p:sp>
        <p:nvSpPr>
          <p:cNvPr id="70" name="Shape 52"/>
          <p:cNvSpPr/>
          <p:nvPr/>
        </p:nvSpPr>
        <p:spPr>
          <a:xfrm>
            <a:off x="8001000" y="3174797"/>
            <a:ext cx="3610051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53"/>
          <p:cNvSpPr txBox="1"/>
          <p:nvPr/>
        </p:nvSpPr>
        <p:spPr>
          <a:xfrm>
            <a:off x="8191195" y="2498141"/>
            <a:ext cx="3343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Cronologia versioni</a:t>
            </a:r>
            <a:endParaRPr lang="en-US" sz="1300" dirty="0"/>
          </a:p>
        </p:txBody>
      </p:sp>
      <p:sp>
        <p:nvSpPr>
          <p:cNvPr id="72" name="Text 54"/>
          <p:cNvSpPr txBox="1"/>
          <p:nvPr/>
        </p:nvSpPr>
        <p:spPr>
          <a:xfrm>
            <a:off x="8191195" y="2798064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Proposta_Commerciale_Q1.docx</a:t>
            </a:r>
            <a:endParaRPr lang="en-US" sz="900" dirty="0"/>
          </a:p>
        </p:txBody>
      </p:sp>
      <p:sp>
        <p:nvSpPr>
          <p:cNvPr id="73" name="Shape 55"/>
          <p:cNvSpPr/>
          <p:nvPr/>
        </p:nvSpPr>
        <p:spPr>
          <a:xfrm>
            <a:off x="8001000" y="4066337"/>
            <a:ext cx="3610051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4" name="Image 16" descr="preencoded.png"/>
          <p:cNvPicPr>
            <a:picLocks noChangeAspect="1"/>
          </p:cNvPicPr>
          <p:nvPr/>
        </p:nvPicPr>
        <p:blipFill>
          <a:blip r:embed="rId18"/>
          <a:srcRect l="-378" r="-378"/>
          <a:stretch/>
        </p:blipFill>
        <p:spPr>
          <a:xfrm>
            <a:off x="8229600" y="3418942"/>
            <a:ext cx="19202" cy="789127"/>
          </a:xfrm>
          <a:prstGeom prst="rect">
            <a:avLst/>
          </a:prstGeom>
        </p:spPr>
      </p:pic>
      <p:sp>
        <p:nvSpPr>
          <p:cNvPr id="75" name="Shape 56"/>
          <p:cNvSpPr/>
          <p:nvPr/>
        </p:nvSpPr>
        <p:spPr>
          <a:xfrm>
            <a:off x="8191195" y="3371393"/>
            <a:ext cx="95098" cy="9509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Shape 57"/>
          <p:cNvSpPr/>
          <p:nvPr/>
        </p:nvSpPr>
        <p:spPr>
          <a:xfrm>
            <a:off x="8001000" y="4074566"/>
            <a:ext cx="3610051" cy="89519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7" name="Shape 58"/>
          <p:cNvSpPr/>
          <p:nvPr/>
        </p:nvSpPr>
        <p:spPr>
          <a:xfrm>
            <a:off x="8001000" y="4960620"/>
            <a:ext cx="3610051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 r:embed="rId18"/>
          <a:srcRect l="-378" r="-378"/>
          <a:stretch/>
        </p:blipFill>
        <p:spPr>
          <a:xfrm>
            <a:off x="8229600" y="4312310"/>
            <a:ext cx="19202" cy="789127"/>
          </a:xfrm>
          <a:prstGeom prst="rect">
            <a:avLst/>
          </a:prstGeom>
        </p:spPr>
      </p:pic>
      <p:sp>
        <p:nvSpPr>
          <p:cNvPr id="79" name="Shape 59"/>
          <p:cNvSpPr/>
          <p:nvPr/>
        </p:nvSpPr>
        <p:spPr>
          <a:xfrm>
            <a:off x="8191195" y="4264762"/>
            <a:ext cx="95098" cy="95098"/>
          </a:xfrm>
          <a:prstGeom prst="ellipse">
            <a:avLst/>
          </a:prstGeom>
          <a:solidFill>
            <a:srgbClr val="005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Shape 60"/>
          <p:cNvSpPr/>
          <p:nvPr/>
        </p:nvSpPr>
        <p:spPr>
          <a:xfrm>
            <a:off x="8001000" y="5853989"/>
            <a:ext cx="3610051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Shape 61"/>
          <p:cNvSpPr/>
          <p:nvPr/>
        </p:nvSpPr>
        <p:spPr>
          <a:xfrm>
            <a:off x="8191195" y="5158130"/>
            <a:ext cx="95098" cy="95098"/>
          </a:xfrm>
          <a:prstGeom prst="ellipse">
            <a:avLst/>
          </a:prstGeom>
          <a:solidFill>
            <a:srgbClr val="A19F9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62"/>
          <p:cNvSpPr txBox="1"/>
          <p:nvPr/>
        </p:nvSpPr>
        <p:spPr>
          <a:xfrm>
            <a:off x="8429854" y="3548786"/>
            <a:ext cx="3105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Modificato da: </a:t>
            </a:r>
            <a:r>
              <a:rPr lang="en-US" sz="900" b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Mario Rossi</a:t>
            </a:r>
            <a:endParaRPr lang="en-US" sz="900" dirty="0"/>
          </a:p>
        </p:txBody>
      </p:sp>
      <p:sp>
        <p:nvSpPr>
          <p:cNvPr id="83" name="Text 63"/>
          <p:cNvSpPr txBox="1"/>
          <p:nvPr/>
        </p:nvSpPr>
        <p:spPr>
          <a:xfrm>
            <a:off x="8429854" y="3749954"/>
            <a:ext cx="3105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2.4 MB - Versione finale approvata</a:t>
            </a:r>
            <a:endParaRPr lang="en-US" sz="900" dirty="0"/>
          </a:p>
        </p:txBody>
      </p:sp>
      <p:sp>
        <p:nvSpPr>
          <p:cNvPr id="84" name="Text 64"/>
          <p:cNvSpPr txBox="1"/>
          <p:nvPr/>
        </p:nvSpPr>
        <p:spPr>
          <a:xfrm>
            <a:off x="8429854" y="4442155"/>
            <a:ext cx="3105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Modificato da: </a:t>
            </a:r>
            <a:r>
              <a:rPr lang="en-US" sz="900" b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Giulia Bianchi</a:t>
            </a:r>
            <a:endParaRPr lang="en-US" sz="900" dirty="0"/>
          </a:p>
        </p:txBody>
      </p:sp>
      <p:sp>
        <p:nvSpPr>
          <p:cNvPr id="85" name="Text 65"/>
          <p:cNvSpPr txBox="1"/>
          <p:nvPr/>
        </p:nvSpPr>
        <p:spPr>
          <a:xfrm>
            <a:off x="8429854" y="4644238"/>
            <a:ext cx="3105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2.3 MB - Aggiunta sezione costi</a:t>
            </a:r>
            <a:endParaRPr lang="en-US" sz="900" dirty="0"/>
          </a:p>
        </p:txBody>
      </p:sp>
      <p:sp>
        <p:nvSpPr>
          <p:cNvPr id="86" name="Text 66"/>
          <p:cNvSpPr txBox="1"/>
          <p:nvPr/>
        </p:nvSpPr>
        <p:spPr>
          <a:xfrm>
            <a:off x="8429854" y="5335524"/>
            <a:ext cx="3105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Modificato da: </a:t>
            </a:r>
            <a:r>
              <a:rPr lang="en-US" sz="900" b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Mario Rossi</a:t>
            </a:r>
            <a:endParaRPr lang="en-US" sz="900" dirty="0"/>
          </a:p>
        </p:txBody>
      </p:sp>
      <p:sp>
        <p:nvSpPr>
          <p:cNvPr id="87" name="Text 67"/>
          <p:cNvSpPr txBox="1"/>
          <p:nvPr/>
        </p:nvSpPr>
        <p:spPr>
          <a:xfrm>
            <a:off x="8429854" y="5537606"/>
            <a:ext cx="3105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1.8 MB - Bozza iniziale</a:t>
            </a:r>
            <a:endParaRPr lang="en-US" sz="900" dirty="0"/>
          </a:p>
        </p:txBody>
      </p:sp>
      <p:sp>
        <p:nvSpPr>
          <p:cNvPr id="88" name="Shape 68"/>
          <p:cNvSpPr/>
          <p:nvPr/>
        </p:nvSpPr>
        <p:spPr>
          <a:xfrm>
            <a:off x="10147148" y="3546043"/>
            <a:ext cx="1333195" cy="1162202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9" name="Text 69"/>
          <p:cNvSpPr txBox="1"/>
          <p:nvPr/>
        </p:nvSpPr>
        <p:spPr>
          <a:xfrm>
            <a:off x="10537597" y="3603650"/>
            <a:ext cx="99029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Visualizza</a:t>
            </a:r>
            <a:endParaRPr lang="en-US" sz="1000" dirty="0"/>
          </a:p>
        </p:txBody>
      </p:sp>
      <p:pic>
        <p:nvPicPr>
          <p:cNvPr id="90" name="Image 18" descr="preencoded.png"/>
          <p:cNvPicPr>
            <a:picLocks noChangeAspect="1"/>
          </p:cNvPicPr>
          <p:nvPr/>
        </p:nvPicPr>
        <p:blipFill>
          <a:blip r:embed="rId19"/>
          <a:srcRect t="-2644" b="-2644"/>
          <a:stretch/>
        </p:blipFill>
        <p:spPr>
          <a:xfrm>
            <a:off x="10299853" y="3709721"/>
            <a:ext cx="142646" cy="133502"/>
          </a:xfrm>
          <a:prstGeom prst="rect">
            <a:avLst/>
          </a:prstGeom>
        </p:spPr>
      </p:pic>
      <p:sp>
        <p:nvSpPr>
          <p:cNvPr id="91" name="Text 70"/>
          <p:cNvSpPr txBox="1"/>
          <p:nvPr/>
        </p:nvSpPr>
        <p:spPr>
          <a:xfrm>
            <a:off x="10405414" y="3950208"/>
            <a:ext cx="1000354" cy="352958"/>
          </a:xfrm>
          <a:prstGeom prst="rect">
            <a:avLst/>
          </a:prstGeom>
          <a:solidFill>
            <a:srgbClr val="F9FA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Ripristina</a:t>
            </a:r>
            <a:endParaRPr lang="en-US" sz="1000" dirty="0"/>
          </a:p>
        </p:txBody>
      </p:sp>
      <p:pic>
        <p:nvPicPr>
          <p:cNvPr id="92" name="Image 1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299853" y="4057193"/>
            <a:ext cx="133502" cy="133502"/>
          </a:xfrm>
          <a:prstGeom prst="rect">
            <a:avLst/>
          </a:prstGeom>
        </p:spPr>
      </p:pic>
      <p:sp>
        <p:nvSpPr>
          <p:cNvPr id="93" name="Text 71"/>
          <p:cNvSpPr txBox="1"/>
          <p:nvPr/>
        </p:nvSpPr>
        <p:spPr>
          <a:xfrm>
            <a:off x="10508336" y="4296766"/>
            <a:ext cx="10195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Elimina</a:t>
            </a:r>
            <a:endParaRPr lang="en-US" sz="1000" dirty="0"/>
          </a:p>
        </p:txBody>
      </p:sp>
      <p:pic>
        <p:nvPicPr>
          <p:cNvPr id="94" name="Image 20" descr="preencoded.png"/>
          <p:cNvPicPr>
            <a:picLocks noChangeAspect="1"/>
          </p:cNvPicPr>
          <p:nvPr/>
        </p:nvPicPr>
        <p:blipFill>
          <a:blip r:embed="rId21"/>
          <a:srcRect t="-1100" b="-1100"/>
          <a:stretch/>
        </p:blipFill>
        <p:spPr>
          <a:xfrm>
            <a:off x="10299853" y="4403750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828800" y="1429207"/>
            <a:ext cx="182880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4267505" y="1429207"/>
            <a:ext cx="182880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6705295" y="1429207"/>
            <a:ext cx="1828800" cy="3840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9144000" y="1429207"/>
            <a:ext cx="1828800" cy="384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3727094"/>
            <a:ext cx="1990649" cy="1524305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5"/>
          <p:cNvSpPr txBox="1"/>
          <p:nvPr/>
        </p:nvSpPr>
        <p:spPr>
          <a:xfrm>
            <a:off x="676656" y="3917290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Portale Web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680314" y="4263847"/>
            <a:ext cx="17739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Accedi al tuo spazio OneDrive for Business tramite il browser web (office.com).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9965" y="2536546"/>
            <a:ext cx="952805" cy="95280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18158" y="2574036"/>
            <a:ext cx="286207" cy="28620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679753" y="2574036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80160" y="2784348"/>
            <a:ext cx="571500" cy="457200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2836469" y="3727094"/>
            <a:ext cx="1990649" cy="1524305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9"/>
          <p:cNvSpPr txBox="1"/>
          <p:nvPr/>
        </p:nvSpPr>
        <p:spPr>
          <a:xfrm>
            <a:off x="2941625" y="3917290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Cestino</a:t>
            </a:r>
            <a:endParaRPr lang="en-US" sz="1300" dirty="0"/>
          </a:p>
        </p:txBody>
      </p:sp>
      <p:sp>
        <p:nvSpPr>
          <p:cNvPr id="19" name="Text 10"/>
          <p:cNvSpPr txBox="1"/>
          <p:nvPr/>
        </p:nvSpPr>
        <p:spPr>
          <a:xfrm>
            <a:off x="2945282" y="4263847"/>
            <a:ext cx="17739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Nel menu di navigazione laterale sinistro, individua e clicca sulla voce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Cestino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54934" y="2536546"/>
            <a:ext cx="952805" cy="95280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83126" y="2574036"/>
            <a:ext cx="286207" cy="286207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3944722" y="2574036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3631082" y="2784348"/>
            <a:ext cx="400507" cy="45720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5101438" y="3727094"/>
            <a:ext cx="1990649" cy="1524305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13"/>
          <p:cNvSpPr txBox="1"/>
          <p:nvPr/>
        </p:nvSpPr>
        <p:spPr>
          <a:xfrm>
            <a:off x="5206594" y="3917290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Selezione</a:t>
            </a:r>
            <a:endParaRPr lang="en-US" sz="1300" dirty="0"/>
          </a:p>
        </p:txBody>
      </p:sp>
      <p:sp>
        <p:nvSpPr>
          <p:cNvPr id="26" name="Text 14"/>
          <p:cNvSpPr txBox="1"/>
          <p:nvPr/>
        </p:nvSpPr>
        <p:spPr>
          <a:xfrm>
            <a:off x="5210251" y="4263847"/>
            <a:ext cx="17739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Sfoglia l'elenco dei file eliminati e metti la spunta accanto a quelli che desideri recuperare.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19902" y="2536546"/>
            <a:ext cx="952805" cy="952805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095" y="2574036"/>
            <a:ext cx="286207" cy="286207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6210605" y="2574036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5896051" y="2784348"/>
            <a:ext cx="400507" cy="457200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7366406" y="3727094"/>
            <a:ext cx="1990649" cy="1524305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17"/>
          <p:cNvSpPr txBox="1"/>
          <p:nvPr/>
        </p:nvSpPr>
        <p:spPr>
          <a:xfrm>
            <a:off x="7471562" y="3917290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Ripristino</a:t>
            </a:r>
            <a:endParaRPr lang="en-US" sz="1300" dirty="0"/>
          </a:p>
        </p:txBody>
      </p:sp>
      <p:sp>
        <p:nvSpPr>
          <p:cNvPr id="33" name="Text 18"/>
          <p:cNvSpPr txBox="1"/>
          <p:nvPr/>
        </p:nvSpPr>
        <p:spPr>
          <a:xfrm>
            <a:off x="7475220" y="4263847"/>
            <a:ext cx="17739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Clicca sul pulsante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Ripristina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nella barra in alto per riportare i file nella posizione originale. </a:t>
            </a:r>
            <a:endParaRPr lang="en-US" sz="10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84871" y="2536546"/>
            <a:ext cx="952805" cy="952805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13064" y="2574036"/>
            <a:ext cx="286207" cy="286207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8475574" y="2574036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32674" y="2784348"/>
            <a:ext cx="457200" cy="457200"/>
          </a:xfrm>
          <a:prstGeom prst="rect">
            <a:avLst/>
          </a:prstGeom>
        </p:spPr>
      </p:pic>
      <p:sp>
        <p:nvSpPr>
          <p:cNvPr id="38" name="Shape 20"/>
          <p:cNvSpPr/>
          <p:nvPr/>
        </p:nvSpPr>
        <p:spPr>
          <a:xfrm>
            <a:off x="9631375" y="3727094"/>
            <a:ext cx="1990649" cy="1742846"/>
          </a:xfrm>
          <a:prstGeom prst="roundRect">
            <a:avLst>
              <a:gd name="adj" fmla="val 6881"/>
            </a:avLst>
          </a:prstGeom>
          <a:solidFill>
            <a:srgbClr val="F3F9FE"/>
          </a:solidFill>
          <a:ln w="25400">
            <a:solidFill>
              <a:srgbClr val="C7E0F4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Text 21"/>
          <p:cNvSpPr txBox="1"/>
          <p:nvPr/>
        </p:nvSpPr>
        <p:spPr>
          <a:xfrm>
            <a:off x="9755734" y="3936492"/>
            <a:ext cx="17437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Restore OneDrive</a:t>
            </a:r>
            <a:endParaRPr lang="en-US" sz="1300" dirty="0"/>
          </a:p>
        </p:txBody>
      </p:sp>
      <p:sp>
        <p:nvSpPr>
          <p:cNvPr id="40" name="Text 22"/>
          <p:cNvSpPr txBox="1"/>
          <p:nvPr/>
        </p:nvSpPr>
        <p:spPr>
          <a:xfrm>
            <a:off x="9760306" y="4283050"/>
            <a:ext cx="173370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Anti-Ransomware: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Riporta l'intero OneDrive a una data precedente (fino a 30 giorni) in un colpo solo. </a:t>
            </a:r>
            <a:endParaRPr lang="en-US" sz="1000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149840" y="2536546"/>
            <a:ext cx="952805" cy="952805"/>
          </a:xfrm>
          <a:prstGeom prst="rect">
            <a:avLst/>
          </a:prstGeom>
        </p:spPr>
      </p:pic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78033" y="2574036"/>
            <a:ext cx="286207" cy="286207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10740542" y="2574036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397642" y="2784348"/>
            <a:ext cx="457200" cy="457200"/>
          </a:xfrm>
          <a:prstGeom prst="rect">
            <a:avLst/>
          </a:prstGeom>
        </p:spPr>
      </p:pic>
      <p:sp>
        <p:nvSpPr>
          <p:cNvPr id="45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26"/>
          <p:cNvSpPr txBox="1"/>
          <p:nvPr/>
        </p:nvSpPr>
        <p:spPr>
          <a:xfrm>
            <a:off x="571500" y="152705"/>
            <a:ext cx="5848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e Recovery</a:t>
            </a:r>
            <a:endParaRPr lang="en-US" sz="1000" dirty="0"/>
          </a:p>
        </p:txBody>
      </p:sp>
      <p:sp>
        <p:nvSpPr>
          <p:cNvPr id="48" name="Text 27"/>
          <p:cNvSpPr txBox="1"/>
          <p:nvPr/>
        </p:nvSpPr>
        <p:spPr>
          <a:xfrm>
            <a:off x="571500" y="381305"/>
            <a:ext cx="72063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OneDrive: Recupero File Eliminati</a:t>
            </a:r>
            <a:endParaRPr lang="en-US" sz="2700" dirty="0"/>
          </a:p>
        </p:txBody>
      </p:sp>
      <p:sp>
        <p:nvSpPr>
          <p:cNvPr id="49" name="Shape 28"/>
          <p:cNvSpPr/>
          <p:nvPr/>
        </p:nvSpPr>
        <p:spPr>
          <a:xfrm>
            <a:off x="9880092" y="276149"/>
            <a:ext cx="1742846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19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079431" y="381305"/>
            <a:ext cx="152705" cy="152705"/>
          </a:xfrm>
          <a:prstGeom prst="rect">
            <a:avLst/>
          </a:prstGeom>
        </p:spPr>
      </p:pic>
      <p:sp>
        <p:nvSpPr>
          <p:cNvPr id="51" name="Text 29"/>
          <p:cNvSpPr txBox="1"/>
          <p:nvPr/>
        </p:nvSpPr>
        <p:spPr>
          <a:xfrm>
            <a:off x="10346436" y="276149"/>
            <a:ext cx="11338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 Ripristino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72998"/>
            <a:ext cx="12191695" cy="6191402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053389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3407" y="1225296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rcRect t="-507" b="-507"/>
          <a:stretch/>
        </p:blipFill>
        <p:spPr>
          <a:xfrm>
            <a:off x="833018" y="1339596"/>
            <a:ext cx="247802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225296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Protezione Nativa Integrata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1503274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Soluzione di backup costruita direttamente sulla piattaforma M365 per SharePoint, OneDrive ed Exchange, senza uscire dal tenant.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409444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43407" y="2581351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707" y="2695651"/>
            <a:ext cx="200254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581351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Restore Granulare (Novità 2026)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43254" y="2859329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Capacità avanzata di ripristino a livello di singolo file o cartella specifica, superando il limite del ripristino dell'intera raccolta siti.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765499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3407" y="3936492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t="-964" b="-964"/>
          <a:stretch/>
        </p:blipFill>
        <p:spPr>
          <a:xfrm>
            <a:off x="871423" y="4050792"/>
            <a:ext cx="171907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3936492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Velocità Estrema (RTO)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43254" y="4215384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Ripristina grandi volumi di dati in ore anziché settimane. Protezione continua contro ransomware ed eliminazioni accidentali.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121554"/>
            <a:ext cx="4419295" cy="1171346"/>
          </a:xfrm>
          <a:prstGeom prst="roundRect">
            <a:avLst>
              <a:gd name="adj" fmla="val 15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3407" y="5292547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5406847"/>
            <a:ext cx="200254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292547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Modello Pay-per-Use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43254" y="5570525"/>
            <a:ext cx="35533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Nessuna licenza utente fissa. Costi basati esclusivamente sul consumo effettivo di storage protetto (Gigabyte/mese).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 rot="21000000">
            <a:off x="5086807" y="768096"/>
            <a:ext cx="1904695" cy="1904695"/>
          </a:xfrm>
          <a:prstGeom prst="roundRect">
            <a:avLst>
              <a:gd name="adj" fmla="val 9602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10105949" y="453958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638251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12802"/>
            <a:ext cx="3791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241402"/>
            <a:ext cx="44430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365 Backup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9496044" y="136246"/>
            <a:ext cx="2124151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96298" y="241402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963302" y="136246"/>
            <a:ext cx="151607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Soluzione Nativa 2026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rcRect t="-2" b="-2"/>
          <a:stretch/>
        </p:blipFill>
        <p:spPr>
          <a:xfrm>
            <a:off x="5334609" y="1107845"/>
            <a:ext cx="6248095" cy="40005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343753" y="1117903"/>
            <a:ext cx="6229807" cy="342900"/>
          </a:xfrm>
          <a:prstGeom prst="roundRect">
            <a:avLst>
              <a:gd name="adj" fmla="val 177778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28"/>
          <p:cNvSpPr/>
          <p:nvPr/>
        </p:nvSpPr>
        <p:spPr>
          <a:xfrm>
            <a:off x="5343753" y="1451659"/>
            <a:ext cx="6229807" cy="9144"/>
          </a:xfrm>
          <a:prstGeom prst="roundRect">
            <a:avLst>
              <a:gd name="adj" fmla="val 666666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9"/>
          <p:cNvSpPr/>
          <p:nvPr/>
        </p:nvSpPr>
        <p:spPr>
          <a:xfrm>
            <a:off x="5487314" y="1236775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0"/>
          <p:cNvSpPr/>
          <p:nvPr/>
        </p:nvSpPr>
        <p:spPr>
          <a:xfrm>
            <a:off x="5639104" y="1236775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1"/>
          <p:cNvSpPr/>
          <p:nvPr/>
        </p:nvSpPr>
        <p:spPr>
          <a:xfrm>
            <a:off x="5791809" y="1236775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rcRect t="-35" b="-35"/>
          <a:stretch/>
        </p:blipFill>
        <p:spPr>
          <a:xfrm>
            <a:off x="6039611" y="1160880"/>
            <a:ext cx="3962095" cy="2478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344107" y="1160880"/>
            <a:ext cx="3734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admin.microsoft.com/backup </a:t>
            </a:r>
            <a:endParaRPr lang="en-US" sz="9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6163055" y="1227631"/>
            <a:ext cx="105156" cy="1143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5343753" y="1460803"/>
            <a:ext cx="2095805" cy="3981298"/>
          </a:xfrm>
          <a:prstGeom prst="rect">
            <a:avLst/>
          </a:prstGeom>
          <a:solidFill>
            <a:srgbClr val="2125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4"/>
          <p:cNvSpPr txBox="1"/>
          <p:nvPr/>
        </p:nvSpPr>
        <p:spPr>
          <a:xfrm>
            <a:off x="5725058" y="1555901"/>
            <a:ext cx="179039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</a:t>
            </a:r>
            <a:endParaRPr lang="en-US" sz="10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0"/>
          <a:srcRect l="-13318" r="-13318"/>
          <a:stretch/>
        </p:blipFill>
        <p:spPr>
          <a:xfrm>
            <a:off x="5534863" y="1681174"/>
            <a:ext cx="190195" cy="13350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725058" y="1940863"/>
            <a:ext cx="179039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Utenti</a:t>
            </a:r>
            <a:endParaRPr lang="en-US" sz="1000" dirty="0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1"/>
          <a:srcRect l="-6986" r="-6986"/>
          <a:stretch/>
        </p:blipFill>
        <p:spPr>
          <a:xfrm>
            <a:off x="5534863" y="2066136"/>
            <a:ext cx="190195" cy="133502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5343753" y="2325826"/>
            <a:ext cx="2095805" cy="390449"/>
          </a:xfrm>
          <a:prstGeom prst="rect">
            <a:avLst/>
          </a:prstGeom>
          <a:solidFill>
            <a:srgbClr val="3231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9" name="Shape 37"/>
          <p:cNvSpPr/>
          <p:nvPr/>
        </p:nvSpPr>
        <p:spPr>
          <a:xfrm>
            <a:off x="5343753" y="2325826"/>
            <a:ext cx="38405" cy="390449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38"/>
          <p:cNvSpPr txBox="1"/>
          <p:nvPr/>
        </p:nvSpPr>
        <p:spPr>
          <a:xfrm>
            <a:off x="5734202" y="2325826"/>
            <a:ext cx="1524305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Backup</a:t>
            </a:r>
            <a:endParaRPr lang="en-US" sz="1000" dirty="0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2"/>
          <a:srcRect l="-21233" r="-21233"/>
          <a:stretch/>
        </p:blipFill>
        <p:spPr>
          <a:xfrm>
            <a:off x="5534862" y="2451099"/>
            <a:ext cx="190195" cy="133502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5432115" y="2710788"/>
            <a:ext cx="2171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3" name="Text 40"/>
          <p:cNvSpPr txBox="1"/>
          <p:nvPr/>
        </p:nvSpPr>
        <p:spPr>
          <a:xfrm>
            <a:off x="5432115" y="3091179"/>
            <a:ext cx="2171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5432115" y="3447692"/>
            <a:ext cx="2171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</a:t>
            </a:r>
            <a:endParaRPr lang="en-US" sz="1000" dirty="0"/>
          </a:p>
        </p:txBody>
      </p:sp>
      <p:sp>
        <p:nvSpPr>
          <p:cNvPr id="55" name="Text 42"/>
          <p:cNvSpPr txBox="1"/>
          <p:nvPr/>
        </p:nvSpPr>
        <p:spPr>
          <a:xfrm>
            <a:off x="5586068" y="3829200"/>
            <a:ext cx="179039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Sicurezza</a:t>
            </a:r>
            <a:endParaRPr lang="en-US" sz="1000" dirty="0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3"/>
          <a:srcRect l="-21233" r="-21233"/>
          <a:stretch/>
        </p:blipFill>
        <p:spPr>
          <a:xfrm>
            <a:off x="5395873" y="3954473"/>
            <a:ext cx="190195" cy="133502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5586068" y="4214163"/>
            <a:ext cx="179039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Report</a:t>
            </a:r>
            <a:endParaRPr lang="en-US" sz="1000" dirty="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4"/>
          <a:srcRect l="-21233" r="-21233"/>
          <a:stretch/>
        </p:blipFill>
        <p:spPr>
          <a:xfrm>
            <a:off x="5395873" y="4339435"/>
            <a:ext cx="190195" cy="133502"/>
          </a:xfrm>
          <a:prstGeom prst="rect">
            <a:avLst/>
          </a:prstGeom>
        </p:spPr>
      </p:pic>
      <p:sp>
        <p:nvSpPr>
          <p:cNvPr id="59" name="Shape 44"/>
          <p:cNvSpPr/>
          <p:nvPr/>
        </p:nvSpPr>
        <p:spPr>
          <a:xfrm>
            <a:off x="7439558" y="1460803"/>
            <a:ext cx="4134002" cy="3981298"/>
          </a:xfrm>
          <a:prstGeom prst="rect">
            <a:avLst/>
          </a:prstGeom>
          <a:solidFill>
            <a:srgbClr val="FAF9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Shape 45"/>
          <p:cNvSpPr/>
          <p:nvPr/>
        </p:nvSpPr>
        <p:spPr>
          <a:xfrm>
            <a:off x="7629753" y="2165806"/>
            <a:ext cx="3752698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46"/>
          <p:cNvSpPr txBox="1"/>
          <p:nvPr/>
        </p:nvSpPr>
        <p:spPr>
          <a:xfrm>
            <a:off x="7629753" y="1650999"/>
            <a:ext cx="207843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Panoramica Backup</a:t>
            </a:r>
            <a:endParaRPr lang="en-US" sz="1500" dirty="0"/>
          </a:p>
        </p:txBody>
      </p:sp>
      <p:sp>
        <p:nvSpPr>
          <p:cNvPr id="62" name="Text 47"/>
          <p:cNvSpPr txBox="1"/>
          <p:nvPr/>
        </p:nvSpPr>
        <p:spPr>
          <a:xfrm>
            <a:off x="7629753" y="1918003"/>
            <a:ext cx="20976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Ultimo aggiornamento: 2 min fa</a:t>
            </a:r>
            <a:endParaRPr lang="en-US" sz="900" dirty="0"/>
          </a:p>
        </p:txBody>
      </p:sp>
      <p:sp>
        <p:nvSpPr>
          <p:cNvPr id="63" name="Shape 48"/>
          <p:cNvSpPr/>
          <p:nvPr/>
        </p:nvSpPr>
        <p:spPr>
          <a:xfrm>
            <a:off x="9888321" y="1726894"/>
            <a:ext cx="1495044" cy="342900"/>
          </a:xfrm>
          <a:prstGeom prst="roundRect">
            <a:avLst>
              <a:gd name="adj" fmla="val 5925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49"/>
          <p:cNvSpPr/>
          <p:nvPr/>
        </p:nvSpPr>
        <p:spPr>
          <a:xfrm>
            <a:off x="7629753" y="2365145"/>
            <a:ext cx="1162202" cy="1580998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50"/>
          <p:cNvSpPr txBox="1"/>
          <p:nvPr/>
        </p:nvSpPr>
        <p:spPr>
          <a:xfrm>
            <a:off x="7744053" y="3070147"/>
            <a:ext cx="933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000" dirty="0"/>
          </a:p>
        </p:txBody>
      </p:sp>
      <p:pic>
        <p:nvPicPr>
          <p:cNvPr id="66" name="Image 13" descr="preencoded.png"/>
          <p:cNvPicPr>
            <a:picLocks noChangeAspect="1"/>
          </p:cNvPicPr>
          <p:nvPr/>
        </p:nvPicPr>
        <p:blipFill>
          <a:blip r:embed="rId15"/>
          <a:srcRect t="-1359" b="-1359"/>
          <a:stretch/>
        </p:blipFill>
        <p:spPr>
          <a:xfrm>
            <a:off x="7908645" y="3404818"/>
            <a:ext cx="105156" cy="123444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7744053" y="3634332"/>
            <a:ext cx="933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 TB Dati</a:t>
            </a:r>
            <a:endParaRPr lang="en-US" sz="900" dirty="0"/>
          </a:p>
        </p:txBody>
      </p:sp>
      <p:sp>
        <p:nvSpPr>
          <p:cNvPr id="68" name="Shape 52"/>
          <p:cNvSpPr/>
          <p:nvPr/>
        </p:nvSpPr>
        <p:spPr>
          <a:xfrm>
            <a:off x="8929115" y="2365145"/>
            <a:ext cx="1162202" cy="1580998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53"/>
          <p:cNvSpPr txBox="1"/>
          <p:nvPr/>
        </p:nvSpPr>
        <p:spPr>
          <a:xfrm>
            <a:off x="9043415" y="3070147"/>
            <a:ext cx="933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000" dirty="0"/>
          </a:p>
        </p:txBody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15"/>
          <a:srcRect t="-1359" b="-1359"/>
          <a:stretch/>
        </p:blipFill>
        <p:spPr>
          <a:xfrm>
            <a:off x="9207093" y="3404818"/>
            <a:ext cx="105156" cy="123444"/>
          </a:xfrm>
          <a:prstGeom prst="rect">
            <a:avLst/>
          </a:prstGeom>
        </p:spPr>
      </p:pic>
      <p:sp>
        <p:nvSpPr>
          <p:cNvPr id="71" name="Text 54"/>
          <p:cNvSpPr txBox="1"/>
          <p:nvPr/>
        </p:nvSpPr>
        <p:spPr>
          <a:xfrm>
            <a:off x="9043415" y="3634332"/>
            <a:ext cx="933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4.5 TB Dati</a:t>
            </a:r>
            <a:endParaRPr lang="en-US" sz="900" dirty="0"/>
          </a:p>
        </p:txBody>
      </p:sp>
      <p:sp>
        <p:nvSpPr>
          <p:cNvPr id="72" name="Shape 55"/>
          <p:cNvSpPr/>
          <p:nvPr/>
        </p:nvSpPr>
        <p:spPr>
          <a:xfrm>
            <a:off x="10227563" y="2365145"/>
            <a:ext cx="1162202" cy="1580998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56"/>
          <p:cNvSpPr txBox="1"/>
          <p:nvPr/>
        </p:nvSpPr>
        <p:spPr>
          <a:xfrm>
            <a:off x="10341863" y="3070147"/>
            <a:ext cx="933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</a:t>
            </a:r>
            <a:endParaRPr lang="en-US" sz="1000" dirty="0"/>
          </a:p>
        </p:txBody>
      </p:sp>
      <p:pic>
        <p:nvPicPr>
          <p:cNvPr id="74" name="Image 15" descr="preencoded.png"/>
          <p:cNvPicPr>
            <a:picLocks noChangeAspect="1"/>
          </p:cNvPicPr>
          <p:nvPr/>
        </p:nvPicPr>
        <p:blipFill>
          <a:blip r:embed="rId15"/>
          <a:srcRect t="-1359" b="-1359"/>
          <a:stretch/>
        </p:blipFill>
        <p:spPr>
          <a:xfrm>
            <a:off x="10505541" y="3404818"/>
            <a:ext cx="105156" cy="123444"/>
          </a:xfrm>
          <a:prstGeom prst="rect">
            <a:avLst/>
          </a:prstGeom>
        </p:spPr>
      </p:pic>
      <p:sp>
        <p:nvSpPr>
          <p:cNvPr id="75" name="Text 57"/>
          <p:cNvSpPr txBox="1"/>
          <p:nvPr/>
        </p:nvSpPr>
        <p:spPr>
          <a:xfrm>
            <a:off x="10341863" y="3634332"/>
            <a:ext cx="933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850 GB Dati</a:t>
            </a:r>
            <a:endParaRPr lang="en-US" sz="900" dirty="0"/>
          </a:p>
        </p:txBody>
      </p:sp>
      <p:sp>
        <p:nvSpPr>
          <p:cNvPr id="76" name="Shape 58"/>
          <p:cNvSpPr/>
          <p:nvPr/>
        </p:nvSpPr>
        <p:spPr>
          <a:xfrm>
            <a:off x="7629753" y="4129937"/>
            <a:ext cx="3752698" cy="2238451"/>
          </a:xfrm>
          <a:prstGeom prst="roundRect">
            <a:avLst>
              <a:gd name="adj" fmla="val 208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59"/>
          <p:cNvSpPr txBox="1"/>
          <p:nvPr/>
        </p:nvSpPr>
        <p:spPr>
          <a:xfrm>
            <a:off x="7782458" y="4281727"/>
            <a:ext cx="18708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Punti di ripristino recenti</a:t>
            </a:r>
            <a:endParaRPr lang="en-US" sz="1000" dirty="0"/>
          </a:p>
        </p:txBody>
      </p:sp>
      <p:sp>
        <p:nvSpPr>
          <p:cNvPr id="78" name="Text 60"/>
          <p:cNvSpPr txBox="1"/>
          <p:nvPr/>
        </p:nvSpPr>
        <p:spPr>
          <a:xfrm>
            <a:off x="10772546" y="4300930"/>
            <a:ext cx="55595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Vedi tutti</a:t>
            </a:r>
            <a:endParaRPr lang="en-US" sz="900" dirty="0"/>
          </a:p>
        </p:txBody>
      </p:sp>
      <p:sp>
        <p:nvSpPr>
          <p:cNvPr id="79" name="Shape 61"/>
          <p:cNvSpPr/>
          <p:nvPr/>
        </p:nvSpPr>
        <p:spPr>
          <a:xfrm>
            <a:off x="7782458" y="5121147"/>
            <a:ext cx="3448202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Shape 62"/>
          <p:cNvSpPr/>
          <p:nvPr/>
        </p:nvSpPr>
        <p:spPr>
          <a:xfrm>
            <a:off x="7782458" y="4796535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63"/>
          <p:cNvSpPr txBox="1"/>
          <p:nvPr/>
        </p:nvSpPr>
        <p:spPr>
          <a:xfrm>
            <a:off x="8039404" y="4682235"/>
            <a:ext cx="27843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 Orario - Totale</a:t>
            </a:r>
            <a:endParaRPr lang="en-US" sz="1000" dirty="0"/>
          </a:p>
        </p:txBody>
      </p:sp>
      <p:sp>
        <p:nvSpPr>
          <p:cNvPr id="82" name="Text 64"/>
          <p:cNvSpPr txBox="1"/>
          <p:nvPr/>
        </p:nvSpPr>
        <p:spPr>
          <a:xfrm>
            <a:off x="8039404" y="4872430"/>
            <a:ext cx="27843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Oggi, 10:00 AM • Integrità verificata</a:t>
            </a:r>
            <a:endParaRPr lang="en-US" sz="900" dirty="0"/>
          </a:p>
        </p:txBody>
      </p:sp>
      <p:sp>
        <p:nvSpPr>
          <p:cNvPr id="83" name="Shape 65"/>
          <p:cNvSpPr/>
          <p:nvPr/>
        </p:nvSpPr>
        <p:spPr>
          <a:xfrm>
            <a:off x="10714939" y="4729783"/>
            <a:ext cx="523951" cy="247802"/>
          </a:xfrm>
          <a:prstGeom prst="roundRect">
            <a:avLst>
              <a:gd name="adj" fmla="val 113540"/>
            </a:avLst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Shape 66"/>
          <p:cNvSpPr/>
          <p:nvPr/>
        </p:nvSpPr>
        <p:spPr>
          <a:xfrm>
            <a:off x="7782458" y="5663386"/>
            <a:ext cx="3448202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Shape 67"/>
          <p:cNvSpPr/>
          <p:nvPr/>
        </p:nvSpPr>
        <p:spPr>
          <a:xfrm>
            <a:off x="7782458" y="5338774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68"/>
          <p:cNvSpPr txBox="1"/>
          <p:nvPr/>
        </p:nvSpPr>
        <p:spPr>
          <a:xfrm>
            <a:off x="8039404" y="5224474"/>
            <a:ext cx="29205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 completato: "Marketing Q1"</a:t>
            </a:r>
            <a:endParaRPr lang="en-US" sz="1000" dirty="0"/>
          </a:p>
        </p:txBody>
      </p:sp>
      <p:sp>
        <p:nvSpPr>
          <p:cNvPr id="87" name="Text 69"/>
          <p:cNvSpPr txBox="1"/>
          <p:nvPr/>
        </p:nvSpPr>
        <p:spPr>
          <a:xfrm>
            <a:off x="8039404" y="5415583"/>
            <a:ext cx="32424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Oggi, 09:15 AM • Ripristinato da Admin (Marco R.)</a:t>
            </a:r>
            <a:endParaRPr lang="en-US" sz="900" dirty="0"/>
          </a:p>
        </p:txBody>
      </p:sp>
      <p:sp>
        <p:nvSpPr>
          <p:cNvPr id="88" name="Text 70"/>
          <p:cNvSpPr txBox="1"/>
          <p:nvPr/>
        </p:nvSpPr>
        <p:spPr>
          <a:xfrm>
            <a:off x="10755172" y="5320486"/>
            <a:ext cx="566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Successo</a:t>
            </a:r>
            <a:endParaRPr lang="en-US" sz="900" dirty="0"/>
          </a:p>
        </p:txBody>
      </p:sp>
      <p:sp>
        <p:nvSpPr>
          <p:cNvPr id="89" name="Shape 71"/>
          <p:cNvSpPr/>
          <p:nvPr/>
        </p:nvSpPr>
        <p:spPr>
          <a:xfrm>
            <a:off x="7782458" y="6206539"/>
            <a:ext cx="3448202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Shape 72"/>
          <p:cNvSpPr/>
          <p:nvPr/>
        </p:nvSpPr>
        <p:spPr>
          <a:xfrm>
            <a:off x="7782458" y="5881927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1" name="Text 73"/>
          <p:cNvSpPr txBox="1"/>
          <p:nvPr/>
        </p:nvSpPr>
        <p:spPr>
          <a:xfrm>
            <a:off x="8039404" y="5767627"/>
            <a:ext cx="27843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 Orario - Totale</a:t>
            </a:r>
            <a:endParaRPr lang="en-US" sz="1000" dirty="0"/>
          </a:p>
        </p:txBody>
      </p:sp>
      <p:sp>
        <p:nvSpPr>
          <p:cNvPr id="92" name="Text 74"/>
          <p:cNvSpPr txBox="1"/>
          <p:nvPr/>
        </p:nvSpPr>
        <p:spPr>
          <a:xfrm>
            <a:off x="8039404" y="5958737"/>
            <a:ext cx="27843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Oggi, 09:00 AM • Integrità verificata</a:t>
            </a:r>
            <a:endParaRPr lang="en-US" sz="900" dirty="0"/>
          </a:p>
        </p:txBody>
      </p:sp>
      <p:sp>
        <p:nvSpPr>
          <p:cNvPr id="93" name="Shape 75"/>
          <p:cNvSpPr/>
          <p:nvPr/>
        </p:nvSpPr>
        <p:spPr>
          <a:xfrm>
            <a:off x="10714939" y="5815176"/>
            <a:ext cx="523951" cy="247802"/>
          </a:xfrm>
          <a:prstGeom prst="roundRect">
            <a:avLst>
              <a:gd name="adj" fmla="val 113540"/>
            </a:avLst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4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041026" y="1829307"/>
            <a:ext cx="133502" cy="133502"/>
          </a:xfrm>
          <a:prstGeom prst="rect">
            <a:avLst/>
          </a:prstGeom>
        </p:spPr>
      </p:pic>
      <p:sp>
        <p:nvSpPr>
          <p:cNvPr id="95" name="Text 76"/>
          <p:cNvSpPr txBox="1"/>
          <p:nvPr/>
        </p:nvSpPr>
        <p:spPr>
          <a:xfrm>
            <a:off x="10157155" y="1803703"/>
            <a:ext cx="11676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Avvia Ripristino</a:t>
            </a:r>
            <a:endParaRPr lang="en-US" sz="1000" dirty="0"/>
          </a:p>
        </p:txBody>
      </p:sp>
      <p:pic>
        <p:nvPicPr>
          <p:cNvPr id="96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055863" y="2603803"/>
            <a:ext cx="304495" cy="304495"/>
          </a:xfrm>
          <a:prstGeom prst="rect">
            <a:avLst/>
          </a:prstGeom>
        </p:spPr>
      </p:pic>
      <p:sp>
        <p:nvSpPr>
          <p:cNvPr id="97" name="Shape 77"/>
          <p:cNvSpPr/>
          <p:nvPr/>
        </p:nvSpPr>
        <p:spPr>
          <a:xfrm>
            <a:off x="7794345" y="3337152"/>
            <a:ext cx="828446" cy="267005"/>
          </a:xfrm>
          <a:prstGeom prst="roundRect">
            <a:avLst>
              <a:gd name="adj" fmla="val 293542"/>
            </a:avLst>
          </a:prstGeom>
          <a:solidFill>
            <a:srgbClr val="DFF6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8" name="Text 78"/>
          <p:cNvSpPr txBox="1"/>
          <p:nvPr/>
        </p:nvSpPr>
        <p:spPr>
          <a:xfrm>
            <a:off x="7896759" y="3367327"/>
            <a:ext cx="783640" cy="2368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Protetto</a:t>
            </a:r>
            <a:endParaRPr lang="en-US" sz="900" dirty="0"/>
          </a:p>
        </p:txBody>
      </p:sp>
      <p:pic>
        <p:nvPicPr>
          <p:cNvPr id="99" name="Image 18" descr="preencoded.png"/>
          <p:cNvPicPr>
            <a:picLocks noChangeAspect="1"/>
          </p:cNvPicPr>
          <p:nvPr/>
        </p:nvPicPr>
        <p:blipFill>
          <a:blip r:embed="rId18"/>
          <a:srcRect l="-107" r="-107"/>
          <a:stretch/>
        </p:blipFill>
        <p:spPr>
          <a:xfrm>
            <a:off x="9373514" y="2603803"/>
            <a:ext cx="267005" cy="304495"/>
          </a:xfrm>
          <a:prstGeom prst="rect">
            <a:avLst/>
          </a:prstGeom>
        </p:spPr>
      </p:pic>
      <p:sp>
        <p:nvSpPr>
          <p:cNvPr id="100" name="Shape 79"/>
          <p:cNvSpPr/>
          <p:nvPr/>
        </p:nvSpPr>
        <p:spPr>
          <a:xfrm>
            <a:off x="9092793" y="3337152"/>
            <a:ext cx="828446" cy="267005"/>
          </a:xfrm>
          <a:prstGeom prst="roundRect">
            <a:avLst>
              <a:gd name="adj" fmla="val 293542"/>
            </a:avLst>
          </a:prstGeom>
          <a:solidFill>
            <a:srgbClr val="DFF6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1" name="Text 80"/>
          <p:cNvSpPr txBox="1"/>
          <p:nvPr/>
        </p:nvSpPr>
        <p:spPr>
          <a:xfrm>
            <a:off x="9229953" y="3355440"/>
            <a:ext cx="748893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Protetto</a:t>
            </a:r>
            <a:endParaRPr lang="en-US" sz="900" dirty="0"/>
          </a:p>
        </p:txBody>
      </p:sp>
      <p:pic>
        <p:nvPicPr>
          <p:cNvPr id="102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0652759" y="2603803"/>
            <a:ext cx="304495" cy="304495"/>
          </a:xfrm>
          <a:prstGeom prst="rect">
            <a:avLst/>
          </a:prstGeom>
        </p:spPr>
      </p:pic>
      <p:sp>
        <p:nvSpPr>
          <p:cNvPr id="103" name="Shape 81"/>
          <p:cNvSpPr/>
          <p:nvPr/>
        </p:nvSpPr>
        <p:spPr>
          <a:xfrm>
            <a:off x="10391241" y="3337152"/>
            <a:ext cx="828446" cy="267005"/>
          </a:xfrm>
          <a:prstGeom prst="roundRect">
            <a:avLst>
              <a:gd name="adj" fmla="val 293542"/>
            </a:avLst>
          </a:prstGeom>
          <a:solidFill>
            <a:srgbClr val="DFF6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4" name="Text 82"/>
          <p:cNvSpPr txBox="1"/>
          <p:nvPr/>
        </p:nvSpPr>
        <p:spPr>
          <a:xfrm>
            <a:off x="10490025" y="3367327"/>
            <a:ext cx="787269" cy="2368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Protetto</a:t>
            </a:r>
            <a:endParaRPr lang="en-US" sz="900" dirty="0"/>
          </a:p>
        </p:txBody>
      </p:sp>
      <p:sp>
        <p:nvSpPr>
          <p:cNvPr id="105" name="Text 83"/>
          <p:cNvSpPr txBox="1"/>
          <p:nvPr/>
        </p:nvSpPr>
        <p:spPr>
          <a:xfrm>
            <a:off x="10762487" y="4777332"/>
            <a:ext cx="428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Sfoglia</a:t>
            </a:r>
            <a:endParaRPr lang="en-US" sz="900" dirty="0"/>
          </a:p>
        </p:txBody>
      </p:sp>
      <p:sp>
        <p:nvSpPr>
          <p:cNvPr id="106" name="Text 84"/>
          <p:cNvSpPr txBox="1"/>
          <p:nvPr/>
        </p:nvSpPr>
        <p:spPr>
          <a:xfrm>
            <a:off x="10762487" y="5862725"/>
            <a:ext cx="428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Sfoglia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315761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143000" y="724917"/>
            <a:ext cx="4762195" cy="5600700"/>
          </a:xfrm>
          <a:prstGeom prst="roundRect">
            <a:avLst>
              <a:gd name="adj" fmla="val 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438351" y="3573273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1819656" y="2743913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Scopo Legale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19656" y="3049322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Progettata per conservare dati per obblighi normativi e legali (compliance).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38351" y="4649522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1819656" y="3820161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Nativa in M365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19656" y="4125571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Funzionalità inclusa, automatica e senza costi infrastrutturali aggiuntivi.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819656" y="4896410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Limiti Protezione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819656" y="5201820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protegge da ransomware, corruzione dati o errori dell'admin.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4654" y="5868417"/>
            <a:ext cx="4819802" cy="448056"/>
          </a:xfrm>
          <a:prstGeom prst="rect">
            <a:avLst/>
          </a:prstGeom>
          <a:solidFill>
            <a:srgbClr val="E6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1100" b="1" kern="0" spc="57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"Devo conservarlo?"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38351" y="2815236"/>
            <a:ext cx="237744" cy="190195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38351" y="3891485"/>
            <a:ext cx="237744" cy="190195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62126" y="4967733"/>
            <a:ext cx="190195" cy="19019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152144" y="734061"/>
            <a:ext cx="4743907" cy="1723644"/>
          </a:xfrm>
          <a:prstGeom prst="roundRect">
            <a:avLst>
              <a:gd name="adj" fmla="val 7034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3238805" y="972720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3438144" y="1143713"/>
            <a:ext cx="171907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5646" y="1686866"/>
            <a:ext cx="4476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Retention Policy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285646" y="2029766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Conformità &amp; Legale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286500" y="724917"/>
            <a:ext cx="4762195" cy="5600700"/>
          </a:xfrm>
          <a:prstGeom prst="roundRect">
            <a:avLst>
              <a:gd name="adj" fmla="val 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8"/>
          <p:cNvSpPr/>
          <p:nvPr/>
        </p:nvSpPr>
        <p:spPr>
          <a:xfrm>
            <a:off x="6581851" y="3573273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 txBox="1"/>
          <p:nvPr/>
        </p:nvSpPr>
        <p:spPr>
          <a:xfrm>
            <a:off x="6963156" y="2743913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Recupero Rapido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963156" y="3049322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Ripristino granulare (file) o massivo in pochi minuti (Disaster Recovery).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581851" y="4649522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2"/>
          <p:cNvSpPr txBox="1"/>
          <p:nvPr/>
        </p:nvSpPr>
        <p:spPr>
          <a:xfrm>
            <a:off x="6963156" y="3820161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Totale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963156" y="4125571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Copia immutabile che protegge contro attacchi ransomware e hacker.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963156" y="4896410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Controllo RPO/RTO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963156" y="5201820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Controllo totale su frequenza salvataggi e velocità di ripristino.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258154" y="5868417"/>
            <a:ext cx="4819802" cy="448056"/>
          </a:xfrm>
          <a:prstGeom prst="rect">
            <a:avLst/>
          </a:prstGeom>
          <a:solidFill>
            <a:srgbClr val="E0F2F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1100" b="1" kern="0" spc="57" dirty="0">
                <a:solidFill>
                  <a:srgbClr val="0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"Devo recuperarlo?"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05626" y="2815236"/>
            <a:ext cx="190195" cy="190195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81851" y="3891485"/>
            <a:ext cx="237744" cy="190195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05626" y="4967733"/>
            <a:ext cx="190195" cy="1901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295644" y="734061"/>
            <a:ext cx="4743907" cy="1723644"/>
          </a:xfrm>
          <a:prstGeom prst="roundRect">
            <a:avLst>
              <a:gd name="adj" fmla="val 7034"/>
            </a:avLst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8"/>
          <p:cNvSpPr/>
          <p:nvPr/>
        </p:nvSpPr>
        <p:spPr>
          <a:xfrm>
            <a:off x="8382305" y="972720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53298" y="1143713"/>
            <a:ext cx="228600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429146" y="1686866"/>
            <a:ext cx="4476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Dedicato</a:t>
            </a:r>
            <a:endParaRPr lang="en-US" sz="1800" dirty="0"/>
          </a:p>
        </p:txBody>
      </p:sp>
      <p:sp>
        <p:nvSpPr>
          <p:cNvPr id="40" name="Text 30"/>
          <p:cNvSpPr txBox="1"/>
          <p:nvPr/>
        </p:nvSpPr>
        <p:spPr>
          <a:xfrm>
            <a:off x="6429146" y="2029766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71500" y="6325617"/>
            <a:ext cx="11048695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32"/>
          <p:cNvSpPr/>
          <p:nvPr/>
        </p:nvSpPr>
        <p:spPr>
          <a:xfrm>
            <a:off x="571500" y="6325617"/>
            <a:ext cx="47549" cy="629107"/>
          </a:xfrm>
          <a:prstGeom prst="roundRect">
            <a:avLst>
              <a:gd name="adj" fmla="val 466199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490472" y="6522213"/>
            <a:ext cx="171907" cy="2286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776679" y="6515812"/>
            <a:ext cx="61264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Verità:</a:t>
            </a:r>
            <a:endParaRPr lang="en-US" sz="12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662733" y="6540501"/>
            <a:ext cx="190195" cy="19019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2967228" y="6515812"/>
            <a:ext cx="343357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Retention Policy NON è un Backup</a:t>
            </a:r>
            <a:endParaRPr lang="en-US" sz="12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rcRect l="-363" r="-363"/>
          <a:stretch/>
        </p:blipFill>
        <p:spPr>
          <a:xfrm>
            <a:off x="6226150" y="6555131"/>
            <a:ext cx="142646" cy="161849"/>
          </a:xfrm>
          <a:prstGeom prst="rect">
            <a:avLst/>
          </a:prstGeom>
        </p:spPr>
      </p:pic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3"/>
          <a:srcRect l="-1282" r="-1282"/>
          <a:stretch/>
        </p:blipFill>
        <p:spPr>
          <a:xfrm>
            <a:off x="6750101" y="6540501"/>
            <a:ext cx="219456" cy="190195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083857" y="6515812"/>
            <a:ext cx="433151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Servono entrambi per una protezione completa</a:t>
            </a:r>
            <a:endParaRPr lang="en-US" sz="1200" dirty="0"/>
          </a:p>
        </p:txBody>
      </p:sp>
      <p:sp>
        <p:nvSpPr>
          <p:cNvPr id="50" name="Shape 36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Shape 37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38"/>
          <p:cNvSpPr txBox="1"/>
          <p:nvPr/>
        </p:nvSpPr>
        <p:spPr>
          <a:xfrm>
            <a:off x="571500" y="0"/>
            <a:ext cx="6334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 dei Dati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571500" y="228600"/>
            <a:ext cx="76315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Retention Policy vs Backup Dedicato</a:t>
            </a:r>
            <a:endParaRPr lang="en-US" sz="2700" dirty="0"/>
          </a:p>
        </p:txBody>
      </p:sp>
      <p:sp>
        <p:nvSpPr>
          <p:cNvPr id="54" name="Shape 40"/>
          <p:cNvSpPr/>
          <p:nvPr/>
        </p:nvSpPr>
        <p:spPr>
          <a:xfrm>
            <a:off x="9998964" y="123444"/>
            <a:ext cx="1628546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199218" y="228600"/>
            <a:ext cx="152705" cy="152705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10465308" y="123444"/>
            <a:ext cx="10195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Strategia 3-2-1</a:t>
            </a:r>
            <a:endParaRPr lang="en-US" sz="100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857646" y="3715920"/>
            <a:ext cx="476402" cy="476402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5829300" y="3715920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382305" y="0"/>
            <a:ext cx="4762195" cy="4762195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4648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&amp; Recovery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5718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Piano di Disaster Recovery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979762" y="276149"/>
            <a:ext cx="1647749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 l="-33" r="-33"/>
          <a:stretch/>
        </p:blipFill>
        <p:spPr>
          <a:xfrm>
            <a:off x="10180015" y="381305"/>
            <a:ext cx="171907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465308" y="276149"/>
            <a:ext cx="10195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Strategia 3-2-1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1238098"/>
            <a:ext cx="4800600" cy="5333695"/>
          </a:xfrm>
          <a:prstGeom prst="roundRect">
            <a:avLst>
              <a:gd name="adj" fmla="val 9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809244" y="2096719"/>
            <a:ext cx="43241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809244" y="1447495"/>
            <a:ext cx="267005" cy="26700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5995" y="1514246"/>
            <a:ext cx="133502" cy="1335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90549" y="1429207"/>
            <a:ext cx="4058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 dati critici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190549" y="1655064"/>
            <a:ext cx="40197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Mappare i dati vitali per il business distinguendoli da quelli meno urgenti.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09244" y="3196742"/>
            <a:ext cx="43241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809244" y="2548433"/>
            <a:ext cx="267005" cy="267005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881482" y="2615184"/>
            <a:ext cx="123444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90549" y="2529230"/>
            <a:ext cx="4058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Definisci RPO e RTO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190549" y="2756002"/>
            <a:ext cx="40197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Stabilire obiettivi chiari: Recovery Point (perdita dati accettabile) e Recovery Time (tempo ripristino).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09244" y="4297680"/>
            <a:ext cx="43241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09244" y="3649370"/>
            <a:ext cx="267005" cy="267005"/>
          </a:xfrm>
          <a:prstGeom prst="ellipse">
            <a:avLst/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 l="-2838" r="-2838"/>
          <a:stretch/>
        </p:blipFill>
        <p:spPr>
          <a:xfrm>
            <a:off x="881482" y="3716122"/>
            <a:ext cx="123444" cy="13350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190549" y="3630168"/>
            <a:ext cx="4058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Attiva versioning e cestino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1190549" y="3856939"/>
            <a:ext cx="40197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Configurare cronologia versioni e retention policy come prima linea di difesa.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809244" y="5398618"/>
            <a:ext cx="43241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4"/>
          <p:cNvSpPr/>
          <p:nvPr/>
        </p:nvSpPr>
        <p:spPr>
          <a:xfrm>
            <a:off x="809244" y="4749394"/>
            <a:ext cx="267005" cy="26700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857707" y="4816145"/>
            <a:ext cx="171907" cy="13350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90549" y="4731106"/>
            <a:ext cx="4058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Backup M365 o Terze Parti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1190549" y="4956962"/>
            <a:ext cx="40197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Implementare backup immutabile separato dall'ambiente di produzione.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9244" y="5850331"/>
            <a:ext cx="267005" cy="267005"/>
          </a:xfrm>
          <a:prstGeom prst="ellipse">
            <a:avLst/>
          </a:prstGeom>
          <a:solidFill>
            <a:srgbClr val="FDE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5995" y="5917082"/>
            <a:ext cx="133502" cy="13350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90549" y="5831129"/>
            <a:ext cx="4058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 procedure restore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1190549" y="6057900"/>
            <a:ext cx="40197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Simulazioni trimestrali di ripristino per verificare integrità e velocità.</a:t>
            </a:r>
            <a:endParaRPr lang="en-US" sz="10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rcRect t="-5" b="-5"/>
          <a:stretch/>
        </p:blipFill>
        <p:spPr>
          <a:xfrm>
            <a:off x="5753405" y="907085"/>
            <a:ext cx="5867705" cy="2907792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5991149" y="1496873"/>
            <a:ext cx="5391302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1"/>
          <p:cNvSpPr txBox="1"/>
          <p:nvPr/>
        </p:nvSpPr>
        <p:spPr>
          <a:xfrm>
            <a:off x="6258154" y="1144829"/>
            <a:ext cx="5201107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Regola del Backup 3-2-1</a:t>
            </a:r>
            <a:endParaRPr lang="en-US" sz="13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rcRect l="-1" r="-1"/>
          <a:stretch/>
        </p:blipFill>
        <p:spPr>
          <a:xfrm>
            <a:off x="5753405" y="4004158"/>
            <a:ext cx="5867705" cy="2899562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5943600" y="4547311"/>
            <a:ext cx="5486400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33"/>
          <p:cNvSpPr txBox="1"/>
          <p:nvPr/>
        </p:nvSpPr>
        <p:spPr>
          <a:xfrm>
            <a:off x="6191402" y="4195267"/>
            <a:ext cx="5315407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365 Backup Solution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5943600" y="6484925"/>
            <a:ext cx="1580998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35"/>
          <p:cNvSpPr txBox="1"/>
          <p:nvPr/>
        </p:nvSpPr>
        <p:spPr>
          <a:xfrm>
            <a:off x="6163056" y="6484925"/>
            <a:ext cx="14255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Ransomware protection </a:t>
            </a:r>
            <a:endParaRPr lang="en-US" sz="9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6019495" y="6541618"/>
            <a:ext cx="105156" cy="114300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7632497" y="6484925"/>
            <a:ext cx="933602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37"/>
          <p:cNvSpPr txBox="1"/>
          <p:nvPr/>
        </p:nvSpPr>
        <p:spPr>
          <a:xfrm>
            <a:off x="7851953" y="6484925"/>
            <a:ext cx="7717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Fast restore </a:t>
            </a:r>
            <a:endParaRPr lang="en-US" sz="90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7709306" y="6541618"/>
            <a:ext cx="105156" cy="114300"/>
          </a:xfrm>
          <a:prstGeom prst="rect">
            <a:avLst/>
          </a:prstGeom>
        </p:spPr>
      </p:pic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1"/>
          <a:srcRect t="-842" b="-842"/>
          <a:stretch/>
        </p:blipFill>
        <p:spPr>
          <a:xfrm>
            <a:off x="5991149" y="1175004"/>
            <a:ext cx="190195" cy="171907"/>
          </a:xfrm>
          <a:prstGeom prst="rect">
            <a:avLst/>
          </a:prstGeom>
        </p:spPr>
      </p:pic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943600" y="4225442"/>
            <a:ext cx="171907" cy="171907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943600" y="4656125"/>
            <a:ext cx="5486400" cy="1714500"/>
          </a:xfrm>
          <a:prstGeom prst="roundRect">
            <a:avLst>
              <a:gd name="adj" fmla="val 474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3"/>
          <a:srcRect t="22475" b="22475"/>
          <a:stretch/>
        </p:blipFill>
        <p:spPr>
          <a:xfrm>
            <a:off x="5952744" y="4665269"/>
            <a:ext cx="5467198" cy="1695298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5952744" y="6025896"/>
            <a:ext cx="5544007" cy="3429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Restore granulare Exchange, OneDrive e SharePoint</a:t>
            </a:r>
            <a:endParaRPr lang="en-US" sz="900" dirty="0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4"/>
          <a:srcRect t="-403" b="-403"/>
          <a:stretch/>
        </p:blipFill>
        <p:spPr>
          <a:xfrm>
            <a:off x="6799478" y="2177186"/>
            <a:ext cx="3773729" cy="19202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6623914" y="1816913"/>
            <a:ext cx="352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600" dirty="0"/>
          </a:p>
        </p:txBody>
      </p:sp>
      <p:sp>
        <p:nvSpPr>
          <p:cNvPr id="57" name="Shape 41"/>
          <p:cNvSpPr/>
          <p:nvPr/>
        </p:nvSpPr>
        <p:spPr>
          <a:xfrm>
            <a:off x="6514186" y="2322576"/>
            <a:ext cx="571500" cy="5715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5"/>
          <a:srcRect l="-7143" r="-7143"/>
          <a:stretch/>
        </p:blipFill>
        <p:spPr>
          <a:xfrm>
            <a:off x="6685178" y="2493569"/>
            <a:ext cx="228600" cy="228600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6235294" y="2989174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Copie dei Dati</a:t>
            </a:r>
            <a:endParaRPr lang="en-US" sz="1000" dirty="0"/>
          </a:p>
        </p:txBody>
      </p:sp>
      <p:sp>
        <p:nvSpPr>
          <p:cNvPr id="60" name="Text 43"/>
          <p:cNvSpPr txBox="1"/>
          <p:nvPr/>
        </p:nvSpPr>
        <p:spPr>
          <a:xfrm>
            <a:off x="5959145" y="3232404"/>
            <a:ext cx="168432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Mantieni almeno tre copie dei dati (1 primaria + 2 backup).</a:t>
            </a:r>
            <a:endParaRPr lang="en-US" sz="900" dirty="0"/>
          </a:p>
        </p:txBody>
      </p:sp>
      <p:sp>
        <p:nvSpPr>
          <p:cNvPr id="61" name="Text 44"/>
          <p:cNvSpPr txBox="1"/>
          <p:nvPr/>
        </p:nvSpPr>
        <p:spPr>
          <a:xfrm>
            <a:off x="8512150" y="1816913"/>
            <a:ext cx="352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600" dirty="0"/>
          </a:p>
        </p:txBody>
      </p:sp>
      <p:sp>
        <p:nvSpPr>
          <p:cNvPr id="62" name="Shape 45"/>
          <p:cNvSpPr/>
          <p:nvPr/>
        </p:nvSpPr>
        <p:spPr>
          <a:xfrm>
            <a:off x="8401507" y="2322576"/>
            <a:ext cx="571500" cy="5715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3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572500" y="2493569"/>
            <a:ext cx="228600" cy="228600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8033004" y="2989174"/>
            <a:ext cx="13149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Supporti Diversi</a:t>
            </a:r>
            <a:endParaRPr lang="en-US" sz="1000" dirty="0"/>
          </a:p>
        </p:txBody>
      </p:sp>
      <p:sp>
        <p:nvSpPr>
          <p:cNvPr id="65" name="Text 47"/>
          <p:cNvSpPr txBox="1"/>
          <p:nvPr/>
        </p:nvSpPr>
        <p:spPr>
          <a:xfrm>
            <a:off x="7845552" y="3232404"/>
            <a:ext cx="168432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Archivia su due tipi di media differenti (es. Cloud + Locale).</a:t>
            </a:r>
            <a:endParaRPr lang="en-US" sz="900" dirty="0"/>
          </a:p>
        </p:txBody>
      </p:sp>
      <p:sp>
        <p:nvSpPr>
          <p:cNvPr id="66" name="Text 48"/>
          <p:cNvSpPr txBox="1"/>
          <p:nvPr/>
        </p:nvSpPr>
        <p:spPr>
          <a:xfrm>
            <a:off x="10426903" y="1748333"/>
            <a:ext cx="299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600" dirty="0"/>
          </a:p>
        </p:txBody>
      </p:sp>
      <p:sp>
        <p:nvSpPr>
          <p:cNvPr id="67" name="Shape 49"/>
          <p:cNvSpPr/>
          <p:nvPr/>
        </p:nvSpPr>
        <p:spPr>
          <a:xfrm>
            <a:off x="10287914" y="2253996"/>
            <a:ext cx="571500" cy="5715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8" name="Image 16" descr="preencoded.png"/>
          <p:cNvPicPr>
            <a:picLocks noChangeAspect="1"/>
          </p:cNvPicPr>
          <p:nvPr/>
        </p:nvPicPr>
        <p:blipFill>
          <a:blip r:embed="rId17"/>
          <a:srcRect l="-133" r="-133"/>
          <a:stretch/>
        </p:blipFill>
        <p:spPr>
          <a:xfrm>
            <a:off x="10488168" y="2424989"/>
            <a:ext cx="171907" cy="228600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10047427" y="2920594"/>
            <a:ext cx="10543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Copia Offsite</a:t>
            </a:r>
            <a:endParaRPr lang="en-US" sz="1000" dirty="0"/>
          </a:p>
        </p:txBody>
      </p:sp>
      <p:sp>
        <p:nvSpPr>
          <p:cNvPr id="70" name="Text 51"/>
          <p:cNvSpPr txBox="1"/>
          <p:nvPr/>
        </p:nvSpPr>
        <p:spPr>
          <a:xfrm>
            <a:off x="9732874" y="3163824"/>
            <a:ext cx="168432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Conserva una copia in un luogo remoto o cloud separato.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5A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5A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5A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-1429207" y="-952805"/>
            <a:ext cx="4286707" cy="4286707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9048902" y="3333902"/>
            <a:ext cx="5238598" cy="5238598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762195" y="2381098"/>
            <a:ext cx="2667305" cy="2667305"/>
          </a:xfrm>
          <a:prstGeom prst="ellipse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333695" y="666598"/>
            <a:ext cx="1524305" cy="418795"/>
          </a:xfrm>
          <a:prstGeom prst="roundRect">
            <a:avLst>
              <a:gd name="adj" fmla="val 218341"/>
            </a:avLst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952805" y="3333902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190902" y="3619195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4572000" y="3333902"/>
            <a:ext cx="3124505" cy="23618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810098" y="3619195"/>
            <a:ext cx="571500" cy="57150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8191195" y="3333902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9430207" y="3619195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7286854" y="3191256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5524805" y="790956"/>
            <a:ext cx="190195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790895" y="771754"/>
            <a:ext cx="1028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4220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Quiz Time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258214" y="1524305"/>
            <a:ext cx="9675266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è la regola 3-2-1 per una strategia di backup efficace?</a:t>
            </a:r>
            <a:endParaRPr lang="en-US" sz="3100" dirty="0"/>
          </a:p>
        </p:txBody>
      </p:sp>
      <p:sp>
        <p:nvSpPr>
          <p:cNvPr id="19" name="Text 15"/>
          <p:cNvSpPr txBox="1"/>
          <p:nvPr/>
        </p:nvSpPr>
        <p:spPr>
          <a:xfrm>
            <a:off x="895198" y="3733495"/>
            <a:ext cx="3162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Text 16"/>
          <p:cNvSpPr txBox="1"/>
          <p:nvPr/>
        </p:nvSpPr>
        <p:spPr>
          <a:xfrm>
            <a:off x="1103681" y="4429354"/>
            <a:ext cx="274594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backup,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cloud, 1 locale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58507" y="3161995"/>
            <a:ext cx="400507" cy="40050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15307" y="3733495"/>
            <a:ext cx="3162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4722876" y="4429354"/>
            <a:ext cx="2745943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copie,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formati diversi,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offsite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134502" y="3733495"/>
            <a:ext cx="3162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2100" dirty="0"/>
          </a:p>
        </p:txBody>
      </p:sp>
      <p:sp>
        <p:nvSpPr>
          <p:cNvPr id="25" name="Text 20"/>
          <p:cNvSpPr txBox="1"/>
          <p:nvPr/>
        </p:nvSpPr>
        <p:spPr>
          <a:xfrm>
            <a:off x="8342986" y="4429354"/>
            <a:ext cx="274594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giorni,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settimane, 1 mese</a:t>
            </a:r>
            <a:endParaRPr lang="en-US" sz="16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89E09241-A555-4048-0605-3316F3B23E2F}"/>
              </a:ext>
            </a:extLst>
          </p:cNvPr>
          <p:cNvSpPr/>
          <p:nvPr/>
        </p:nvSpPr>
        <p:spPr>
          <a:xfrm>
            <a:off x="4590985" y="3333901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4964"/>
            <a:ext cx="12191695" cy="6010351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382305" y="-97841"/>
            <a:ext cx="4762195" cy="4762195"/>
          </a:xfrm>
          <a:prstGeom prst="ellipse">
            <a:avLst/>
          </a:prstGeom>
          <a:solidFill>
            <a:srgbClr val="F9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8500" y="1489558"/>
            <a:ext cx="571500" cy="5715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1044123" y="1661465"/>
            <a:ext cx="200254" cy="2286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19495" y="5323637"/>
            <a:ext cx="571500" cy="5715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6205118" y="5495544"/>
            <a:ext cx="200254" cy="22860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0" y="2171700"/>
            <a:ext cx="476402" cy="476402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6558077" y="2318918"/>
            <a:ext cx="161849" cy="181051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5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6"/>
          <p:cNvSpPr txBox="1"/>
          <p:nvPr/>
        </p:nvSpPr>
        <p:spPr>
          <a:xfrm>
            <a:off x="571500" y="103327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Sviluppo Low-Code</a:t>
            </a:r>
            <a:endParaRPr lang="en-US" sz="1000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331927"/>
            <a:ext cx="5505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Introduzione a Power Apps</a:t>
            </a:r>
            <a:endParaRPr lang="en-US" sz="2700" dirty="0"/>
          </a:p>
        </p:txBody>
      </p:sp>
      <p:sp>
        <p:nvSpPr>
          <p:cNvPr id="16" name="Shape 8"/>
          <p:cNvSpPr/>
          <p:nvPr/>
        </p:nvSpPr>
        <p:spPr>
          <a:xfrm>
            <a:off x="10085832" y="227686"/>
            <a:ext cx="1543507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10286086" y="331927"/>
            <a:ext cx="114300" cy="15270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0514686" y="227686"/>
            <a:ext cx="9720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Aziendali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571500" y="1235354"/>
            <a:ext cx="514350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Crea app aziendali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7427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senza scrivere codice</a:t>
            </a:r>
            <a:endParaRPr lang="en-US" sz="3600" dirty="0"/>
          </a:p>
        </p:txBody>
      </p:sp>
      <p:sp>
        <p:nvSpPr>
          <p:cNvPr id="20" name="Text 11"/>
          <p:cNvSpPr txBox="1"/>
          <p:nvPr/>
        </p:nvSpPr>
        <p:spPr>
          <a:xfrm>
            <a:off x="571500" y="2935224"/>
            <a:ext cx="5048402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Apps è la piattaforma che democratizza lo sviluppo software. Permette a chiunque di trasformare idee in applicazioni web e mobile funzionanti in poche ore, non mesi.</a:t>
            </a:r>
            <a:endParaRPr lang="en-US" sz="1300" dirty="0"/>
          </a:p>
        </p:txBody>
      </p:sp>
      <p:sp>
        <p:nvSpPr>
          <p:cNvPr id="21" name="Shape 12"/>
          <p:cNvSpPr/>
          <p:nvPr/>
        </p:nvSpPr>
        <p:spPr>
          <a:xfrm>
            <a:off x="571500" y="4025189"/>
            <a:ext cx="2391156" cy="1047902"/>
          </a:xfrm>
          <a:prstGeom prst="roundRect">
            <a:avLst>
              <a:gd name="adj" fmla="val 12692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3"/>
          <p:cNvSpPr/>
          <p:nvPr/>
        </p:nvSpPr>
        <p:spPr>
          <a:xfrm>
            <a:off x="571500" y="4025189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4"/>
          <p:cNvSpPr txBox="1"/>
          <p:nvPr/>
        </p:nvSpPr>
        <p:spPr>
          <a:xfrm>
            <a:off x="1047902" y="4167835"/>
            <a:ext cx="1848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Drag-and-Drop</a:t>
            </a:r>
            <a:endParaRPr lang="en-US" sz="1100" dirty="0"/>
          </a:p>
        </p:txBody>
      </p:sp>
      <p:sp>
        <p:nvSpPr>
          <p:cNvPr id="24" name="Text 15"/>
          <p:cNvSpPr txBox="1"/>
          <p:nvPr/>
        </p:nvSpPr>
        <p:spPr>
          <a:xfrm>
            <a:off x="1047902" y="4422953"/>
            <a:ext cx="184343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Interfaccia visiva intuitiva: trascina pulsanti, form e gallerie come in PowerPoint.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3152851" y="4025189"/>
            <a:ext cx="2391156" cy="1047902"/>
          </a:xfrm>
          <a:prstGeom prst="roundRect">
            <a:avLst>
              <a:gd name="adj" fmla="val 12692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17"/>
          <p:cNvSpPr/>
          <p:nvPr/>
        </p:nvSpPr>
        <p:spPr>
          <a:xfrm>
            <a:off x="3152851" y="4025189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18"/>
          <p:cNvSpPr txBox="1"/>
          <p:nvPr/>
        </p:nvSpPr>
        <p:spPr>
          <a:xfrm>
            <a:off x="3610051" y="4167835"/>
            <a:ext cx="1867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Dati Connessi</a:t>
            </a:r>
            <a:endParaRPr lang="en-US" sz="1100" dirty="0"/>
          </a:p>
        </p:txBody>
      </p:sp>
      <p:sp>
        <p:nvSpPr>
          <p:cNvPr id="28" name="Text 19"/>
          <p:cNvSpPr txBox="1"/>
          <p:nvPr/>
        </p:nvSpPr>
        <p:spPr>
          <a:xfrm>
            <a:off x="3610051" y="4422953"/>
            <a:ext cx="186263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collega nativamente a SharePoint, Excel, SQL e oltre 300 altre fonti dati.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571500" y="5262372"/>
            <a:ext cx="2391156" cy="1218895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1"/>
          <p:cNvSpPr/>
          <p:nvPr/>
        </p:nvSpPr>
        <p:spPr>
          <a:xfrm>
            <a:off x="571500" y="5262372"/>
            <a:ext cx="38405" cy="1218895"/>
          </a:xfrm>
          <a:prstGeom prst="roundRect">
            <a:avLst>
              <a:gd name="adj" fmla="val 297617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2"/>
          <p:cNvSpPr txBox="1"/>
          <p:nvPr/>
        </p:nvSpPr>
        <p:spPr>
          <a:xfrm>
            <a:off x="1000354" y="5405018"/>
            <a:ext cx="18955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Ready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1000354" y="5660136"/>
            <a:ext cx="1892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app create funzionano immediatamente su iOS, Android e Web senza adattamenti.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3152851" y="5262372"/>
            <a:ext cx="2391156" cy="1218895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5"/>
          <p:cNvSpPr/>
          <p:nvPr/>
        </p:nvSpPr>
        <p:spPr>
          <a:xfrm>
            <a:off x="3152851" y="5262372"/>
            <a:ext cx="38405" cy="1218895"/>
          </a:xfrm>
          <a:prstGeom prst="roundRect">
            <a:avLst>
              <a:gd name="adj" fmla="val 297617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6"/>
          <p:cNvSpPr txBox="1"/>
          <p:nvPr/>
        </p:nvSpPr>
        <p:spPr>
          <a:xfrm>
            <a:off x="3610051" y="5405018"/>
            <a:ext cx="1867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Low-Code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3610051" y="5660136"/>
            <a:ext cx="186263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formule simili a Excel per la logica, rendendo lo sviluppo accessibile a tutti.</a:t>
            </a:r>
            <a:endParaRPr lang="en-US" sz="10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2551" y="4238244"/>
            <a:ext cx="181051" cy="181051"/>
          </a:xfrm>
          <a:prstGeom prst="rect">
            <a:avLst/>
          </a:prstGeom>
        </p:spPr>
      </p:pic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rcRect l="-1082" r="-1082"/>
          <a:stretch/>
        </p:blipFill>
        <p:spPr>
          <a:xfrm>
            <a:off x="3333902" y="4238244"/>
            <a:ext cx="161849" cy="181051"/>
          </a:xfrm>
          <a:prstGeom prst="rect">
            <a:avLst/>
          </a:prstGeom>
        </p:spPr>
      </p:pic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rcRect t="-856" b="-856"/>
          <a:stretch/>
        </p:blipFill>
        <p:spPr>
          <a:xfrm>
            <a:off x="752551" y="5475427"/>
            <a:ext cx="133502" cy="181051"/>
          </a:xfrm>
          <a:prstGeom prst="rect">
            <a:avLst/>
          </a:prstGeom>
        </p:spPr>
      </p:pic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1"/>
          <a:srcRect l="-1082" r="-1082"/>
          <a:stretch/>
        </p:blipFill>
        <p:spPr>
          <a:xfrm>
            <a:off x="3333902" y="5475427"/>
            <a:ext cx="161849" cy="181051"/>
          </a:xfrm>
          <a:prstGeom prst="rect">
            <a:avLst/>
          </a:prstGeom>
        </p:spPr>
      </p:pic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2"/>
          <a:srcRect l="-3" r="-3"/>
          <a:stretch/>
        </p:blipFill>
        <p:spPr>
          <a:xfrm>
            <a:off x="7391095" y="1474927"/>
            <a:ext cx="2857500" cy="4762195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7524598" y="1608430"/>
            <a:ext cx="2590495" cy="4496105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29"/>
          <p:cNvSpPr/>
          <p:nvPr/>
        </p:nvSpPr>
        <p:spPr>
          <a:xfrm>
            <a:off x="7524598" y="1608430"/>
            <a:ext cx="2590495" cy="476402"/>
          </a:xfrm>
          <a:prstGeom prst="roundRect">
            <a:avLst>
              <a:gd name="adj" fmla="val 92131"/>
            </a:avLst>
          </a:prstGeom>
          <a:solidFill>
            <a:srgbClr val="74277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7667244" y="1770278"/>
            <a:ext cx="133502" cy="152705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384134" y="1608430"/>
            <a:ext cx="9144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Inventario IT</a:t>
            </a:r>
            <a:endParaRPr lang="en-US" sz="10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820656" y="1770278"/>
            <a:ext cx="152705" cy="152705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7524598" y="2084832"/>
            <a:ext cx="2590495" cy="4019702"/>
          </a:xfrm>
          <a:prstGeom prst="roundRect">
            <a:avLst>
              <a:gd name="adj" fmla="val 3115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Shape 32"/>
          <p:cNvSpPr/>
          <p:nvPr/>
        </p:nvSpPr>
        <p:spPr>
          <a:xfrm>
            <a:off x="7667244" y="2227478"/>
            <a:ext cx="2305202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33"/>
          <p:cNvSpPr/>
          <p:nvPr/>
        </p:nvSpPr>
        <p:spPr>
          <a:xfrm>
            <a:off x="7781544" y="2341778"/>
            <a:ext cx="381305" cy="381305"/>
          </a:xfrm>
          <a:prstGeom prst="roundRect">
            <a:avLst>
              <a:gd name="adj" fmla="val 71942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7877556" y="2456078"/>
            <a:ext cx="190195" cy="152705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277149" y="2350922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Laptop Dell XPS</a:t>
            </a:r>
            <a:endParaRPr lang="en-US" sz="900" dirty="0"/>
          </a:p>
        </p:txBody>
      </p:sp>
      <p:sp>
        <p:nvSpPr>
          <p:cNvPr id="52" name="Text 35"/>
          <p:cNvSpPr txBox="1"/>
          <p:nvPr/>
        </p:nvSpPr>
        <p:spPr>
          <a:xfrm>
            <a:off x="8277149" y="2553005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Assegnato: Mario Rossi</a:t>
            </a:r>
            <a:endParaRPr lang="en-US" sz="8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6"/>
          <a:srcRect l="-3120" r="-3120"/>
          <a:stretch/>
        </p:blipFill>
        <p:spPr>
          <a:xfrm>
            <a:off x="9782251" y="2475281"/>
            <a:ext cx="75895" cy="114300"/>
          </a:xfrm>
          <a:prstGeom prst="rect">
            <a:avLst/>
          </a:prstGeom>
        </p:spPr>
      </p:pic>
      <p:sp>
        <p:nvSpPr>
          <p:cNvPr id="54" name="Shape 36"/>
          <p:cNvSpPr/>
          <p:nvPr/>
        </p:nvSpPr>
        <p:spPr>
          <a:xfrm>
            <a:off x="7667244" y="2932481"/>
            <a:ext cx="2305202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37"/>
          <p:cNvSpPr/>
          <p:nvPr/>
        </p:nvSpPr>
        <p:spPr>
          <a:xfrm>
            <a:off x="7781544" y="3046781"/>
            <a:ext cx="381305" cy="381305"/>
          </a:xfrm>
          <a:prstGeom prst="roundRect">
            <a:avLst>
              <a:gd name="adj" fmla="val 71942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7"/>
          <a:srcRect l="-33" r="-33"/>
          <a:stretch/>
        </p:blipFill>
        <p:spPr>
          <a:xfrm>
            <a:off x="7886700" y="3161081"/>
            <a:ext cx="171907" cy="152705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8277149" y="3055925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27" HP</a:t>
            </a:r>
            <a:endParaRPr lang="en-US" sz="900" dirty="0"/>
          </a:p>
        </p:txBody>
      </p:sp>
      <p:sp>
        <p:nvSpPr>
          <p:cNvPr id="58" name="Text 39"/>
          <p:cNvSpPr txBox="1"/>
          <p:nvPr/>
        </p:nvSpPr>
        <p:spPr>
          <a:xfrm>
            <a:off x="8277149" y="3258007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Disponibile</a:t>
            </a:r>
            <a:endParaRPr lang="en-US" sz="800" dirty="0"/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16"/>
          <a:srcRect l="-3120" r="-3120"/>
          <a:stretch/>
        </p:blipFill>
        <p:spPr>
          <a:xfrm>
            <a:off x="9782251" y="3180283"/>
            <a:ext cx="75895" cy="114300"/>
          </a:xfrm>
          <a:prstGeom prst="rect">
            <a:avLst/>
          </a:prstGeom>
        </p:spPr>
      </p:pic>
      <p:sp>
        <p:nvSpPr>
          <p:cNvPr id="60" name="Shape 40"/>
          <p:cNvSpPr/>
          <p:nvPr/>
        </p:nvSpPr>
        <p:spPr>
          <a:xfrm>
            <a:off x="7667244" y="3637483"/>
            <a:ext cx="2305202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Shape 41"/>
          <p:cNvSpPr/>
          <p:nvPr/>
        </p:nvSpPr>
        <p:spPr>
          <a:xfrm>
            <a:off x="7781544" y="3751783"/>
            <a:ext cx="381305" cy="381305"/>
          </a:xfrm>
          <a:prstGeom prst="roundRect">
            <a:avLst>
              <a:gd name="adj" fmla="val 71942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2" name="Image 18" descr="preencoded.png"/>
          <p:cNvPicPr>
            <a:picLocks noChangeAspect="1"/>
          </p:cNvPicPr>
          <p:nvPr/>
        </p:nvPicPr>
        <p:blipFill>
          <a:blip r:embed="rId18"/>
          <a:srcRect l="-33" r="-33"/>
          <a:stretch/>
        </p:blipFill>
        <p:spPr>
          <a:xfrm>
            <a:off x="7886700" y="3866083"/>
            <a:ext cx="171907" cy="152705"/>
          </a:xfrm>
          <a:prstGeom prst="rect">
            <a:avLst/>
          </a:prstGeom>
        </p:spPr>
      </p:pic>
      <p:sp>
        <p:nvSpPr>
          <p:cNvPr id="63" name="Text 42"/>
          <p:cNvSpPr txBox="1"/>
          <p:nvPr/>
        </p:nvSpPr>
        <p:spPr>
          <a:xfrm>
            <a:off x="8277149" y="3760927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Tastiera Meccanica</a:t>
            </a:r>
            <a:endParaRPr lang="en-US" sz="900" dirty="0"/>
          </a:p>
        </p:txBody>
      </p:sp>
      <p:sp>
        <p:nvSpPr>
          <p:cNvPr id="64" name="Text 43"/>
          <p:cNvSpPr txBox="1"/>
          <p:nvPr/>
        </p:nvSpPr>
        <p:spPr>
          <a:xfrm>
            <a:off x="8277149" y="3963010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Riparazione</a:t>
            </a:r>
            <a:endParaRPr lang="en-US" sz="800" dirty="0"/>
          </a:p>
        </p:txBody>
      </p:sp>
      <p:pic>
        <p:nvPicPr>
          <p:cNvPr id="65" name="Image 19" descr="preencoded.png"/>
          <p:cNvPicPr>
            <a:picLocks noChangeAspect="1"/>
          </p:cNvPicPr>
          <p:nvPr/>
        </p:nvPicPr>
        <p:blipFill>
          <a:blip r:embed="rId16"/>
          <a:srcRect l="-3120" r="-3120"/>
          <a:stretch/>
        </p:blipFill>
        <p:spPr>
          <a:xfrm>
            <a:off x="9782251" y="3885286"/>
            <a:ext cx="75895" cy="114300"/>
          </a:xfrm>
          <a:prstGeom prst="rect">
            <a:avLst/>
          </a:prstGeom>
        </p:spPr>
      </p:pic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19"/>
          <a:srcRect l="-3" r="-3"/>
          <a:stretch/>
        </p:blipFill>
        <p:spPr>
          <a:xfrm>
            <a:off x="7667244" y="5618074"/>
            <a:ext cx="2305202" cy="342900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8380476" y="5618074"/>
            <a:ext cx="1668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Nuovo Elemento </a:t>
            </a:r>
            <a:endParaRPr lang="en-US" sz="1000" dirty="0"/>
          </a:p>
        </p:txBody>
      </p:sp>
      <p:pic>
        <p:nvPicPr>
          <p:cNvPr id="68" name="Image 21" descr="preencoded.png"/>
          <p:cNvPicPr>
            <a:picLocks noChangeAspect="1"/>
          </p:cNvPicPr>
          <p:nvPr/>
        </p:nvPicPr>
        <p:blipFill>
          <a:blip r:embed="rId20"/>
          <a:srcRect t="-1100" b="-1100"/>
          <a:stretch/>
        </p:blipFill>
        <p:spPr>
          <a:xfrm>
            <a:off x="8155534" y="5720486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951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856793"/>
            <a:ext cx="12191695" cy="38405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9715500" y="237744"/>
            <a:ext cx="2018995" cy="400507"/>
          </a:xfrm>
          <a:prstGeom prst="roundRect">
            <a:avLst>
              <a:gd name="adj" fmla="val 86975"/>
            </a:avLst>
          </a:prstGeom>
          <a:solidFill>
            <a:srgbClr val="F8F9FA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rcRect t="-481" b="-481"/>
          <a:stretch/>
        </p:blipFill>
        <p:spPr>
          <a:xfrm>
            <a:off x="8600901" y="5537177"/>
            <a:ext cx="190195" cy="1920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481" b="-481"/>
          <a:stretch/>
        </p:blipFill>
        <p:spPr>
          <a:xfrm>
            <a:off x="8572500" y="4142563"/>
            <a:ext cx="190195" cy="1920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t="-481" b="-481"/>
          <a:stretch/>
        </p:blipFill>
        <p:spPr>
          <a:xfrm>
            <a:off x="8566099" y="3343581"/>
            <a:ext cx="190195" cy="1920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t="-481" b="-481"/>
          <a:stretch/>
        </p:blipFill>
        <p:spPr>
          <a:xfrm>
            <a:off x="8572500" y="4921428"/>
            <a:ext cx="190195" cy="19202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 t="-481" b="-481"/>
          <a:stretch/>
        </p:blipFill>
        <p:spPr>
          <a:xfrm>
            <a:off x="8572500" y="2615313"/>
            <a:ext cx="190195" cy="19202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rcRect t="-481" b="-481"/>
          <a:stretch/>
        </p:blipFill>
        <p:spPr>
          <a:xfrm>
            <a:off x="8607302" y="1881151"/>
            <a:ext cx="190195" cy="19202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476402" y="6381598"/>
            <a:ext cx="8096098" cy="381305"/>
          </a:xfrm>
          <a:prstGeom prst="roundRect">
            <a:avLst>
              <a:gd name="adj" fmla="val 7194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6402" y="1047902"/>
            <a:ext cx="8115300" cy="5257800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9"/>
          <a:srcRect l="406" r="-704"/>
          <a:stretch>
            <a:fillRect/>
          </a:stretch>
        </p:blipFill>
        <p:spPr>
          <a:xfrm>
            <a:off x="514456" y="1376171"/>
            <a:ext cx="8039191" cy="4524452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476402" y="190195"/>
            <a:ext cx="7734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Sviluppo Low-Code</a:t>
            </a:r>
            <a:endParaRPr lang="en-US" sz="1000" dirty="0"/>
          </a:p>
        </p:txBody>
      </p:sp>
      <p:sp>
        <p:nvSpPr>
          <p:cNvPr id="17" name="Text 7"/>
          <p:cNvSpPr txBox="1"/>
          <p:nvPr/>
        </p:nvSpPr>
        <p:spPr>
          <a:xfrm>
            <a:off x="476402" y="409651"/>
            <a:ext cx="77349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Interfaccia Power Apps Studio</a:t>
            </a:r>
            <a:endParaRPr lang="en-US" sz="24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0"/>
          <a:srcRect t="-842" b="-842"/>
          <a:stretch/>
        </p:blipFill>
        <p:spPr>
          <a:xfrm>
            <a:off x="9858146" y="342900"/>
            <a:ext cx="190195" cy="171907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0144354" y="333756"/>
            <a:ext cx="15462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Navigazione Studio</a:t>
            </a:r>
            <a:endParaRPr lang="en-US" sz="1000" dirty="0"/>
          </a:p>
        </p:txBody>
      </p:sp>
      <p:sp>
        <p:nvSpPr>
          <p:cNvPr id="20" name="Shape 9"/>
          <p:cNvSpPr/>
          <p:nvPr/>
        </p:nvSpPr>
        <p:spPr>
          <a:xfrm>
            <a:off x="8887053" y="5418821"/>
            <a:ext cx="228600" cy="22860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0"/>
          <p:cNvSpPr txBox="1"/>
          <p:nvPr/>
        </p:nvSpPr>
        <p:spPr>
          <a:xfrm>
            <a:off x="8968435" y="5452654"/>
            <a:ext cx="143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11"/>
          <p:cNvSpPr txBox="1"/>
          <p:nvPr/>
        </p:nvSpPr>
        <p:spPr>
          <a:xfrm>
            <a:off x="9210751" y="5418821"/>
            <a:ext cx="21598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Tree View</a:t>
            </a:r>
            <a:endParaRPr lang="en-US" sz="900" dirty="0"/>
          </a:p>
        </p:txBody>
      </p:sp>
      <p:sp>
        <p:nvSpPr>
          <p:cNvPr id="23" name="Text 12"/>
          <p:cNvSpPr txBox="1"/>
          <p:nvPr/>
        </p:nvSpPr>
        <p:spPr>
          <a:xfrm>
            <a:off x="9210751" y="5609931"/>
            <a:ext cx="2153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gerarchica di tutte le schermate e i controlli dell'app</a:t>
            </a:r>
            <a:endParaRPr lang="en-US" sz="800" dirty="0"/>
          </a:p>
        </p:txBody>
      </p:sp>
      <p:sp>
        <p:nvSpPr>
          <p:cNvPr id="24" name="Shape 13"/>
          <p:cNvSpPr/>
          <p:nvPr/>
        </p:nvSpPr>
        <p:spPr>
          <a:xfrm>
            <a:off x="8915400" y="4047909"/>
            <a:ext cx="228600" cy="22860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4"/>
          <p:cNvSpPr txBox="1"/>
          <p:nvPr/>
        </p:nvSpPr>
        <p:spPr>
          <a:xfrm>
            <a:off x="8996782" y="4080827"/>
            <a:ext cx="143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15"/>
          <p:cNvSpPr txBox="1"/>
          <p:nvPr/>
        </p:nvSpPr>
        <p:spPr>
          <a:xfrm>
            <a:off x="9239098" y="4047909"/>
            <a:ext cx="21598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Formula Bar</a:t>
            </a:r>
            <a:endParaRPr lang="en-US" sz="900" dirty="0"/>
          </a:p>
        </p:txBody>
      </p:sp>
      <p:sp>
        <p:nvSpPr>
          <p:cNvPr id="27" name="Text 16"/>
          <p:cNvSpPr txBox="1"/>
          <p:nvPr/>
        </p:nvSpPr>
        <p:spPr>
          <a:xfrm>
            <a:off x="9239098" y="4238104"/>
            <a:ext cx="2153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Inserimento codice Power Fx per definire la logica del controllo</a:t>
            </a:r>
            <a:endParaRPr lang="en-US" sz="800" dirty="0"/>
          </a:p>
        </p:txBody>
      </p:sp>
      <p:sp>
        <p:nvSpPr>
          <p:cNvPr id="28" name="Shape 17"/>
          <p:cNvSpPr/>
          <p:nvPr/>
        </p:nvSpPr>
        <p:spPr>
          <a:xfrm>
            <a:off x="8915400" y="3258097"/>
            <a:ext cx="228600" cy="228600"/>
          </a:xfrm>
          <a:prstGeom prst="ellipse">
            <a:avLst/>
          </a:prstGeom>
          <a:solidFill>
            <a:srgbClr val="0082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18"/>
          <p:cNvSpPr txBox="1"/>
          <p:nvPr/>
        </p:nvSpPr>
        <p:spPr>
          <a:xfrm>
            <a:off x="8996782" y="3291015"/>
            <a:ext cx="143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9239098" y="3258097"/>
            <a:ext cx="21598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Properties Pane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9239098" y="3448292"/>
            <a:ext cx="2153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 rapida di colori, font, dimensioni e proprietà visive</a:t>
            </a:r>
            <a:endParaRPr lang="en-US" sz="800" dirty="0"/>
          </a:p>
        </p:txBody>
      </p:sp>
      <p:sp>
        <p:nvSpPr>
          <p:cNvPr id="32" name="Shape 21"/>
          <p:cNvSpPr/>
          <p:nvPr/>
        </p:nvSpPr>
        <p:spPr>
          <a:xfrm>
            <a:off x="8908999" y="4818717"/>
            <a:ext cx="228600" cy="228600"/>
          </a:xfrm>
          <a:prstGeom prst="ellipse">
            <a:avLst/>
          </a:prstGeom>
          <a:solidFill>
            <a:srgbClr val="C239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22"/>
          <p:cNvSpPr txBox="1"/>
          <p:nvPr/>
        </p:nvSpPr>
        <p:spPr>
          <a:xfrm>
            <a:off x="8990381" y="4852550"/>
            <a:ext cx="143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23"/>
          <p:cNvSpPr txBox="1"/>
          <p:nvPr/>
        </p:nvSpPr>
        <p:spPr>
          <a:xfrm>
            <a:off x="9232697" y="4818717"/>
            <a:ext cx="1867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Canvas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9232697" y="5009827"/>
            <a:ext cx="21314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Area di design Drag &amp; Drop per l'app</a:t>
            </a:r>
            <a:endParaRPr lang="en-US" sz="800" dirty="0"/>
          </a:p>
        </p:txBody>
      </p:sp>
      <p:sp>
        <p:nvSpPr>
          <p:cNvPr id="36" name="Shape 25"/>
          <p:cNvSpPr/>
          <p:nvPr/>
        </p:nvSpPr>
        <p:spPr>
          <a:xfrm>
            <a:off x="8908999" y="2487629"/>
            <a:ext cx="228600" cy="22860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26"/>
          <p:cNvSpPr txBox="1"/>
          <p:nvPr/>
        </p:nvSpPr>
        <p:spPr>
          <a:xfrm>
            <a:off x="8990381" y="2520547"/>
            <a:ext cx="143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9232697" y="2487629"/>
            <a:ext cx="21598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Editing</a:t>
            </a:r>
            <a:endParaRPr lang="en-US" sz="900" dirty="0"/>
          </a:p>
        </p:txBody>
      </p:sp>
      <p:sp>
        <p:nvSpPr>
          <p:cNvPr id="39" name="Text 28"/>
          <p:cNvSpPr txBox="1"/>
          <p:nvPr/>
        </p:nvSpPr>
        <p:spPr>
          <a:xfrm>
            <a:off x="9232697" y="2677824"/>
            <a:ext cx="2153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Area di editing per testare l'app in tempo </a:t>
            </a:r>
            <a:r>
              <a:rPr lang="en-US" sz="800" dirty="0" err="1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reale</a:t>
            </a: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800" dirty="0" err="1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salvarla</a:t>
            </a: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ed </a:t>
            </a:r>
            <a:r>
              <a:rPr lang="en-US" sz="800" dirty="0" err="1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eseguirla</a:t>
            </a:r>
            <a:endParaRPr lang="en-US" sz="800" dirty="0"/>
          </a:p>
        </p:txBody>
      </p:sp>
      <p:sp>
        <p:nvSpPr>
          <p:cNvPr id="40" name="Shape 29"/>
          <p:cNvSpPr/>
          <p:nvPr/>
        </p:nvSpPr>
        <p:spPr>
          <a:xfrm>
            <a:off x="8915400" y="1787761"/>
            <a:ext cx="228600" cy="2286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0"/>
          <p:cNvSpPr txBox="1"/>
          <p:nvPr/>
        </p:nvSpPr>
        <p:spPr>
          <a:xfrm>
            <a:off x="8996782" y="1820679"/>
            <a:ext cx="143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31"/>
          <p:cNvSpPr txBox="1"/>
          <p:nvPr/>
        </p:nvSpPr>
        <p:spPr>
          <a:xfrm>
            <a:off x="9239098" y="1787761"/>
            <a:ext cx="21598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Sezione</a:t>
            </a:r>
            <a:r>
              <a:rPr lang="en-US" sz="9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 </a:t>
            </a:r>
            <a:r>
              <a:rPr lang="en-US" sz="900" b="1" dirty="0" err="1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lavoro</a:t>
            </a:r>
            <a:endParaRPr lang="en-US" sz="900" dirty="0"/>
          </a:p>
        </p:txBody>
      </p:sp>
      <p:sp>
        <p:nvSpPr>
          <p:cNvPr id="43" name="Text 32"/>
          <p:cNvSpPr txBox="1"/>
          <p:nvPr/>
        </p:nvSpPr>
        <p:spPr>
          <a:xfrm>
            <a:off x="9239098" y="1977956"/>
            <a:ext cx="263947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delle connessioni ai dati (SharePoint, SQL), </a:t>
            </a:r>
            <a:r>
              <a:rPr lang="en-US" sz="800" dirty="0" err="1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inserimento</a:t>
            </a: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800" dirty="0" err="1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nuove</a:t>
            </a: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800" dirty="0" err="1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pagine</a:t>
            </a: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etc.</a:t>
            </a:r>
            <a:endParaRPr lang="en-US" sz="8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19049" y="6505956"/>
            <a:ext cx="133502" cy="1335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6486754"/>
            <a:ext cx="7734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sezione è numerata per facilitare la navigazione nell'interfaccia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1429207" y="-476402"/>
            <a:ext cx="3810305" cy="3810305"/>
          </a:xfrm>
          <a:prstGeom prst="ellipse">
            <a:avLst/>
          </a:prstGeom>
          <a:solidFill>
            <a:srgbClr val="74277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0001707" y="4286707"/>
            <a:ext cx="3333902" cy="3333902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9029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51890"/>
            <a:ext cx="12191695" cy="38405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9715500" y="286207"/>
            <a:ext cx="1923898" cy="400507"/>
          </a:xfrm>
          <a:prstGeom prst="roundRect">
            <a:avLst>
              <a:gd name="adj" fmla="val 86975"/>
            </a:avLst>
          </a:prstGeom>
          <a:solidFill>
            <a:srgbClr val="FDF5FF"/>
          </a:solidFill>
          <a:ln w="12700">
            <a:solidFill>
              <a:srgbClr val="E1C4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66598" y="1333195"/>
            <a:ext cx="3353105" cy="2447849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397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666598" y="1333195"/>
            <a:ext cx="3353105" cy="57607"/>
          </a:xfrm>
          <a:prstGeom prst="roundRect">
            <a:avLst>
              <a:gd name="adj" fmla="val 148231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429354" y="1333195"/>
            <a:ext cx="3353105" cy="2447849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397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429354" y="1333195"/>
            <a:ext cx="3353105" cy="57607"/>
          </a:xfrm>
          <a:prstGeom prst="roundRect">
            <a:avLst>
              <a:gd name="adj" fmla="val 148231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8191195" y="1333195"/>
            <a:ext cx="3353105" cy="2447849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397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8191195" y="1333195"/>
            <a:ext cx="3353105" cy="57607"/>
          </a:xfrm>
          <a:prstGeom prst="roundRect">
            <a:avLst>
              <a:gd name="adj" fmla="val 148231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66598" y="4000500"/>
            <a:ext cx="3353105" cy="2447849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397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66598" y="4000500"/>
            <a:ext cx="3353105" cy="57607"/>
          </a:xfrm>
          <a:prstGeom prst="roundRect">
            <a:avLst>
              <a:gd name="adj" fmla="val 148231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429354" y="4000500"/>
            <a:ext cx="3353105" cy="2447849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397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429354" y="4000500"/>
            <a:ext cx="3353105" cy="57607"/>
          </a:xfrm>
          <a:prstGeom prst="roundRect">
            <a:avLst>
              <a:gd name="adj" fmla="val 148231"/>
            </a:avLst>
          </a:prstGeom>
          <a:solidFill>
            <a:srgbClr val="008272"/>
          </a:solidFill>
          <a:ln w="12700">
            <a:solidFill>
              <a:srgbClr val="0082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8191195" y="4000500"/>
            <a:ext cx="3353105" cy="2447849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397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8191195" y="4000500"/>
            <a:ext cx="3353105" cy="57607"/>
          </a:xfrm>
          <a:prstGeom prst="roundRect">
            <a:avLst>
              <a:gd name="adj" fmla="val 148231"/>
            </a:avLst>
          </a:prstGeom>
          <a:solidFill>
            <a:srgbClr val="B4009E"/>
          </a:solidFill>
          <a:ln w="12700">
            <a:solidFill>
              <a:srgbClr val="B400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 txBox="1"/>
          <p:nvPr/>
        </p:nvSpPr>
        <p:spPr>
          <a:xfrm>
            <a:off x="571500" y="190195"/>
            <a:ext cx="4877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Sviluppo App Enterprise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" y="381305"/>
            <a:ext cx="77349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Features Avanzate Power Apps</a:t>
            </a:r>
            <a:endParaRPr lang="en-US" sz="25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2"/>
          <a:srcRect t="-842" b="-842"/>
          <a:stretch/>
        </p:blipFill>
        <p:spPr>
          <a:xfrm>
            <a:off x="9834372" y="390449"/>
            <a:ext cx="190195" cy="17190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0144354" y="381305"/>
            <a:ext cx="146121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18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Apps Studio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048256" y="1571854"/>
            <a:ext cx="571500" cy="571500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10105" y="1733702"/>
            <a:ext cx="247802" cy="24780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00100" y="2286000"/>
            <a:ext cx="3067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Componenti Riutilizzabili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19302" y="2590495"/>
            <a:ext cx="30294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Architettura a componenti per creare elementi UI personalizzati (es. header, menu) e riutilizzarli in più schermate della stessa app.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810098" y="1571854"/>
            <a:ext cx="571500" cy="571500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rcRect l="-606" r="-606"/>
          <a:stretch/>
        </p:blipFill>
        <p:spPr>
          <a:xfrm>
            <a:off x="5986577" y="1733702"/>
            <a:ext cx="219456" cy="24780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4497934" y="2286000"/>
            <a:ext cx="319765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Dati: Variabili e Collections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4581144" y="2590495"/>
            <a:ext cx="30294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Utilizzo di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ClearCollect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manipolare tabelle in memoria locale e variabili (Context/Global) per gestire stati complessi e logiche.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9572854" y="1571854"/>
            <a:ext cx="571500" cy="571500"/>
          </a:xfrm>
          <a:prstGeom prst="ellipse">
            <a:avLst/>
          </a:prstGeom>
          <a:solidFill>
            <a:srgbClr val="F2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734702" y="1733702"/>
            <a:ext cx="247802" cy="24780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324698" y="2286000"/>
            <a:ext cx="3067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Delegation dei Dati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8343900" y="2590495"/>
            <a:ext cx="302940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Fondamentale per le performance: delegare l'elaborazione di filtri (Filter, Search) al server dati invece di scaricare migliaia di record sull'app.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048256" y="4238244"/>
            <a:ext cx="571500" cy="571500"/>
          </a:xfrm>
          <a:prstGeom prst="ellipse">
            <a:avLst/>
          </a:prstGeom>
          <a:solidFill>
            <a:srgbClr val="FFE6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rcRect l="-606" r="-606"/>
          <a:stretch/>
        </p:blipFill>
        <p:spPr>
          <a:xfrm>
            <a:off x="2223821" y="4401007"/>
            <a:ext cx="219456" cy="24780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00100" y="4953305"/>
            <a:ext cx="3067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Patch vs SubmitForm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819302" y="5257800"/>
            <a:ext cx="302940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Supera i limiti dei form standard usando la funzione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Patch()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aggiornamenti parziali di record, salvataggi multipli e controllo totale sui dati scritti.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810098" y="4238244"/>
            <a:ext cx="571500" cy="5715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7"/>
          <a:srcRect t="-476" b="-476"/>
          <a:stretch/>
        </p:blipFill>
        <p:spPr>
          <a:xfrm>
            <a:off x="5958230" y="4401007"/>
            <a:ext cx="276149" cy="24780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4562856" y="4953305"/>
            <a:ext cx="3067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 Libraries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4581144" y="5257800"/>
            <a:ext cx="302940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Contenitori centralizzati per condividere componenti tra molteplici app. Modifica un componente nella libreria per aggiornarlo ovunque sia utilizzato.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9572854" y="4238244"/>
            <a:ext cx="571500" cy="571500"/>
          </a:xfrm>
          <a:prstGeom prst="ellipse">
            <a:avLst/>
          </a:prstGeom>
          <a:solidFill>
            <a:srgbClr val="FCE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8"/>
          <a:srcRect l="-1169" r="-1169"/>
          <a:stretch/>
        </p:blipFill>
        <p:spPr>
          <a:xfrm>
            <a:off x="9763049" y="4401007"/>
            <a:ext cx="190195" cy="24780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8324698" y="4953305"/>
            <a:ext cx="3067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48" name="Text 39"/>
          <p:cNvSpPr txBox="1"/>
          <p:nvPr/>
        </p:nvSpPr>
        <p:spPr>
          <a:xfrm>
            <a:off x="8343900" y="5257800"/>
            <a:ext cx="302940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Sfrutta i layout auto-adattanti (Horizontal/Vertical container) e formule matematiche sulle dimensioni per app perfette su mobile, tablet e PC.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25571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133856" y="675741"/>
            <a:ext cx="4762195" cy="5600700"/>
          </a:xfrm>
          <a:prstGeom prst="roundRect">
            <a:avLst>
              <a:gd name="adj" fmla="val 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429207" y="3524097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1810512" y="2694737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Pixel-Perfect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10512" y="3000146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Controllo completo su layout e interfaccia, iniziando da un foglio bianco ("blank canvas").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29207" y="4600346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1810512" y="3770985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Utente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10512" y="4076395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Ideale per task specifici e app mobile personalizzate su misura per l'utente.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810512" y="4847234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Flessibilità Dati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810512" y="5152644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connette facilmente a oltre 500 fonti dati diverse (SharePoint, Excel, SQL, ecc.).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5510" y="5819241"/>
            <a:ext cx="4819802" cy="448056"/>
          </a:xfrm>
          <a:prstGeom prst="rect">
            <a:avLst/>
          </a:prstGeom>
          <a:solidFill>
            <a:srgbClr val="F3E5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1100" b="1" kern="0" spc="57" dirty="0">
                <a:solidFill>
                  <a:srgbClr val="7627B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"Creatività al primo posto"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52982" y="2766060"/>
            <a:ext cx="190195" cy="190195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76756" y="3842309"/>
            <a:ext cx="142646" cy="190195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76756" y="4918557"/>
            <a:ext cx="142646" cy="19019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143000" y="684885"/>
            <a:ext cx="4743907" cy="1723644"/>
          </a:xfrm>
          <a:prstGeom prst="roundRect">
            <a:avLst>
              <a:gd name="adj" fmla="val 7034"/>
            </a:avLst>
          </a:prstGeom>
          <a:solidFill>
            <a:srgbClr val="7627B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3229661" y="923544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00654" y="1094537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76502" y="1637690"/>
            <a:ext cx="4476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Canvas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276502" y="1980590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9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Libertà Creativa Totale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277356" y="675741"/>
            <a:ext cx="4762195" cy="5600700"/>
          </a:xfrm>
          <a:prstGeom prst="roundRect">
            <a:avLst>
              <a:gd name="adj" fmla="val 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8"/>
          <p:cNvSpPr/>
          <p:nvPr/>
        </p:nvSpPr>
        <p:spPr>
          <a:xfrm>
            <a:off x="6572707" y="3524097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 txBox="1"/>
          <p:nvPr/>
        </p:nvSpPr>
        <p:spPr>
          <a:xfrm>
            <a:off x="6954012" y="2694737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Data-First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954012" y="3000146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L'interfaccia viene generata automaticamente basandosi sul modello dati in Dataverse.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572707" y="4600346"/>
            <a:ext cx="41724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2"/>
          <p:cNvSpPr txBox="1"/>
          <p:nvPr/>
        </p:nvSpPr>
        <p:spPr>
          <a:xfrm>
            <a:off x="6954012" y="3770985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Processi Complessi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954012" y="4076395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Progettata per gestire logiche di business complesse e grandi volumi di dati.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954012" y="4847234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Standardizzazione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954012" y="5152644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Layout uniforme e responsivo, ideale per dashboard amministrative e back-office.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249010" y="5819241"/>
            <a:ext cx="4819802" cy="448056"/>
          </a:xfrm>
          <a:prstGeom prst="rect">
            <a:avLst/>
          </a:prstGeom>
          <a:solidFill>
            <a:srgbClr val="E6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1100" b="1" kern="0" spc="57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"Dati al primo posto"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605626" y="2766060"/>
            <a:ext cx="171907" cy="190195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72707" y="3842309"/>
            <a:ext cx="237744" cy="190195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96482" y="4918557"/>
            <a:ext cx="190195" cy="1901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286500" y="684885"/>
            <a:ext cx="4743907" cy="1723644"/>
          </a:xfrm>
          <a:prstGeom prst="roundRect">
            <a:avLst>
              <a:gd name="adj" fmla="val 7034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8"/>
          <p:cNvSpPr/>
          <p:nvPr/>
        </p:nvSpPr>
        <p:spPr>
          <a:xfrm>
            <a:off x="8373161" y="923544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8530438" y="1094537"/>
            <a:ext cx="256946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420002" y="1637690"/>
            <a:ext cx="4476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Model-driven</a:t>
            </a:r>
            <a:endParaRPr lang="en-US" sz="1800" dirty="0"/>
          </a:p>
        </p:txBody>
      </p:sp>
      <p:sp>
        <p:nvSpPr>
          <p:cNvPr id="40" name="Text 30"/>
          <p:cNvSpPr txBox="1"/>
          <p:nvPr/>
        </p:nvSpPr>
        <p:spPr>
          <a:xfrm>
            <a:off x="6420002" y="1980590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Dati Solida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619049" y="6274003"/>
            <a:ext cx="11048695" cy="629107"/>
          </a:xfrm>
          <a:prstGeom prst="roundRect">
            <a:avLst>
              <a:gd name="adj" fmla="val 35236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32"/>
          <p:cNvSpPr/>
          <p:nvPr/>
        </p:nvSpPr>
        <p:spPr>
          <a:xfrm>
            <a:off x="619049" y="6274003"/>
            <a:ext cx="47549" cy="629107"/>
          </a:xfrm>
          <a:prstGeom prst="roundRect">
            <a:avLst>
              <a:gd name="adj" fmla="val 466199"/>
            </a:avLst>
          </a:prstGeom>
          <a:solidFill>
            <a:srgbClr val="7627BB"/>
          </a:solidFill>
          <a:ln w="12700">
            <a:solidFill>
              <a:srgbClr val="7627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847088" y="6470599"/>
            <a:ext cx="171907" cy="2286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2132381" y="6464198"/>
            <a:ext cx="12472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Practice:</a:t>
            </a:r>
            <a:endParaRPr lang="en-US" sz="12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556102" y="6488887"/>
            <a:ext cx="190195" cy="19019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3860597" y="6464198"/>
            <a:ext cx="28565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Scegli Canvas per UX su misura</a:t>
            </a:r>
            <a:endParaRPr lang="en-US" sz="12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rcRect l="-363" r="-363"/>
          <a:stretch/>
        </p:blipFill>
        <p:spPr>
          <a:xfrm>
            <a:off x="6634887" y="6503517"/>
            <a:ext cx="142646" cy="161849"/>
          </a:xfrm>
          <a:prstGeom prst="rect">
            <a:avLst/>
          </a:prstGeom>
        </p:spPr>
      </p:pic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158838" y="6488887"/>
            <a:ext cx="190195" cy="190195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463333" y="6464198"/>
            <a:ext cx="359816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Scegli Model-driven per la gestione dati</a:t>
            </a:r>
            <a:endParaRPr lang="en-US" sz="1200" dirty="0"/>
          </a:p>
        </p:txBody>
      </p:sp>
      <p:sp>
        <p:nvSpPr>
          <p:cNvPr id="50" name="Shape 36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Shape 37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7627BB"/>
          </a:solidFill>
          <a:ln w="12700">
            <a:solidFill>
              <a:srgbClr val="7627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38"/>
          <p:cNvSpPr txBox="1"/>
          <p:nvPr/>
        </p:nvSpPr>
        <p:spPr>
          <a:xfrm>
            <a:off x="571500" y="0"/>
            <a:ext cx="4914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Tipologie di Applicazioni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571500" y="228600"/>
            <a:ext cx="5718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Canvas vs Model-driven</a:t>
            </a:r>
            <a:endParaRPr lang="en-US" sz="2700" dirty="0"/>
          </a:p>
        </p:txBody>
      </p:sp>
      <p:sp>
        <p:nvSpPr>
          <p:cNvPr id="54" name="Shape 40"/>
          <p:cNvSpPr/>
          <p:nvPr/>
        </p:nvSpPr>
        <p:spPr>
          <a:xfrm>
            <a:off x="10153498" y="123444"/>
            <a:ext cx="1476756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4"/>
          <a:srcRect l="-33" r="-33"/>
          <a:stretch/>
        </p:blipFill>
        <p:spPr>
          <a:xfrm>
            <a:off x="10352837" y="228600"/>
            <a:ext cx="171907" cy="152705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10639044" y="123444"/>
            <a:ext cx="8485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Apps</a:t>
            </a:r>
            <a:endParaRPr lang="en-US" sz="100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848502" y="3666744"/>
            <a:ext cx="476402" cy="476402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5820156" y="3666744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F3E5F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828800" y="1429207"/>
            <a:ext cx="182880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4267505" y="1429207"/>
            <a:ext cx="182880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6705295" y="1429207"/>
            <a:ext cx="1828800" cy="3840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9144000" y="1429207"/>
            <a:ext cx="1828800" cy="384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3648456"/>
            <a:ext cx="1990649" cy="17145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5"/>
          <p:cNvSpPr txBox="1"/>
          <p:nvPr/>
        </p:nvSpPr>
        <p:spPr>
          <a:xfrm>
            <a:off x="676656" y="3839566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Vai alla Lista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680314" y="4186123"/>
            <a:ext cx="1773936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Accedi al sito SharePoint e naviga nella lista dati che contiene le informazioni da gestire nell'app.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9965" y="2457907"/>
            <a:ext cx="952805" cy="95280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18158" y="2496312"/>
            <a:ext cx="286207" cy="28620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679753" y="2496312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rcRect l="-44" r="-44"/>
          <a:stretch/>
        </p:blipFill>
        <p:spPr>
          <a:xfrm>
            <a:off x="1308506" y="2705710"/>
            <a:ext cx="514807" cy="457200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2836469" y="3648456"/>
            <a:ext cx="1990649" cy="17145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9"/>
          <p:cNvSpPr txBox="1"/>
          <p:nvPr/>
        </p:nvSpPr>
        <p:spPr>
          <a:xfrm>
            <a:off x="2862072" y="3839566"/>
            <a:ext cx="19394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Avvia Integrazione</a:t>
            </a:r>
            <a:endParaRPr lang="en-US" sz="1300" dirty="0"/>
          </a:p>
        </p:txBody>
      </p:sp>
      <p:sp>
        <p:nvSpPr>
          <p:cNvPr id="19" name="Text 10"/>
          <p:cNvSpPr txBox="1"/>
          <p:nvPr/>
        </p:nvSpPr>
        <p:spPr>
          <a:xfrm>
            <a:off x="2945282" y="4186123"/>
            <a:ext cx="1773936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Nella barra dei comandi in alto, seleziona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&gt;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Apps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&gt;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un'app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54934" y="2457907"/>
            <a:ext cx="952805" cy="95280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83126" y="2496312"/>
            <a:ext cx="286207" cy="286207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3944722" y="2496312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3687775" y="2705710"/>
            <a:ext cx="286207" cy="45720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5101438" y="3648456"/>
            <a:ext cx="1990649" cy="1895551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13"/>
          <p:cNvSpPr txBox="1"/>
          <p:nvPr/>
        </p:nvSpPr>
        <p:spPr>
          <a:xfrm>
            <a:off x="5206594" y="3839566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Generazione Auto</a:t>
            </a:r>
            <a:endParaRPr lang="en-US" sz="1300" dirty="0"/>
          </a:p>
        </p:txBody>
      </p:sp>
      <p:sp>
        <p:nvSpPr>
          <p:cNvPr id="26" name="Text 14"/>
          <p:cNvSpPr txBox="1"/>
          <p:nvPr/>
        </p:nvSpPr>
        <p:spPr>
          <a:xfrm>
            <a:off x="5210251" y="4186123"/>
            <a:ext cx="1773936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Il sistema crea automaticamente un'app completa di 3 schermate: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(elenco),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Detail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(dettaglio) ed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(modifica). 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19902" y="2457907"/>
            <a:ext cx="952805" cy="952805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095" y="2496312"/>
            <a:ext cx="286207" cy="286207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6210605" y="2496312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9"/>
          <a:srcRect l="-44" r="-44"/>
          <a:stretch/>
        </p:blipFill>
        <p:spPr>
          <a:xfrm>
            <a:off x="5838444" y="2705710"/>
            <a:ext cx="514807" cy="457200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7366406" y="3648456"/>
            <a:ext cx="1990649" cy="17145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17"/>
          <p:cNvSpPr txBox="1"/>
          <p:nvPr/>
        </p:nvSpPr>
        <p:spPr>
          <a:xfrm>
            <a:off x="7471562" y="3839566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Personalizza</a:t>
            </a:r>
            <a:endParaRPr lang="en-US" sz="1300" dirty="0"/>
          </a:p>
        </p:txBody>
      </p:sp>
      <p:sp>
        <p:nvSpPr>
          <p:cNvPr id="33" name="Text 18"/>
          <p:cNvSpPr txBox="1"/>
          <p:nvPr/>
        </p:nvSpPr>
        <p:spPr>
          <a:xfrm>
            <a:off x="7475220" y="4186123"/>
            <a:ext cx="1773936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Power Apps Studio per modificare layout, colori, ordinamento campi e aggiungere il logo aziendale.</a:t>
            </a:r>
            <a:endParaRPr lang="en-US" sz="10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84871" y="2457907"/>
            <a:ext cx="952805" cy="952805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13064" y="2496312"/>
            <a:ext cx="286207" cy="286207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8475574" y="2496312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32674" y="2705710"/>
            <a:ext cx="457200" cy="457200"/>
          </a:xfrm>
          <a:prstGeom prst="rect">
            <a:avLst/>
          </a:prstGeom>
        </p:spPr>
      </p:pic>
      <p:sp>
        <p:nvSpPr>
          <p:cNvPr id="38" name="Shape 20"/>
          <p:cNvSpPr/>
          <p:nvPr/>
        </p:nvSpPr>
        <p:spPr>
          <a:xfrm>
            <a:off x="9631375" y="3648456"/>
            <a:ext cx="1990649" cy="17145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Text 21"/>
          <p:cNvSpPr txBox="1"/>
          <p:nvPr/>
        </p:nvSpPr>
        <p:spPr>
          <a:xfrm>
            <a:off x="9736531" y="3839566"/>
            <a:ext cx="1781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Pubblica</a:t>
            </a:r>
            <a:endParaRPr lang="en-US" sz="1300" dirty="0"/>
          </a:p>
        </p:txBody>
      </p:sp>
      <p:sp>
        <p:nvSpPr>
          <p:cNvPr id="40" name="Text 22"/>
          <p:cNvSpPr txBox="1"/>
          <p:nvPr/>
        </p:nvSpPr>
        <p:spPr>
          <a:xfrm>
            <a:off x="9740189" y="4186123"/>
            <a:ext cx="1773936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 le modifiche, pubblica l'app e condividi il link con i colleghi o l'intero team per l'accesso immediato.</a:t>
            </a:r>
            <a:endParaRPr lang="en-US" sz="1000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149840" y="2457907"/>
            <a:ext cx="952805" cy="952805"/>
          </a:xfrm>
          <a:prstGeom prst="rect">
            <a:avLst/>
          </a:prstGeom>
        </p:spPr>
      </p:pic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78033" y="2496312"/>
            <a:ext cx="286207" cy="286207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10740542" y="2496312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3"/>
          <a:srcRect l="-44" r="-44"/>
          <a:stretch/>
        </p:blipFill>
        <p:spPr>
          <a:xfrm>
            <a:off x="10369296" y="2705710"/>
            <a:ext cx="514807" cy="457200"/>
          </a:xfrm>
          <a:prstGeom prst="rect">
            <a:avLst/>
          </a:prstGeom>
        </p:spPr>
      </p:pic>
      <p:sp>
        <p:nvSpPr>
          <p:cNvPr id="45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26"/>
          <p:cNvSpPr txBox="1"/>
          <p:nvPr/>
        </p:nvSpPr>
        <p:spPr>
          <a:xfrm>
            <a:off x="571500" y="152705"/>
            <a:ext cx="5420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Sviluppo Rapido Low-Code</a:t>
            </a:r>
            <a:endParaRPr lang="en-US" sz="1000" dirty="0"/>
          </a:p>
        </p:txBody>
      </p:sp>
      <p:sp>
        <p:nvSpPr>
          <p:cNvPr id="48" name="Text 27"/>
          <p:cNvSpPr txBox="1"/>
          <p:nvPr/>
        </p:nvSpPr>
        <p:spPr>
          <a:xfrm>
            <a:off x="571500" y="381305"/>
            <a:ext cx="65690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Creare App da Liste SharePoint</a:t>
            </a:r>
            <a:endParaRPr lang="en-US" sz="2700" dirty="0"/>
          </a:p>
        </p:txBody>
      </p:sp>
      <p:sp>
        <p:nvSpPr>
          <p:cNvPr id="49" name="Shape 28"/>
          <p:cNvSpPr/>
          <p:nvPr/>
        </p:nvSpPr>
        <p:spPr>
          <a:xfrm>
            <a:off x="9321394" y="276149"/>
            <a:ext cx="2305202" cy="362102"/>
          </a:xfrm>
          <a:prstGeom prst="roundRect">
            <a:avLst>
              <a:gd name="adj" fmla="val 10632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19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9521647" y="381305"/>
            <a:ext cx="133502" cy="152705"/>
          </a:xfrm>
          <a:prstGeom prst="rect">
            <a:avLst/>
          </a:prstGeom>
        </p:spPr>
      </p:pic>
      <p:sp>
        <p:nvSpPr>
          <p:cNvPr id="51" name="Text 29"/>
          <p:cNvSpPr txBox="1"/>
          <p:nvPr/>
        </p:nvSpPr>
        <p:spPr>
          <a:xfrm>
            <a:off x="9768535" y="276149"/>
            <a:ext cx="172364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D28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Generazione Automatica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902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951890"/>
            <a:ext cx="12191695" cy="38405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237744"/>
            <a:ext cx="7734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7427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 Dati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457200"/>
            <a:ext cx="7810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Connessioni Dati in Power Apps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9334195" y="286207"/>
            <a:ext cx="2305202" cy="400507"/>
          </a:xfrm>
          <a:prstGeom prst="roundRect">
            <a:avLst>
              <a:gd name="adj" fmla="val 8697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6" b="-6"/>
          <a:stretch/>
        </p:blipFill>
        <p:spPr>
          <a:xfrm>
            <a:off x="4762195" y="3762756"/>
            <a:ext cx="2667305" cy="12957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1695" y="1429207"/>
            <a:ext cx="2343607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761695" y="1429207"/>
            <a:ext cx="57607" cy="1047902"/>
          </a:xfrm>
          <a:prstGeom prst="roundRect">
            <a:avLst>
              <a:gd name="adj" fmla="val 346322"/>
            </a:avLst>
          </a:prstGeom>
          <a:solidFill>
            <a:srgbClr val="038387"/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761695" y="2952598"/>
            <a:ext cx="2343607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761695" y="2952598"/>
            <a:ext cx="57607" cy="1047902"/>
          </a:xfrm>
          <a:prstGeom prst="roundRect">
            <a:avLst>
              <a:gd name="adj" fmla="val 346322"/>
            </a:avLst>
          </a:prstGeom>
          <a:solidFill>
            <a:srgbClr val="217346"/>
          </a:solidFill>
          <a:ln w="12700">
            <a:solidFill>
              <a:srgbClr val="2173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761695" y="4476902"/>
            <a:ext cx="2343607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61695" y="4476902"/>
            <a:ext cx="57607" cy="1047902"/>
          </a:xfrm>
          <a:prstGeom prst="roundRect">
            <a:avLst>
              <a:gd name="adj" fmla="val 346322"/>
            </a:avLst>
          </a:prstGeom>
          <a:solidFill>
            <a:srgbClr val="008272"/>
          </a:solidFill>
          <a:ln w="12700">
            <a:solidFill>
              <a:srgbClr val="0082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9144000" y="1429207"/>
            <a:ext cx="2343607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11430000" y="1429207"/>
            <a:ext cx="57607" cy="1047902"/>
          </a:xfrm>
          <a:prstGeom prst="roundRect">
            <a:avLst>
              <a:gd name="adj" fmla="val 346322"/>
            </a:avLst>
          </a:prstGeom>
          <a:solidFill>
            <a:srgbClr val="323130"/>
          </a:solidFill>
          <a:ln w="12700">
            <a:solidFill>
              <a:srgbClr val="32313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9144000" y="2952598"/>
            <a:ext cx="2343607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11430000" y="2952598"/>
            <a:ext cx="57607" cy="1047902"/>
          </a:xfrm>
          <a:prstGeom prst="roundRect">
            <a:avLst>
              <a:gd name="adj" fmla="val 346322"/>
            </a:avLst>
          </a:prstGeom>
          <a:solidFill>
            <a:srgbClr val="A91D22"/>
          </a:solidFill>
          <a:ln w="12700">
            <a:solidFill>
              <a:srgbClr val="A91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7"/>
          <p:cNvSpPr/>
          <p:nvPr/>
        </p:nvSpPr>
        <p:spPr>
          <a:xfrm>
            <a:off x="9144000" y="4476902"/>
            <a:ext cx="2343607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8"/>
          <p:cNvSpPr/>
          <p:nvPr/>
        </p:nvSpPr>
        <p:spPr>
          <a:xfrm>
            <a:off x="11430000" y="4476902"/>
            <a:ext cx="57607" cy="1047902"/>
          </a:xfrm>
          <a:prstGeom prst="roundRect">
            <a:avLst>
              <a:gd name="adj" fmla="val 346322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9486900" y="400507"/>
            <a:ext cx="133502" cy="15270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715500" y="381305"/>
            <a:ext cx="188275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Multi-Sorgente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810098" y="3905402"/>
            <a:ext cx="571500" cy="571500"/>
          </a:xfrm>
          <a:prstGeom prst="roundRect">
            <a:avLst>
              <a:gd name="adj" fmla="val 53333"/>
            </a:avLst>
          </a:prstGeom>
          <a:solidFill>
            <a:srgbClr val="FCF2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 txBox="1"/>
          <p:nvPr/>
        </p:nvSpPr>
        <p:spPr>
          <a:xfrm>
            <a:off x="4807915" y="4572000"/>
            <a:ext cx="2575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Apps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765853" y="4839005"/>
            <a:ext cx="26599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Piattaforma di Sviluppo Low-Code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05256" y="1738274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4"/>
          <p:cNvSpPr txBox="1"/>
          <p:nvPr/>
        </p:nvSpPr>
        <p:spPr>
          <a:xfrm>
            <a:off x="1476756" y="1695298"/>
            <a:ext cx="1563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SharePoint Online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76756" y="1952244"/>
            <a:ext cx="105156" cy="1051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638605" y="1933956"/>
            <a:ext cx="1324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 &amp; Librerie Documenti</a:t>
            </a:r>
            <a:endParaRPr lang="en-US" sz="8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76756" y="2242109"/>
            <a:ext cx="105156" cy="10515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38605" y="2222906"/>
            <a:ext cx="138348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Permessi Item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905256" y="3262579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6F4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8"/>
          <p:cNvSpPr txBox="1"/>
          <p:nvPr/>
        </p:nvSpPr>
        <p:spPr>
          <a:xfrm>
            <a:off x="1476756" y="3219602"/>
            <a:ext cx="15051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Online</a:t>
            </a:r>
            <a:endParaRPr lang="en-US" sz="11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76756" y="3476549"/>
            <a:ext cx="105156" cy="10515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638605" y="3457346"/>
            <a:ext cx="110002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Tabelle Strutturate</a:t>
            </a:r>
            <a:endParaRPr lang="en-US" sz="8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76756" y="3640226"/>
            <a:ext cx="105156" cy="10515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638605" y="3621024"/>
            <a:ext cx="15873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Importazione/Esportazione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905256" y="4785970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2"/>
          <p:cNvSpPr txBox="1"/>
          <p:nvPr/>
        </p:nvSpPr>
        <p:spPr>
          <a:xfrm>
            <a:off x="1476756" y="4743907"/>
            <a:ext cx="15051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Forms</a:t>
            </a:r>
            <a:endParaRPr lang="en-US" sz="11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76756" y="5000854"/>
            <a:ext cx="105156" cy="105156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638605" y="4981651"/>
            <a:ext cx="117957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Raccolta Dati Survey</a:t>
            </a:r>
            <a:endParaRPr lang="en-US" sz="8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76756" y="5164531"/>
            <a:ext cx="105156" cy="105156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638605" y="5145329"/>
            <a:ext cx="94091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Trigger Risposte</a:t>
            </a:r>
            <a:endParaRPr lang="en-US" sz="800" dirty="0"/>
          </a:p>
        </p:txBody>
      </p:sp>
      <p:sp>
        <p:nvSpPr>
          <p:cNvPr id="46" name="Shape 35"/>
          <p:cNvSpPr/>
          <p:nvPr/>
        </p:nvSpPr>
        <p:spPr>
          <a:xfrm>
            <a:off x="9286646" y="1738274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6"/>
          <p:cNvSpPr txBox="1"/>
          <p:nvPr/>
        </p:nvSpPr>
        <p:spPr>
          <a:xfrm>
            <a:off x="9858146" y="1695298"/>
            <a:ext cx="15051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Dataverse</a:t>
            </a:r>
            <a:endParaRPr lang="en-US" sz="11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858146" y="1952244"/>
            <a:ext cx="105156" cy="105156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019995" y="1933956"/>
            <a:ext cx="124724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Relazionale</a:t>
            </a:r>
            <a:endParaRPr lang="en-US" sz="8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858146" y="2115922"/>
            <a:ext cx="105156" cy="105156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10019995" y="2097634"/>
            <a:ext cx="15078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Logica di Business &amp; Ruoli</a:t>
            </a:r>
            <a:endParaRPr lang="en-US" sz="800" dirty="0"/>
          </a:p>
        </p:txBody>
      </p:sp>
      <p:sp>
        <p:nvSpPr>
          <p:cNvPr id="52" name="Shape 39"/>
          <p:cNvSpPr/>
          <p:nvPr/>
        </p:nvSpPr>
        <p:spPr>
          <a:xfrm>
            <a:off x="9286646" y="3262579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FDE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40"/>
          <p:cNvSpPr txBox="1"/>
          <p:nvPr/>
        </p:nvSpPr>
        <p:spPr>
          <a:xfrm>
            <a:off x="9858146" y="3219602"/>
            <a:ext cx="15051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Server</a:t>
            </a:r>
            <a:endParaRPr lang="en-US" sz="11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58146" y="3476549"/>
            <a:ext cx="105156" cy="105156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019995" y="3457346"/>
            <a:ext cx="142829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Enterprise &amp; Legacy</a:t>
            </a:r>
            <a:endParaRPr lang="en-US" sz="800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58146" y="3640226"/>
            <a:ext cx="105156" cy="105156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10019995" y="3621024"/>
            <a:ext cx="1324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&amp; Stored Procedure</a:t>
            </a:r>
            <a:endParaRPr lang="en-US" sz="800" dirty="0"/>
          </a:p>
        </p:txBody>
      </p:sp>
      <p:sp>
        <p:nvSpPr>
          <p:cNvPr id="58" name="Shape 43"/>
          <p:cNvSpPr/>
          <p:nvPr/>
        </p:nvSpPr>
        <p:spPr>
          <a:xfrm>
            <a:off x="9286646" y="4785970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44"/>
          <p:cNvSpPr txBox="1"/>
          <p:nvPr/>
        </p:nvSpPr>
        <p:spPr>
          <a:xfrm>
            <a:off x="9858146" y="4743907"/>
            <a:ext cx="165232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Personalizzate</a:t>
            </a:r>
            <a:endParaRPr lang="en-US" sz="1100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58146" y="5000854"/>
            <a:ext cx="105156" cy="105156"/>
          </a:xfrm>
          <a:prstGeom prst="rect">
            <a:avLst/>
          </a:prstGeom>
        </p:spPr>
      </p:pic>
      <p:sp>
        <p:nvSpPr>
          <p:cNvPr id="61" name="Text 45"/>
          <p:cNvSpPr txBox="1"/>
          <p:nvPr/>
        </p:nvSpPr>
        <p:spPr>
          <a:xfrm>
            <a:off x="10019995" y="4981651"/>
            <a:ext cx="142829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Connettori Custom REST</a:t>
            </a:r>
            <a:endParaRPr lang="en-US" sz="800" dirty="0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58146" y="5164531"/>
            <a:ext cx="105156" cy="105156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10019995" y="5145329"/>
            <a:ext cx="14511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Servizi Terzi</a:t>
            </a:r>
            <a:endParaRPr lang="en-US" sz="800" dirty="0"/>
          </a:p>
        </p:txBody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11"/>
          <a:srcRect l="-266" r="-266"/>
          <a:stretch/>
        </p:blipFill>
        <p:spPr>
          <a:xfrm>
            <a:off x="5952744" y="4055364"/>
            <a:ext cx="323698" cy="286207"/>
          </a:xfrm>
          <a:prstGeom prst="rect">
            <a:avLst/>
          </a:prstGeom>
        </p:spPr>
      </p:pic>
      <p:pic>
        <p:nvPicPr>
          <p:cNvPr id="65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24128" y="1861718"/>
            <a:ext cx="190195" cy="190195"/>
          </a:xfrm>
          <a:prstGeom prst="rect">
            <a:avLst/>
          </a:prstGeom>
        </p:spPr>
      </p:pic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47902" y="3386023"/>
            <a:ext cx="142646" cy="190195"/>
          </a:xfrm>
          <a:prstGeom prst="rect">
            <a:avLst/>
          </a:prstGeom>
        </p:spPr>
      </p:pic>
      <p:pic>
        <p:nvPicPr>
          <p:cNvPr id="67" name="Image 18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1033272" y="4910328"/>
            <a:ext cx="171907" cy="190195"/>
          </a:xfrm>
          <a:prstGeom prst="rect">
            <a:avLst/>
          </a:prstGeom>
        </p:spPr>
      </p:pic>
      <p:pic>
        <p:nvPicPr>
          <p:cNvPr id="68" name="Image 19" descr="preencoded.png"/>
          <p:cNvPicPr>
            <a:picLocks noChangeAspect="1"/>
          </p:cNvPicPr>
          <p:nvPr/>
        </p:nvPicPr>
        <p:blipFill>
          <a:blip r:embed="rId15"/>
          <a:srcRect l="-1648" r="-1648"/>
          <a:stretch/>
        </p:blipFill>
        <p:spPr>
          <a:xfrm>
            <a:off x="9415577" y="1861718"/>
            <a:ext cx="171907" cy="190195"/>
          </a:xfrm>
          <a:prstGeom prst="rect">
            <a:avLst/>
          </a:prstGeom>
        </p:spPr>
      </p:pic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405518" y="3386023"/>
            <a:ext cx="190195" cy="190195"/>
          </a:xfrm>
          <a:prstGeom prst="rect">
            <a:avLst/>
          </a:prstGeom>
        </p:spPr>
      </p:pic>
      <p:pic>
        <p:nvPicPr>
          <p:cNvPr id="70" name="Image 21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9405518" y="4910328"/>
            <a:ext cx="2377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238098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t="-404" b="-404"/>
          <a:stretch/>
        </p:blipFill>
        <p:spPr>
          <a:xfrm>
            <a:off x="580644" y="1248156"/>
            <a:ext cx="3504895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2295144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Gallery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0898" y="2691994"/>
            <a:ext cx="310530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 elenchi di dati da qualsiasi origine. È il controllo fondamentale per mostrare liste di elementi con layout personalizzabili.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34256" y="1238098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404" b="-404"/>
          <a:stretch/>
        </p:blipFill>
        <p:spPr>
          <a:xfrm>
            <a:off x="4343400" y="1248156"/>
            <a:ext cx="3504895" cy="576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4451" y="2295144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 Form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43654" y="2691994"/>
            <a:ext cx="310530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contenitore principale per creare e modificare record. Gestisce automaticamente il collegamento con i campi della sorgente dati.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096098" y="1238098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404" b="-404"/>
          <a:stretch/>
        </p:blipFill>
        <p:spPr>
          <a:xfrm>
            <a:off x="8106156" y="1248156"/>
            <a:ext cx="3504895" cy="576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87207" y="2295144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 Form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305495" y="2691994"/>
            <a:ext cx="310530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Mostra i dettagli di un singolo record in modalità di sola lettura. Ideale per schermate di riepilogo o conferma dati.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71500" y="3976726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t="-404" b="-404"/>
          <a:stretch/>
        </p:blipFill>
        <p:spPr>
          <a:xfrm>
            <a:off x="580644" y="3985870"/>
            <a:ext cx="3504895" cy="576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1695" y="5033772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Input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80898" y="5430622"/>
            <a:ext cx="310530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Consente l'inserimento di testo, numeri o password. Può essere configurato per input su riga singola o multipla.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334256" y="3976726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 t="-404" b="-404"/>
          <a:stretch/>
        </p:blipFill>
        <p:spPr>
          <a:xfrm>
            <a:off x="4343400" y="3985870"/>
            <a:ext cx="3504895" cy="576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24451" y="5033772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Button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4543654" y="5430622"/>
            <a:ext cx="31053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Elemento interattivo per avviare azioni. Si configura tramite la proprietà </a:t>
            </a:r>
            <a:r>
              <a:rPr lang="en-US" sz="1000" dirty="0">
                <a:solidFill>
                  <a:srgbClr val="605E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OnSelect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salvare dati o navigare.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8096098" y="3976726"/>
            <a:ext cx="3524098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rcRect t="-404" b="-404"/>
          <a:stretch/>
        </p:blipFill>
        <p:spPr>
          <a:xfrm>
            <a:off x="8106156" y="3985870"/>
            <a:ext cx="3504895" cy="5760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87207" y="5033772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Dropdown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8305495" y="5430622"/>
            <a:ext cx="310530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Permette la selezione di una singola opzione da un elenco a discesa, risparmiando spazio nell'interfaccia utente.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3323844" y="1057046"/>
            <a:ext cx="952805" cy="952805"/>
          </a:xfrm>
          <a:prstGeom prst="ellipse">
            <a:avLst/>
          </a:prstGeom>
          <a:solidFill>
            <a:srgbClr val="74277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2"/>
          <p:cNvSpPr/>
          <p:nvPr/>
        </p:nvSpPr>
        <p:spPr>
          <a:xfrm>
            <a:off x="7086600" y="1057046"/>
            <a:ext cx="952805" cy="952805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3"/>
          <p:cNvSpPr/>
          <p:nvPr/>
        </p:nvSpPr>
        <p:spPr>
          <a:xfrm>
            <a:off x="10849356" y="1057046"/>
            <a:ext cx="952805" cy="952805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4"/>
          <p:cNvSpPr/>
          <p:nvPr/>
        </p:nvSpPr>
        <p:spPr>
          <a:xfrm>
            <a:off x="3323844" y="3795674"/>
            <a:ext cx="952805" cy="952805"/>
          </a:xfrm>
          <a:prstGeom prst="ellipse">
            <a:avLst/>
          </a:prstGeom>
          <a:solidFill>
            <a:srgbClr val="FFB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5"/>
          <p:cNvSpPr/>
          <p:nvPr/>
        </p:nvSpPr>
        <p:spPr>
          <a:xfrm>
            <a:off x="7086600" y="3795674"/>
            <a:ext cx="952805" cy="952805"/>
          </a:xfrm>
          <a:prstGeom prst="ellipse">
            <a:avLst/>
          </a:prstGeom>
          <a:solidFill>
            <a:srgbClr val="D134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26"/>
          <p:cNvSpPr/>
          <p:nvPr/>
        </p:nvSpPr>
        <p:spPr>
          <a:xfrm>
            <a:off x="10849356" y="3795674"/>
            <a:ext cx="952805" cy="952805"/>
          </a:xfrm>
          <a:prstGeom prst="ellipse">
            <a:avLst/>
          </a:prstGeom>
          <a:solidFill>
            <a:srgbClr val="00606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7"/>
          <p:cNvSpPr/>
          <p:nvPr/>
        </p:nvSpPr>
        <p:spPr>
          <a:xfrm>
            <a:off x="2000707" y="1485900"/>
            <a:ext cx="666598" cy="666598"/>
          </a:xfrm>
          <a:prstGeom prst="ellipse">
            <a:avLst/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167128" y="1652321"/>
            <a:ext cx="333756" cy="333756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5762549" y="1485900"/>
            <a:ext cx="666598" cy="666598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28970" y="1652321"/>
            <a:ext cx="333756" cy="3337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525305" y="1485900"/>
            <a:ext cx="666598" cy="666598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0"/>
          <a:srcRect t="-507" b="-507"/>
          <a:stretch/>
        </p:blipFill>
        <p:spPr>
          <a:xfrm>
            <a:off x="9734702" y="1652321"/>
            <a:ext cx="247802" cy="333756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2000707" y="4224528"/>
            <a:ext cx="666598" cy="666598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2247595" y="4390949"/>
            <a:ext cx="171907" cy="333756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5762549" y="4224528"/>
            <a:ext cx="666598" cy="666598"/>
          </a:xfrm>
          <a:prstGeom prst="ellipse">
            <a:avLst/>
          </a:prstGeom>
          <a:solidFill>
            <a:srgbClr val="FF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2"/>
          <a:srcRect l="-192" r="-192"/>
          <a:stretch/>
        </p:blipFill>
        <p:spPr>
          <a:xfrm>
            <a:off x="5991149" y="4390949"/>
            <a:ext cx="209398" cy="333756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9525305" y="4224528"/>
            <a:ext cx="666598" cy="66659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3"/>
          <a:srcRect l="-567" r="-567"/>
          <a:stretch/>
        </p:blipFill>
        <p:spPr>
          <a:xfrm>
            <a:off x="9710928" y="4390949"/>
            <a:ext cx="295351" cy="333756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Shape 34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35"/>
          <p:cNvSpPr txBox="1"/>
          <p:nvPr/>
        </p:nvSpPr>
        <p:spPr>
          <a:xfrm>
            <a:off x="571500" y="105156"/>
            <a:ext cx="5353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Apps Fundamentals</a:t>
            </a:r>
            <a:endParaRPr lang="en-US" sz="1000" dirty="0"/>
          </a:p>
        </p:txBody>
      </p:sp>
      <p:sp>
        <p:nvSpPr>
          <p:cNvPr id="50" name="Text 36"/>
          <p:cNvSpPr txBox="1"/>
          <p:nvPr/>
        </p:nvSpPr>
        <p:spPr>
          <a:xfrm>
            <a:off x="571500" y="333756"/>
            <a:ext cx="67811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Controlli Base: Gallery e Forms</a:t>
            </a:r>
            <a:endParaRPr lang="en-US" sz="2700" dirty="0"/>
          </a:p>
        </p:txBody>
      </p:sp>
      <p:sp>
        <p:nvSpPr>
          <p:cNvPr id="51" name="Shape 37"/>
          <p:cNvSpPr/>
          <p:nvPr/>
        </p:nvSpPr>
        <p:spPr>
          <a:xfrm>
            <a:off x="9923069" y="228600"/>
            <a:ext cx="1705356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4"/>
          <a:srcRect l="-33" r="-33"/>
          <a:stretch/>
        </p:blipFill>
        <p:spPr>
          <a:xfrm>
            <a:off x="10123322" y="333756"/>
            <a:ext cx="171907" cy="15270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10408615" y="228600"/>
            <a:ext cx="10771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Blocks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4" r="-4"/>
          <a:stretch/>
        </p:blipFill>
        <p:spPr>
          <a:xfrm>
            <a:off x="571500" y="1524305"/>
            <a:ext cx="6077102" cy="4762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" y="1533449"/>
            <a:ext cx="6057900" cy="352044"/>
          </a:xfrm>
          <a:prstGeom prst="roundRect">
            <a:avLst>
              <a:gd name="adj" fmla="val 11232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80644" y="1876349"/>
            <a:ext cx="6057900" cy="9144"/>
          </a:xfrm>
          <a:prstGeom prst="roundRect">
            <a:avLst>
              <a:gd name="adj" fmla="val 4324324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24205" y="1628546"/>
            <a:ext cx="133502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3602" y="1609344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21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Apps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791310" y="1609344"/>
            <a:ext cx="143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|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930298" y="1609344"/>
            <a:ext cx="819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Home Screen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81344" y="1647749"/>
            <a:ext cx="114300" cy="11430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6409944" y="1647749"/>
            <a:ext cx="85954" cy="11430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580644" y="1886407"/>
            <a:ext cx="6057900" cy="4390949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" r="-9"/>
          <a:stretch/>
        </p:blipFill>
        <p:spPr>
          <a:xfrm>
            <a:off x="2276856" y="1986077"/>
            <a:ext cx="2667305" cy="4190695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52751" y="2061972"/>
            <a:ext cx="2514600" cy="7242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9"/>
          <p:cNvSpPr/>
          <p:nvPr/>
        </p:nvSpPr>
        <p:spPr>
          <a:xfrm>
            <a:off x="2495398" y="2269541"/>
            <a:ext cx="304495" cy="3044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2590495" y="2346350"/>
            <a:ext cx="114300" cy="15270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2895905" y="2204618"/>
            <a:ext cx="11530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Contoso HR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2895905" y="2456993"/>
            <a:ext cx="12810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E4F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Portale Dipendenti</a:t>
            </a:r>
            <a:endParaRPr lang="en-US" sz="900" dirty="0"/>
          </a:p>
        </p:txBody>
      </p:sp>
      <p:sp>
        <p:nvSpPr>
          <p:cNvPr id="21" name="Shape 12"/>
          <p:cNvSpPr/>
          <p:nvPr/>
        </p:nvSpPr>
        <p:spPr>
          <a:xfrm>
            <a:off x="2352751" y="2782519"/>
            <a:ext cx="2514600" cy="27816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3"/>
          <p:cNvSpPr txBox="1"/>
          <p:nvPr/>
        </p:nvSpPr>
        <p:spPr>
          <a:xfrm>
            <a:off x="2542946" y="2972714"/>
            <a:ext cx="22192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Ciao, Mario!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2542946" y="3277210"/>
            <a:ext cx="22192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 vuoi fare oggi?</a:t>
            </a:r>
            <a:endParaRPr lang="en-US" sz="900" dirty="0"/>
          </a:p>
        </p:txBody>
      </p:sp>
      <p:sp>
        <p:nvSpPr>
          <p:cNvPr id="24" name="Shape 15"/>
          <p:cNvSpPr/>
          <p:nvPr/>
        </p:nvSpPr>
        <p:spPr>
          <a:xfrm>
            <a:off x="2542946" y="3658514"/>
            <a:ext cx="2133295" cy="705002"/>
          </a:xfrm>
          <a:prstGeom prst="roundRect">
            <a:avLst>
              <a:gd name="adj" fmla="val 4206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16"/>
          <p:cNvSpPr/>
          <p:nvPr/>
        </p:nvSpPr>
        <p:spPr>
          <a:xfrm>
            <a:off x="2542946" y="3658514"/>
            <a:ext cx="47549" cy="705002"/>
          </a:xfrm>
          <a:prstGeom prst="roundRect">
            <a:avLst>
              <a:gd name="adj" fmla="val 623698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17"/>
          <p:cNvSpPr/>
          <p:nvPr/>
        </p:nvSpPr>
        <p:spPr>
          <a:xfrm>
            <a:off x="2734056" y="3820363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2848356" y="3934663"/>
            <a:ext cx="152705" cy="152705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3258007" y="3801161"/>
            <a:ext cx="1283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Nuova Richiesta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3258007" y="4039819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Ferie e Permessi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2542946" y="4506163"/>
            <a:ext cx="2133295" cy="705002"/>
          </a:xfrm>
          <a:prstGeom prst="roundRect">
            <a:avLst>
              <a:gd name="adj" fmla="val 4206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1"/>
          <p:cNvSpPr/>
          <p:nvPr/>
        </p:nvSpPr>
        <p:spPr>
          <a:xfrm>
            <a:off x="2542946" y="4506163"/>
            <a:ext cx="47549" cy="705002"/>
          </a:xfrm>
          <a:prstGeom prst="roundRect">
            <a:avLst>
              <a:gd name="adj" fmla="val 623698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2"/>
          <p:cNvSpPr/>
          <p:nvPr/>
        </p:nvSpPr>
        <p:spPr>
          <a:xfrm>
            <a:off x="2734056" y="466801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2866644" y="4782312"/>
            <a:ext cx="114300" cy="15270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3258007" y="4648810"/>
            <a:ext cx="11338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 Spese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3258007" y="4887468"/>
            <a:ext cx="125821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Rimborsi km e pasti</a:t>
            </a:r>
            <a:endParaRPr lang="en-US" sz="900" dirty="0"/>
          </a:p>
        </p:txBody>
      </p:sp>
      <p:sp>
        <p:nvSpPr>
          <p:cNvPr id="36" name="Shape 25"/>
          <p:cNvSpPr/>
          <p:nvPr/>
        </p:nvSpPr>
        <p:spPr>
          <a:xfrm>
            <a:off x="2352751" y="5557723"/>
            <a:ext cx="2514600" cy="5431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Shape 26"/>
          <p:cNvSpPr/>
          <p:nvPr/>
        </p:nvSpPr>
        <p:spPr>
          <a:xfrm>
            <a:off x="2352751" y="5557723"/>
            <a:ext cx="2514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27"/>
          <p:cNvSpPr txBox="1"/>
          <p:nvPr/>
        </p:nvSpPr>
        <p:spPr>
          <a:xfrm>
            <a:off x="2673706" y="5682082"/>
            <a:ext cx="381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Home</a:t>
            </a:r>
            <a:endParaRPr lang="en-US" sz="9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1"/>
          <a:srcRect l="-1911" r="-1911"/>
          <a:stretch/>
        </p:blipFill>
        <p:spPr>
          <a:xfrm>
            <a:off x="2768803" y="5682082"/>
            <a:ext cx="133502" cy="11430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3410712" y="5682082"/>
            <a:ext cx="438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Attività</a:t>
            </a:r>
            <a:endParaRPr lang="en-US" sz="9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539642" y="5682082"/>
            <a:ext cx="114300" cy="1143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4197096" y="5682082"/>
            <a:ext cx="4096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Profilo</a:t>
            </a:r>
            <a:endParaRPr lang="en-US" sz="9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4318711" y="5682082"/>
            <a:ext cx="105156" cy="11430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7029907" y="1659636"/>
            <a:ext cx="4591202" cy="1114654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5" name="Shape 31"/>
          <p:cNvSpPr/>
          <p:nvPr/>
        </p:nvSpPr>
        <p:spPr>
          <a:xfrm>
            <a:off x="7029907" y="1659636"/>
            <a:ext cx="38405" cy="1114654"/>
          </a:xfrm>
          <a:prstGeom prst="roundRect">
            <a:avLst>
              <a:gd name="adj" fmla="val 325599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32"/>
          <p:cNvSpPr/>
          <p:nvPr/>
        </p:nvSpPr>
        <p:spPr>
          <a:xfrm>
            <a:off x="7210044" y="1821485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3"/>
          <p:cNvSpPr/>
          <p:nvPr/>
        </p:nvSpPr>
        <p:spPr>
          <a:xfrm>
            <a:off x="7172554" y="1821485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27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34"/>
          <p:cNvSpPr txBox="1"/>
          <p:nvPr/>
        </p:nvSpPr>
        <p:spPr>
          <a:xfrm>
            <a:off x="7582205" y="1803197"/>
            <a:ext cx="4010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Branding &amp; Logo</a:t>
            </a:r>
            <a:endParaRPr lang="en-US" sz="1200" dirty="0"/>
          </a:p>
        </p:txBody>
      </p:sp>
      <p:sp>
        <p:nvSpPr>
          <p:cNvPr id="49" name="Text 35"/>
          <p:cNvSpPr txBox="1"/>
          <p:nvPr/>
        </p:nvSpPr>
        <p:spPr>
          <a:xfrm>
            <a:off x="7582205" y="2079346"/>
            <a:ext cx="3972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Inserimento del logo aziendale e media personalizzati nell'intestazione per rafforzare l'identità del brand all'interno dell'app.</a:t>
            </a:r>
            <a:endParaRPr lang="en-US" sz="1000" dirty="0"/>
          </a:p>
        </p:txBody>
      </p:sp>
      <p:sp>
        <p:nvSpPr>
          <p:cNvPr id="50" name="Shape 36"/>
          <p:cNvSpPr/>
          <p:nvPr/>
        </p:nvSpPr>
        <p:spPr>
          <a:xfrm>
            <a:off x="7029907" y="2908706"/>
            <a:ext cx="4591202" cy="933602"/>
          </a:xfrm>
          <a:prstGeom prst="roundRect">
            <a:avLst>
              <a:gd name="adj" fmla="val 15991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1" name="Shape 37"/>
          <p:cNvSpPr/>
          <p:nvPr/>
        </p:nvSpPr>
        <p:spPr>
          <a:xfrm>
            <a:off x="7029907" y="2908706"/>
            <a:ext cx="38405" cy="933602"/>
          </a:xfrm>
          <a:prstGeom prst="roundRect">
            <a:avLst>
              <a:gd name="adj" fmla="val 388725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Shape 38"/>
          <p:cNvSpPr/>
          <p:nvPr/>
        </p:nvSpPr>
        <p:spPr>
          <a:xfrm>
            <a:off x="7210044" y="3070555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39"/>
          <p:cNvSpPr/>
          <p:nvPr/>
        </p:nvSpPr>
        <p:spPr>
          <a:xfrm>
            <a:off x="7172554" y="3070555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27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Text 40"/>
          <p:cNvSpPr txBox="1"/>
          <p:nvPr/>
        </p:nvSpPr>
        <p:spPr>
          <a:xfrm>
            <a:off x="7582205" y="3052267"/>
            <a:ext cx="4010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Palette Aziendale</a:t>
            </a:r>
            <a:endParaRPr lang="en-US" sz="1200" dirty="0"/>
          </a:p>
        </p:txBody>
      </p:sp>
      <p:sp>
        <p:nvSpPr>
          <p:cNvPr id="55" name="Text 41"/>
          <p:cNvSpPr txBox="1"/>
          <p:nvPr/>
        </p:nvSpPr>
        <p:spPr>
          <a:xfrm>
            <a:off x="7582205" y="3328416"/>
            <a:ext cx="39721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Applicazione dei colori istituzionali (es. Contoso Blue) tramite la gestione dei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Temi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variabili globali per garantire uniformità.</a:t>
            </a:r>
            <a:endParaRPr lang="en-US" sz="1000" dirty="0"/>
          </a:p>
        </p:txBody>
      </p:sp>
      <p:sp>
        <p:nvSpPr>
          <p:cNvPr id="56" name="Shape 42"/>
          <p:cNvSpPr/>
          <p:nvPr/>
        </p:nvSpPr>
        <p:spPr>
          <a:xfrm>
            <a:off x="7029907" y="3976726"/>
            <a:ext cx="4591202" cy="933602"/>
          </a:xfrm>
          <a:prstGeom prst="roundRect">
            <a:avLst>
              <a:gd name="adj" fmla="val 15991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7" name="Shape 43"/>
          <p:cNvSpPr/>
          <p:nvPr/>
        </p:nvSpPr>
        <p:spPr>
          <a:xfrm>
            <a:off x="7029907" y="3976726"/>
            <a:ext cx="38405" cy="933602"/>
          </a:xfrm>
          <a:prstGeom prst="roundRect">
            <a:avLst>
              <a:gd name="adj" fmla="val 388725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Shape 44"/>
          <p:cNvSpPr/>
          <p:nvPr/>
        </p:nvSpPr>
        <p:spPr>
          <a:xfrm>
            <a:off x="7210044" y="4138574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45"/>
          <p:cNvSpPr/>
          <p:nvPr/>
        </p:nvSpPr>
        <p:spPr>
          <a:xfrm>
            <a:off x="7172554" y="413857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27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7582205" y="4119372"/>
            <a:ext cx="4010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Tipografia Personalizzata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7582205" y="4395521"/>
            <a:ext cx="39721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Scelta di font specifici (es. Montserrat per titoli) e dimensioni del testo per migliorare la leggibilità e l'estetica.</a:t>
            </a:r>
            <a:endParaRPr lang="en-US" sz="1000" dirty="0"/>
          </a:p>
        </p:txBody>
      </p:sp>
      <p:sp>
        <p:nvSpPr>
          <p:cNvPr id="62" name="Shape 48"/>
          <p:cNvSpPr/>
          <p:nvPr/>
        </p:nvSpPr>
        <p:spPr>
          <a:xfrm>
            <a:off x="7029907" y="5044745"/>
            <a:ext cx="4591202" cy="1114654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3" name="Shape 49"/>
          <p:cNvSpPr/>
          <p:nvPr/>
        </p:nvSpPr>
        <p:spPr>
          <a:xfrm>
            <a:off x="7029907" y="5044745"/>
            <a:ext cx="38405" cy="1114654"/>
          </a:xfrm>
          <a:prstGeom prst="roundRect">
            <a:avLst>
              <a:gd name="adj" fmla="val 325599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50"/>
          <p:cNvSpPr/>
          <p:nvPr/>
        </p:nvSpPr>
        <p:spPr>
          <a:xfrm>
            <a:off x="7210044" y="5206594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51"/>
          <p:cNvSpPr/>
          <p:nvPr/>
        </p:nvSpPr>
        <p:spPr>
          <a:xfrm>
            <a:off x="7172554" y="520659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27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  <p:sp>
        <p:nvSpPr>
          <p:cNvPr id="66" name="Text 52"/>
          <p:cNvSpPr txBox="1"/>
          <p:nvPr/>
        </p:nvSpPr>
        <p:spPr>
          <a:xfrm>
            <a:off x="7582205" y="5187391"/>
            <a:ext cx="4010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Controlli &amp; Layout</a:t>
            </a:r>
            <a:endParaRPr lang="en-US" sz="1200" dirty="0"/>
          </a:p>
        </p:txBody>
      </p:sp>
      <p:sp>
        <p:nvSpPr>
          <p:cNvPr id="67" name="Text 53"/>
          <p:cNvSpPr txBox="1"/>
          <p:nvPr/>
        </p:nvSpPr>
        <p:spPr>
          <a:xfrm>
            <a:off x="7582205" y="5463540"/>
            <a:ext cx="3972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Creazione di card personalizzate con icone, bordi arrotondati e ombreggiature per una User Experience (UX) moderna e intuitiva.</a:t>
            </a:r>
            <a:endParaRPr lang="en-US" sz="1000" dirty="0"/>
          </a:p>
        </p:txBody>
      </p:sp>
      <p:sp>
        <p:nvSpPr>
          <p:cNvPr id="68" name="Shape 5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9" name="Shape 5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56"/>
          <p:cNvSpPr txBox="1"/>
          <p:nvPr/>
        </p:nvSpPr>
        <p:spPr>
          <a:xfrm>
            <a:off x="571500" y="152705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Apps Design</a:t>
            </a:r>
            <a:endParaRPr lang="en-US" sz="1000" dirty="0"/>
          </a:p>
        </p:txBody>
      </p:sp>
      <p:sp>
        <p:nvSpPr>
          <p:cNvPr id="71" name="Text 57"/>
          <p:cNvSpPr txBox="1"/>
          <p:nvPr/>
        </p:nvSpPr>
        <p:spPr>
          <a:xfrm>
            <a:off x="571500" y="381305"/>
            <a:ext cx="63559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Personalizzazione Interfaccia</a:t>
            </a:r>
            <a:endParaRPr lang="en-US" sz="2700" dirty="0"/>
          </a:p>
        </p:txBody>
      </p:sp>
      <p:sp>
        <p:nvSpPr>
          <p:cNvPr id="72" name="Shape 58"/>
          <p:cNvSpPr/>
          <p:nvPr/>
        </p:nvSpPr>
        <p:spPr>
          <a:xfrm>
            <a:off x="10220249" y="276149"/>
            <a:ext cx="1399946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4"/>
          <a:srcRect t="-100" b="-100"/>
          <a:stretch/>
        </p:blipFill>
        <p:spPr>
          <a:xfrm>
            <a:off x="10420502" y="381305"/>
            <a:ext cx="114300" cy="152705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10649102" y="276149"/>
            <a:ext cx="8293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Canvas</a:t>
            </a:r>
            <a:endParaRPr lang="en-US" sz="1000" dirty="0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2495398" y="2300630"/>
            <a:ext cx="228600" cy="228600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2457907" y="230063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pic>
        <p:nvPicPr>
          <p:cNvPr id="77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496105" y="2300630"/>
            <a:ext cx="228600" cy="228600"/>
          </a:xfrm>
          <a:prstGeom prst="rect">
            <a:avLst/>
          </a:prstGeom>
        </p:spPr>
      </p:pic>
      <p:sp>
        <p:nvSpPr>
          <p:cNvPr id="78" name="Text 61"/>
          <p:cNvSpPr/>
          <p:nvPr/>
        </p:nvSpPr>
        <p:spPr>
          <a:xfrm>
            <a:off x="4457700" y="230063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pic>
        <p:nvPicPr>
          <p:cNvPr id="79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495751" y="2824582"/>
            <a:ext cx="228600" cy="228600"/>
          </a:xfrm>
          <a:prstGeom prst="rect">
            <a:avLst/>
          </a:prstGeom>
        </p:spPr>
      </p:pic>
      <p:sp>
        <p:nvSpPr>
          <p:cNvPr id="80" name="Text 62"/>
          <p:cNvSpPr/>
          <p:nvPr/>
        </p:nvSpPr>
        <p:spPr>
          <a:xfrm>
            <a:off x="3457346" y="2824582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pic>
        <p:nvPicPr>
          <p:cNvPr id="81" name="Image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448556" y="3586277"/>
            <a:ext cx="228600" cy="228600"/>
          </a:xfrm>
          <a:prstGeom prst="rect">
            <a:avLst/>
          </a:prstGeom>
        </p:spPr>
      </p:pic>
      <p:sp>
        <p:nvSpPr>
          <p:cNvPr id="82" name="Text 63"/>
          <p:cNvSpPr/>
          <p:nvPr/>
        </p:nvSpPr>
        <p:spPr>
          <a:xfrm>
            <a:off x="4410151" y="3586277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-476402" y="4286707"/>
            <a:ext cx="3333902" cy="3333902"/>
          </a:xfrm>
          <a:prstGeom prst="ellipse">
            <a:avLst/>
          </a:prstGeom>
          <a:solidFill>
            <a:srgbClr val="F3E5F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287000" y="476402"/>
            <a:ext cx="2381098" cy="2381098"/>
          </a:xfrm>
          <a:prstGeom prst="ellipse">
            <a:avLst/>
          </a:prstGeom>
          <a:solidFill>
            <a:srgbClr val="E1F5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rcRect t="-398" b="-398"/>
          <a:stretch/>
        </p:blipFill>
        <p:spPr>
          <a:xfrm>
            <a:off x="2194560" y="1476756"/>
            <a:ext cx="2194560" cy="384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 t="-398" b="-398"/>
          <a:stretch/>
        </p:blipFill>
        <p:spPr>
          <a:xfrm>
            <a:off x="5242255" y="1476756"/>
            <a:ext cx="2194560" cy="3840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/>
          <a:srcRect t="-398" b="-398"/>
          <a:stretch/>
        </p:blipFill>
        <p:spPr>
          <a:xfrm>
            <a:off x="8290865" y="1476756"/>
            <a:ext cx="2194560" cy="384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23798" y="3631997"/>
            <a:ext cx="2190902" cy="2029054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6"/>
          <p:cNvSpPr txBox="1"/>
          <p:nvPr/>
        </p:nvSpPr>
        <p:spPr>
          <a:xfrm>
            <a:off x="1275588" y="3869741"/>
            <a:ext cx="18873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Salva e Verifica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278331" y="4258361"/>
            <a:ext cx="188275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 il progetto e usa lo strumento "Verifica app" per assicurarti che non ci siano errori o warning critici.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3469" y="2346350"/>
            <a:ext cx="1047902" cy="1047902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79269" y="2383841"/>
            <a:ext cx="323698" cy="3236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341778" y="2383841"/>
            <a:ext cx="4005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rcRect t="-12" b="-12"/>
          <a:stretch/>
        </p:blipFill>
        <p:spPr>
          <a:xfrm>
            <a:off x="1984248" y="2603297"/>
            <a:ext cx="466344" cy="53309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3709721" y="3631997"/>
            <a:ext cx="2190902" cy="1800454"/>
          </a:xfrm>
          <a:prstGeom prst="roundRect">
            <a:avLst>
              <a:gd name="adj" fmla="val 64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0"/>
          <p:cNvSpPr txBox="1"/>
          <p:nvPr/>
        </p:nvSpPr>
        <p:spPr>
          <a:xfrm>
            <a:off x="3804818" y="3869741"/>
            <a:ext cx="20007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Pubblica Versione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3863340" y="4258361"/>
            <a:ext cx="188275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Clicca su "Pubblica questa versione" per rendere l'ultima build disponibile agli utenti finali (live).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79392" y="2346350"/>
            <a:ext cx="1047902" cy="1047902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65192" y="2383841"/>
            <a:ext cx="323698" cy="32369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4926787" y="2383841"/>
            <a:ext cx="4005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rcRect l="-17" r="-17"/>
          <a:stretch/>
        </p:blipFill>
        <p:spPr>
          <a:xfrm>
            <a:off x="4469587" y="2603297"/>
            <a:ext cx="666598" cy="533095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6294730" y="3631997"/>
            <a:ext cx="2190902" cy="1800454"/>
          </a:xfrm>
          <a:prstGeom prst="roundRect">
            <a:avLst>
              <a:gd name="adj" fmla="val 64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14"/>
          <p:cNvSpPr txBox="1"/>
          <p:nvPr/>
        </p:nvSpPr>
        <p:spPr>
          <a:xfrm>
            <a:off x="6447434" y="3869741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Condividi</a:t>
            </a:r>
            <a:endParaRPr lang="en-US" sz="1400" dirty="0"/>
          </a:p>
        </p:txBody>
      </p:sp>
      <p:sp>
        <p:nvSpPr>
          <p:cNvPr id="26" name="Text 15"/>
          <p:cNvSpPr txBox="1"/>
          <p:nvPr/>
        </p:nvSpPr>
        <p:spPr>
          <a:xfrm>
            <a:off x="6449263" y="4258361"/>
            <a:ext cx="188275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Specifica singoli utenti, gruppi di sicurezza o l'intera organizzazione nel pannello di condivisione.</a:t>
            </a:r>
            <a:endParaRPr lang="en-US" sz="11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64401" y="2346350"/>
            <a:ext cx="1047902" cy="1047902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50201" y="2383841"/>
            <a:ext cx="323698" cy="32369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512710" y="2383841"/>
            <a:ext cx="4005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9"/>
          <a:srcRect t="-12" b="-12"/>
          <a:stretch/>
        </p:blipFill>
        <p:spPr>
          <a:xfrm>
            <a:off x="7155180" y="2603297"/>
            <a:ext cx="466344" cy="533095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8880653" y="3631997"/>
            <a:ext cx="2190902" cy="2029054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18"/>
          <p:cNvSpPr txBox="1"/>
          <p:nvPr/>
        </p:nvSpPr>
        <p:spPr>
          <a:xfrm>
            <a:off x="9032443" y="3869741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Utente</a:t>
            </a:r>
            <a:endParaRPr lang="en-US" sz="1400" dirty="0"/>
          </a:p>
        </p:txBody>
      </p:sp>
      <p:sp>
        <p:nvSpPr>
          <p:cNvPr id="33" name="Text 19"/>
          <p:cNvSpPr txBox="1"/>
          <p:nvPr/>
        </p:nvSpPr>
        <p:spPr>
          <a:xfrm>
            <a:off x="9035186" y="4258361"/>
            <a:ext cx="188275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Gli utenti ricevono una notifica e possono accedere all'app via browser web o tramite l'app mobile Power Apps.</a:t>
            </a:r>
            <a:endParaRPr lang="en-US" sz="11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450324" y="2346350"/>
            <a:ext cx="1047902" cy="1047902"/>
          </a:xfrm>
          <a:prstGeom prst="rect">
            <a:avLst/>
          </a:prstGeom>
        </p:spPr>
      </p:pic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36124" y="2383841"/>
            <a:ext cx="323698" cy="323698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10097719" y="2383841"/>
            <a:ext cx="4005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1"/>
          <a:srcRect l="-86" r="-86"/>
          <a:stretch/>
        </p:blipFill>
        <p:spPr>
          <a:xfrm>
            <a:off x="9774022" y="2603297"/>
            <a:ext cx="400507" cy="533095"/>
          </a:xfrm>
          <a:prstGeom prst="rect">
            <a:avLst/>
          </a:prstGeom>
        </p:spPr>
      </p:pic>
      <p:sp>
        <p:nvSpPr>
          <p:cNvPr id="38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23"/>
          <p:cNvSpPr txBox="1"/>
          <p:nvPr/>
        </p:nvSpPr>
        <p:spPr>
          <a:xfrm>
            <a:off x="571500" y="152705"/>
            <a:ext cx="5829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Distribuzione Power Apps</a:t>
            </a:r>
            <a:endParaRPr lang="en-US" sz="1000" dirty="0"/>
          </a:p>
        </p:txBody>
      </p:sp>
      <p:sp>
        <p:nvSpPr>
          <p:cNvPr id="41" name="Text 24"/>
          <p:cNvSpPr txBox="1"/>
          <p:nvPr/>
        </p:nvSpPr>
        <p:spPr>
          <a:xfrm>
            <a:off x="571500" y="381305"/>
            <a:ext cx="699424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Pubblicazione e Condivisione App</a:t>
            </a:r>
            <a:endParaRPr lang="en-US" sz="2700" dirty="0"/>
          </a:p>
        </p:txBody>
      </p:sp>
      <p:sp>
        <p:nvSpPr>
          <p:cNvPr id="42" name="Shape 25"/>
          <p:cNvSpPr/>
          <p:nvPr/>
        </p:nvSpPr>
        <p:spPr>
          <a:xfrm>
            <a:off x="10137038" y="276149"/>
            <a:ext cx="1485900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337292" y="381305"/>
            <a:ext cx="152705" cy="152705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10604297" y="276149"/>
            <a:ext cx="876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764438"/>
            <a:ext cx="12191695" cy="60963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144829"/>
            <a:ext cx="3524098" cy="2553005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t="-404" b="-404"/>
          <a:stretch/>
        </p:blipFill>
        <p:spPr>
          <a:xfrm>
            <a:off x="580644" y="1154887"/>
            <a:ext cx="3504895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2202790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Inventario Asset IT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0898" y="2575865"/>
            <a:ext cx="31053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Applicazione per il tracciamento dei dispositivi hardware, assegnazione ai dipendenti e monitoraggio del ciclo di vita dei beni aziendali.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34256" y="1144829"/>
            <a:ext cx="3524098" cy="2553005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404" b="-404"/>
          <a:stretch/>
        </p:blipFill>
        <p:spPr>
          <a:xfrm>
            <a:off x="4343400" y="1154887"/>
            <a:ext cx="3504895" cy="576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4451" y="2202790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Richieste Ferie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43654" y="2575865"/>
            <a:ext cx="31053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Portale self-service mobile per l'invio rapido di richieste di permesso, calcolo automatico del saldo residuo e approvazione dei manager.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96098" y="1144829"/>
            <a:ext cx="3524098" cy="2553005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404" b="-404"/>
          <a:stretch/>
        </p:blipFill>
        <p:spPr>
          <a:xfrm>
            <a:off x="8106156" y="1154887"/>
            <a:ext cx="3504895" cy="576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87207" y="2202790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Ispezioni Qualità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305495" y="2575865"/>
            <a:ext cx="31053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Checklist digitali utilizzate sul campo per controlli di conformità, con possibilità di scattare foto, annotare problemi e generare report PDF.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71500" y="3930091"/>
            <a:ext cx="3524098" cy="2553005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t="-404" b="-404"/>
          <a:stretch/>
        </p:blipFill>
        <p:spPr>
          <a:xfrm>
            <a:off x="580644" y="3939235"/>
            <a:ext cx="3504895" cy="576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1695" y="4987138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Ordini Interni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80898" y="5361127"/>
            <a:ext cx="31053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Catalogo digitale per richiedere materiale d'ufficio o hardware, con integrazione diretta al sistema di approvazione budget e logistica.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334256" y="3930091"/>
            <a:ext cx="3524098" cy="2553005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 t="-404" b="-404"/>
          <a:stretch/>
        </p:blipFill>
        <p:spPr>
          <a:xfrm>
            <a:off x="4343400" y="3939235"/>
            <a:ext cx="3504895" cy="576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24451" y="4987138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Manutenzione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4543654" y="5361127"/>
            <a:ext cx="31053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 system per segnalare guasti infrastrutturali in tempo reale, assegnare interventi ai tecnici e monitorare lo stato della riparazione.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096098" y="3930091"/>
            <a:ext cx="3524098" cy="2553005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rcRect t="-404" b="-404"/>
          <a:stretch/>
        </p:blipFill>
        <p:spPr>
          <a:xfrm>
            <a:off x="8106156" y="3939235"/>
            <a:ext cx="3504895" cy="5760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87207" y="4987138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Gestione Visitatori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8305495" y="5361127"/>
            <a:ext cx="31053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Tablet app per la reception che gestisce il check-in digitale degli ospiti, la firma della privacy e la stampa immediata del badge.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3323844" y="963778"/>
            <a:ext cx="952805" cy="952805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2"/>
          <p:cNvSpPr/>
          <p:nvPr/>
        </p:nvSpPr>
        <p:spPr>
          <a:xfrm>
            <a:off x="7086600" y="963778"/>
            <a:ext cx="952805" cy="952805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3"/>
          <p:cNvSpPr/>
          <p:nvPr/>
        </p:nvSpPr>
        <p:spPr>
          <a:xfrm>
            <a:off x="10849356" y="963778"/>
            <a:ext cx="952805" cy="952805"/>
          </a:xfrm>
          <a:prstGeom prst="ellipse">
            <a:avLst/>
          </a:prstGeom>
          <a:solidFill>
            <a:srgbClr val="FFB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4"/>
          <p:cNvSpPr/>
          <p:nvPr/>
        </p:nvSpPr>
        <p:spPr>
          <a:xfrm>
            <a:off x="3323844" y="3749040"/>
            <a:ext cx="952805" cy="952805"/>
          </a:xfrm>
          <a:prstGeom prst="ellipse">
            <a:avLst/>
          </a:prstGeom>
          <a:solidFill>
            <a:srgbClr val="5C2D9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5"/>
          <p:cNvSpPr/>
          <p:nvPr/>
        </p:nvSpPr>
        <p:spPr>
          <a:xfrm>
            <a:off x="7086600" y="3749040"/>
            <a:ext cx="952805" cy="952805"/>
          </a:xfrm>
          <a:prstGeom prst="ellipse">
            <a:avLst/>
          </a:prstGeom>
          <a:solidFill>
            <a:srgbClr val="D134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26"/>
          <p:cNvSpPr/>
          <p:nvPr/>
        </p:nvSpPr>
        <p:spPr>
          <a:xfrm>
            <a:off x="10849356" y="3749040"/>
            <a:ext cx="952805" cy="952805"/>
          </a:xfrm>
          <a:prstGeom prst="ellipse">
            <a:avLst/>
          </a:prstGeom>
          <a:solidFill>
            <a:srgbClr val="00827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7"/>
          <p:cNvSpPr/>
          <p:nvPr/>
        </p:nvSpPr>
        <p:spPr>
          <a:xfrm>
            <a:off x="2000707" y="1392631"/>
            <a:ext cx="666598" cy="666598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 l="-192" r="-192"/>
          <a:stretch/>
        </p:blipFill>
        <p:spPr>
          <a:xfrm>
            <a:off x="2124151" y="1559052"/>
            <a:ext cx="418795" cy="333756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5762549" y="1392631"/>
            <a:ext cx="666598" cy="666598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rcRect l="-776" r="-776"/>
          <a:stretch/>
        </p:blipFill>
        <p:spPr>
          <a:xfrm>
            <a:off x="5905195" y="1559052"/>
            <a:ext cx="381305" cy="3337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525305" y="1392631"/>
            <a:ext cx="666598" cy="666598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0"/>
          <a:srcRect t="-507" b="-507"/>
          <a:stretch/>
        </p:blipFill>
        <p:spPr>
          <a:xfrm>
            <a:off x="9734702" y="1559052"/>
            <a:ext cx="247802" cy="333756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2000707" y="4177894"/>
            <a:ext cx="666598" cy="666598"/>
          </a:xfrm>
          <a:prstGeom prst="ellipse">
            <a:avLst/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 l="-776" r="-776"/>
          <a:stretch/>
        </p:blipFill>
        <p:spPr>
          <a:xfrm>
            <a:off x="2143354" y="4344314"/>
            <a:ext cx="381305" cy="333756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5762549" y="4177894"/>
            <a:ext cx="666598" cy="666598"/>
          </a:xfrm>
          <a:prstGeom prst="ellipse">
            <a:avLst/>
          </a:prstGeom>
          <a:solidFill>
            <a:srgbClr val="FF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928970" y="4344314"/>
            <a:ext cx="333756" cy="333756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9525305" y="4177894"/>
            <a:ext cx="666598" cy="66659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3"/>
          <a:srcRect t="-507" b="-507"/>
          <a:stretch/>
        </p:blipFill>
        <p:spPr>
          <a:xfrm>
            <a:off x="9734702" y="4344314"/>
            <a:ext cx="247802" cy="333756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0" y="0"/>
            <a:ext cx="12191695" cy="7717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Shape 34"/>
          <p:cNvSpPr/>
          <p:nvPr/>
        </p:nvSpPr>
        <p:spPr>
          <a:xfrm>
            <a:off x="0" y="733349"/>
            <a:ext cx="12191695" cy="38405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35"/>
          <p:cNvSpPr txBox="1"/>
          <p:nvPr/>
        </p:nvSpPr>
        <p:spPr>
          <a:xfrm>
            <a:off x="571500" y="58522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 d'Uso Power Apps</a:t>
            </a:r>
            <a:endParaRPr lang="en-US" sz="1000" dirty="0"/>
          </a:p>
        </p:txBody>
      </p:sp>
      <p:sp>
        <p:nvSpPr>
          <p:cNvPr id="50" name="Text 36"/>
          <p:cNvSpPr txBox="1"/>
          <p:nvPr/>
        </p:nvSpPr>
        <p:spPr>
          <a:xfrm>
            <a:off x="571500" y="287122"/>
            <a:ext cx="5293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Esempi Pratici Aziendali</a:t>
            </a:r>
            <a:endParaRPr lang="en-US" sz="2700" dirty="0"/>
          </a:p>
        </p:txBody>
      </p:sp>
      <p:sp>
        <p:nvSpPr>
          <p:cNvPr id="51" name="Shape 37"/>
          <p:cNvSpPr/>
          <p:nvPr/>
        </p:nvSpPr>
        <p:spPr>
          <a:xfrm>
            <a:off x="10137953" y="181966"/>
            <a:ext cx="1485900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4"/>
          <a:srcRect t="-100" b="-100"/>
          <a:stretch/>
        </p:blipFill>
        <p:spPr>
          <a:xfrm>
            <a:off x="10338206" y="287122"/>
            <a:ext cx="114300" cy="15270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10566806" y="181966"/>
            <a:ext cx="9144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Scenari Reali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5EC41-E387-B064-5943-A2C70795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0">
            <a:extLst>
              <a:ext uri="{FF2B5EF4-FFF2-40B4-BE49-F238E27FC236}">
                <a16:creationId xmlns:a16="http://schemas.microsoft.com/office/drawing/2014/main" id="{2252F937-7835-CCC7-D504-6721F9226F1B}"/>
              </a:ext>
            </a:extLst>
          </p:cNvPr>
          <p:cNvSpPr/>
          <p:nvPr/>
        </p:nvSpPr>
        <p:spPr>
          <a:xfrm>
            <a:off x="4559695" y="3333902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3C97393-C010-A133-92FC-8F9DB9BFBF2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5A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B60CF6D-4A2B-3EEB-A4AD-C346A2C0BB7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5A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91307F-8ECD-5D69-4283-BA869D46A08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5A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307A4C8-F77E-6954-A662-F0985EC56094}"/>
              </a:ext>
            </a:extLst>
          </p:cNvPr>
          <p:cNvSpPr/>
          <p:nvPr/>
        </p:nvSpPr>
        <p:spPr>
          <a:xfrm>
            <a:off x="-1429207" y="-952805"/>
            <a:ext cx="4286707" cy="4286707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29853E8-5CAE-1FBE-83C0-2EFCA364B9A9}"/>
              </a:ext>
            </a:extLst>
          </p:cNvPr>
          <p:cNvSpPr/>
          <p:nvPr/>
        </p:nvSpPr>
        <p:spPr>
          <a:xfrm>
            <a:off x="9048902" y="3333902"/>
            <a:ext cx="5238598" cy="5238598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E420D88-31D1-BB04-C27F-3A788A1AE193}"/>
              </a:ext>
            </a:extLst>
          </p:cNvPr>
          <p:cNvSpPr/>
          <p:nvPr/>
        </p:nvSpPr>
        <p:spPr>
          <a:xfrm>
            <a:off x="4762195" y="2381098"/>
            <a:ext cx="2667305" cy="2667305"/>
          </a:xfrm>
          <a:prstGeom prst="ellipse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1C5BAA7-BB2D-9E67-4536-FFE3343471EA}"/>
              </a:ext>
            </a:extLst>
          </p:cNvPr>
          <p:cNvSpPr/>
          <p:nvPr/>
        </p:nvSpPr>
        <p:spPr>
          <a:xfrm>
            <a:off x="5333695" y="666598"/>
            <a:ext cx="1524305" cy="418795"/>
          </a:xfrm>
          <a:prstGeom prst="roundRect">
            <a:avLst>
              <a:gd name="adj" fmla="val 218341"/>
            </a:avLst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14B13B3-2E3A-5386-60FB-5D51173C085B}"/>
              </a:ext>
            </a:extLst>
          </p:cNvPr>
          <p:cNvSpPr/>
          <p:nvPr/>
        </p:nvSpPr>
        <p:spPr>
          <a:xfrm>
            <a:off x="952805" y="3333902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B2FF08F-67C5-6EF3-769F-91C3AD3D866E}"/>
              </a:ext>
            </a:extLst>
          </p:cNvPr>
          <p:cNvSpPr/>
          <p:nvPr/>
        </p:nvSpPr>
        <p:spPr>
          <a:xfrm>
            <a:off x="2190902" y="3619195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0CDC94E-3296-7044-48DF-DF51C98304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4572000" y="3333902"/>
            <a:ext cx="3124505" cy="2361895"/>
          </a:xfrm>
          <a:prstGeom prst="rect">
            <a:avLst/>
          </a:prstGeom>
        </p:spPr>
      </p:pic>
      <p:sp>
        <p:nvSpPr>
          <p:cNvPr id="12" name="Shape 9">
            <a:extLst>
              <a:ext uri="{FF2B5EF4-FFF2-40B4-BE49-F238E27FC236}">
                <a16:creationId xmlns:a16="http://schemas.microsoft.com/office/drawing/2014/main" id="{912B8822-D6C8-A8C1-317A-FED98DF98279}"/>
              </a:ext>
            </a:extLst>
          </p:cNvPr>
          <p:cNvSpPr/>
          <p:nvPr/>
        </p:nvSpPr>
        <p:spPr>
          <a:xfrm>
            <a:off x="5810098" y="3619195"/>
            <a:ext cx="571500" cy="57150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B6944EB-6ACD-F39D-952D-8441C916D672}"/>
              </a:ext>
            </a:extLst>
          </p:cNvPr>
          <p:cNvSpPr/>
          <p:nvPr/>
        </p:nvSpPr>
        <p:spPr>
          <a:xfrm>
            <a:off x="8191195" y="3333902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D7D699A-ACB0-08E0-00BA-B931B08A19BB}"/>
              </a:ext>
            </a:extLst>
          </p:cNvPr>
          <p:cNvSpPr/>
          <p:nvPr/>
        </p:nvSpPr>
        <p:spPr>
          <a:xfrm>
            <a:off x="9430207" y="3619195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E6FE3DB-5471-0363-F34D-898C3ACFD839}"/>
              </a:ext>
            </a:extLst>
          </p:cNvPr>
          <p:cNvSpPr/>
          <p:nvPr/>
        </p:nvSpPr>
        <p:spPr>
          <a:xfrm>
            <a:off x="7286854" y="3191256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A21FA216-AD93-C2F3-4C69-6176C9E1D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5524805" y="790956"/>
            <a:ext cx="190195" cy="171907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F765CDFD-D4E8-A336-C025-8A2A2B30F999}"/>
              </a:ext>
            </a:extLst>
          </p:cNvPr>
          <p:cNvSpPr txBox="1"/>
          <p:nvPr/>
        </p:nvSpPr>
        <p:spPr>
          <a:xfrm>
            <a:off x="5790895" y="771754"/>
            <a:ext cx="1028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8" normalizeH="0" baseline="0" noProof="0" dirty="0">
                <a:ln>
                  <a:noFill/>
                </a:ln>
                <a:solidFill>
                  <a:srgbClr val="422006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Quiz Time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0E6A6DA-4972-2B86-842A-0EDC710F12D1}"/>
              </a:ext>
            </a:extLst>
          </p:cNvPr>
          <p:cNvSpPr txBox="1"/>
          <p:nvPr/>
        </p:nvSpPr>
        <p:spPr>
          <a:xfrm>
            <a:off x="1258214" y="1524305"/>
            <a:ext cx="9675266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è la </a:t>
            </a:r>
            <a:r>
              <a:rPr lang="en-US" sz="32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differenza</a:t>
            </a: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principale</a:t>
            </a: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</a:t>
            </a: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Canvas App e Model-driven App?</a:t>
            </a:r>
            <a:endParaRPr lang="en-US" sz="96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B8F46AB0-8BB6-648D-7F4B-78B9AE1C19A2}"/>
              </a:ext>
            </a:extLst>
          </p:cNvPr>
          <p:cNvSpPr txBox="1"/>
          <p:nvPr/>
        </p:nvSpPr>
        <p:spPr>
          <a:xfrm>
            <a:off x="895198" y="3733495"/>
            <a:ext cx="3162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402E3D3-5D6B-8185-54D0-50B2198284AC}"/>
              </a:ext>
            </a:extLst>
          </p:cNvPr>
          <p:cNvSpPr txBox="1"/>
          <p:nvPr/>
        </p:nvSpPr>
        <p:spPr>
          <a:xfrm>
            <a:off x="1089965" y="4429354"/>
            <a:ext cx="277429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Model-driven App </a:t>
            </a:r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sono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più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 </a:t>
            </a:r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creare</a:t>
            </a:r>
            <a:endParaRPr lang="en-US" sz="4000" b="1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1DBB3849-D70B-565C-EBC8-AC48348E59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58507" y="3161995"/>
            <a:ext cx="400507" cy="400507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D4663DFC-27D6-BA81-DD43-B7A8AE38A58A}"/>
              </a:ext>
            </a:extLst>
          </p:cNvPr>
          <p:cNvSpPr txBox="1"/>
          <p:nvPr/>
        </p:nvSpPr>
        <p:spPr>
          <a:xfrm>
            <a:off x="4515307" y="3733495"/>
            <a:ext cx="3162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AF14C8F-6400-F1E7-4426-53323F8C3452}"/>
              </a:ext>
            </a:extLst>
          </p:cNvPr>
          <p:cNvSpPr txBox="1"/>
          <p:nvPr/>
        </p:nvSpPr>
        <p:spPr>
          <a:xfrm>
            <a:off x="4709160" y="4429354"/>
            <a:ext cx="277429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Canvas App </a:t>
            </a:r>
            <a:r>
              <a:rPr lang="en-US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offre</a:t>
            </a:r>
            <a:r>
              <a:rPr lang="en-US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più</a:t>
            </a:r>
            <a:r>
              <a:rPr lang="en-US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controllo</a:t>
            </a:r>
            <a:r>
              <a:rPr lang="en-US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sul</a:t>
            </a:r>
            <a:r>
              <a:rPr lang="en-US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design</a:t>
            </a:r>
            <a:endParaRPr lang="en-US" sz="44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C7944469-4219-243A-0ABF-2B6E920C9C67}"/>
              </a:ext>
            </a:extLst>
          </p:cNvPr>
          <p:cNvSpPr txBox="1"/>
          <p:nvPr/>
        </p:nvSpPr>
        <p:spPr>
          <a:xfrm>
            <a:off x="8134502" y="3733495"/>
            <a:ext cx="3162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5EFBD7F-BD16-1248-9B7D-57A994249DB6}"/>
              </a:ext>
            </a:extLst>
          </p:cNvPr>
          <p:cNvSpPr txBox="1"/>
          <p:nvPr/>
        </p:nvSpPr>
        <p:spPr>
          <a:xfrm>
            <a:off x="8328355" y="4429354"/>
            <a:ext cx="277429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Canvas App </a:t>
            </a:r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richiedono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codice</a:t>
            </a:r>
            <a:endParaRPr lang="en-US" sz="4000" b="1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ECA5E107-449D-C963-5904-6B2E264862A6}"/>
              </a:ext>
            </a:extLst>
          </p:cNvPr>
          <p:cNvSpPr/>
          <p:nvPr/>
        </p:nvSpPr>
        <p:spPr>
          <a:xfrm>
            <a:off x="4598727" y="3352646"/>
            <a:ext cx="3086100" cy="2324405"/>
          </a:xfrm>
          <a:prstGeom prst="roundRect">
            <a:avLst>
              <a:gd name="adj" fmla="val 5159"/>
            </a:avLst>
          </a:prstGeom>
          <a:solidFill>
            <a:srgbClr val="FFFFFF">
              <a:alpha val="15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10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F3E5F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t="-380" b="-380"/>
          <a:stretch/>
        </p:blipFill>
        <p:spPr>
          <a:xfrm>
            <a:off x="1950415" y="1429207"/>
            <a:ext cx="975665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 t="-380" b="-380"/>
          <a:stretch/>
        </p:blipFill>
        <p:spPr>
          <a:xfrm>
            <a:off x="4450385" y="1429207"/>
            <a:ext cx="975665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rcRect t="-380" b="-380"/>
          <a:stretch/>
        </p:blipFill>
        <p:spPr>
          <a:xfrm>
            <a:off x="6949440" y="1429207"/>
            <a:ext cx="975665" cy="3840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2"/>
          <a:srcRect t="-380" b="-380"/>
          <a:stretch/>
        </p:blipFill>
        <p:spPr>
          <a:xfrm>
            <a:off x="9448495" y="1429207"/>
            <a:ext cx="975665" cy="384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3836822"/>
            <a:ext cx="1990649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5"/>
          <p:cNvSpPr txBox="1"/>
          <p:nvPr/>
        </p:nvSpPr>
        <p:spPr>
          <a:xfrm>
            <a:off x="676656" y="3979469"/>
            <a:ext cx="17812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Creazione Lista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680314" y="4257446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una lista SharePoint chiamata "Richieste Help Desk" con colonne per Titolo, Descrizione e Priorità.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9965" y="2693822"/>
            <a:ext cx="952805" cy="95280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65706" y="2684678"/>
            <a:ext cx="286207" cy="28620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27302" y="2684678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rcRect t="-636" b="-636"/>
          <a:stretch/>
        </p:blipFill>
        <p:spPr>
          <a:xfrm>
            <a:off x="1327709" y="2955341"/>
            <a:ext cx="476402" cy="428854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2836469" y="3836822"/>
            <a:ext cx="1990649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9"/>
          <p:cNvSpPr txBox="1"/>
          <p:nvPr/>
        </p:nvSpPr>
        <p:spPr>
          <a:xfrm>
            <a:off x="2941625" y="3979469"/>
            <a:ext cx="17812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Generazione App</a:t>
            </a:r>
            <a:endParaRPr lang="en-US" sz="1300" dirty="0"/>
          </a:p>
        </p:txBody>
      </p:sp>
      <p:sp>
        <p:nvSpPr>
          <p:cNvPr id="19" name="Text 10"/>
          <p:cNvSpPr txBox="1"/>
          <p:nvPr/>
        </p:nvSpPr>
        <p:spPr>
          <a:xfrm>
            <a:off x="2945282" y="4257446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Dal menu della lista, seleziona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 &gt; Power Apps &gt; Crea un'app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generare automaticamente l'interfaccia. 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54934" y="2693822"/>
            <a:ext cx="952805" cy="95280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30675" y="2684678"/>
            <a:ext cx="286207" cy="286207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3993185" y="2684678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16452" y="2955341"/>
            <a:ext cx="428854" cy="428854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5101438" y="3836822"/>
            <a:ext cx="1990649" cy="1429207"/>
          </a:xfrm>
          <a:prstGeom prst="roundRect">
            <a:avLst>
              <a:gd name="adj" fmla="val 102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13"/>
          <p:cNvSpPr txBox="1"/>
          <p:nvPr/>
        </p:nvSpPr>
        <p:spPr>
          <a:xfrm>
            <a:off x="5179162" y="3979469"/>
            <a:ext cx="183520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Personalizzazione</a:t>
            </a:r>
            <a:endParaRPr lang="en-US" sz="1300" dirty="0"/>
          </a:p>
        </p:txBody>
      </p:sp>
      <p:sp>
        <p:nvSpPr>
          <p:cNvPr id="26" name="Text 14"/>
          <p:cNvSpPr txBox="1"/>
          <p:nvPr/>
        </p:nvSpPr>
        <p:spPr>
          <a:xfrm>
            <a:off x="5210251" y="4257446"/>
            <a:ext cx="1773936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 il tema grafico, i colori principali e aggiungi il logo aziendale nell'intestazione dell'app.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19902" y="2693822"/>
            <a:ext cx="952805" cy="952805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5644" y="2684678"/>
            <a:ext cx="286207" cy="286207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6258154" y="2684678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9"/>
          <a:srcRect t="-636" b="-636"/>
          <a:stretch/>
        </p:blipFill>
        <p:spPr>
          <a:xfrm>
            <a:off x="5857646" y="2955341"/>
            <a:ext cx="476402" cy="428854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7366406" y="3836822"/>
            <a:ext cx="1990649" cy="1429207"/>
          </a:xfrm>
          <a:prstGeom prst="roundRect">
            <a:avLst>
              <a:gd name="adj" fmla="val 102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17"/>
          <p:cNvSpPr txBox="1"/>
          <p:nvPr/>
        </p:nvSpPr>
        <p:spPr>
          <a:xfrm>
            <a:off x="7471562" y="3979469"/>
            <a:ext cx="17812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Funzionale</a:t>
            </a:r>
            <a:endParaRPr lang="en-US" sz="1300" dirty="0"/>
          </a:p>
        </p:txBody>
      </p:sp>
      <p:sp>
        <p:nvSpPr>
          <p:cNvPr id="33" name="Text 18"/>
          <p:cNvSpPr txBox="1"/>
          <p:nvPr/>
        </p:nvSpPr>
        <p:spPr>
          <a:xfrm>
            <a:off x="7475220" y="4257446"/>
            <a:ext cx="1773936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Avvia l'anteprima (F5) e prova a inserire una nuova richiesta per verificare che venga salvata nella lista.</a:t>
            </a:r>
            <a:endParaRPr lang="en-US" sz="10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84871" y="2693822"/>
            <a:ext cx="952805" cy="952805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60613" y="2684678"/>
            <a:ext cx="286207" cy="286207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8523122" y="2684678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46390" y="2955341"/>
            <a:ext cx="428854" cy="428854"/>
          </a:xfrm>
          <a:prstGeom prst="rect">
            <a:avLst/>
          </a:prstGeom>
        </p:spPr>
      </p:pic>
      <p:sp>
        <p:nvSpPr>
          <p:cNvPr id="38" name="Shape 20"/>
          <p:cNvSpPr/>
          <p:nvPr/>
        </p:nvSpPr>
        <p:spPr>
          <a:xfrm>
            <a:off x="9631375" y="3836822"/>
            <a:ext cx="1990649" cy="1429207"/>
          </a:xfrm>
          <a:prstGeom prst="roundRect">
            <a:avLst>
              <a:gd name="adj" fmla="val 102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Text 21"/>
          <p:cNvSpPr txBox="1"/>
          <p:nvPr/>
        </p:nvSpPr>
        <p:spPr>
          <a:xfrm>
            <a:off x="9736531" y="3979469"/>
            <a:ext cx="17812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Pubblicazione</a:t>
            </a:r>
            <a:endParaRPr lang="en-US" sz="1300" dirty="0"/>
          </a:p>
        </p:txBody>
      </p:sp>
      <p:sp>
        <p:nvSpPr>
          <p:cNvPr id="40" name="Text 22"/>
          <p:cNvSpPr txBox="1"/>
          <p:nvPr/>
        </p:nvSpPr>
        <p:spPr>
          <a:xfrm>
            <a:off x="9740189" y="4257446"/>
            <a:ext cx="1773936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 le modifiche, pubblica la versione e condividi l'app con un collega per completare il test.</a:t>
            </a:r>
            <a:endParaRPr lang="en-US" sz="1000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149840" y="2693822"/>
            <a:ext cx="952805" cy="952805"/>
          </a:xfrm>
          <a:prstGeom prst="rect">
            <a:avLst/>
          </a:prstGeom>
        </p:spPr>
      </p:pic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826496" y="2684678"/>
            <a:ext cx="286207" cy="286207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10788091" y="2684678"/>
            <a:ext cx="362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3"/>
          <a:srcRect t="-636" b="-636"/>
          <a:stretch/>
        </p:blipFill>
        <p:spPr>
          <a:xfrm>
            <a:off x="10387584" y="2955341"/>
            <a:ext cx="476402" cy="428854"/>
          </a:xfrm>
          <a:prstGeom prst="rect">
            <a:avLst/>
          </a:prstGeom>
        </p:spPr>
      </p:pic>
      <p:sp>
        <p:nvSpPr>
          <p:cNvPr id="45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26"/>
          <p:cNvSpPr txBox="1"/>
          <p:nvPr/>
        </p:nvSpPr>
        <p:spPr>
          <a:xfrm>
            <a:off x="571500" y="152705"/>
            <a:ext cx="5982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Pratica</a:t>
            </a:r>
            <a:endParaRPr lang="en-US" sz="1000" dirty="0"/>
          </a:p>
        </p:txBody>
      </p:sp>
      <p:sp>
        <p:nvSpPr>
          <p:cNvPr id="48" name="Text 27"/>
          <p:cNvSpPr txBox="1"/>
          <p:nvPr/>
        </p:nvSpPr>
        <p:spPr>
          <a:xfrm>
            <a:off x="571500" y="381305"/>
            <a:ext cx="72063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Creazione App da Lista SharePoint</a:t>
            </a:r>
            <a:endParaRPr lang="en-US" sz="2700" dirty="0"/>
          </a:p>
        </p:txBody>
      </p:sp>
      <p:sp>
        <p:nvSpPr>
          <p:cNvPr id="49" name="Shape 28"/>
          <p:cNvSpPr/>
          <p:nvPr/>
        </p:nvSpPr>
        <p:spPr>
          <a:xfrm>
            <a:off x="9818827" y="276149"/>
            <a:ext cx="1809598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19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10019081" y="381305"/>
            <a:ext cx="133502" cy="152705"/>
          </a:xfrm>
          <a:prstGeom prst="rect">
            <a:avLst/>
          </a:prstGeom>
        </p:spPr>
      </p:pic>
      <p:sp>
        <p:nvSpPr>
          <p:cNvPr id="51" name="Text 29"/>
          <p:cNvSpPr txBox="1"/>
          <p:nvPr/>
        </p:nvSpPr>
        <p:spPr>
          <a:xfrm>
            <a:off x="10266883" y="276149"/>
            <a:ext cx="1219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Tempo: 30 Minuti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>
            <a:alphaModFix amt="50000"/>
          </a:blip>
          <a:srcRect t="-5" b="-5"/>
          <a:stretch/>
        </p:blipFill>
        <p:spPr>
          <a:xfrm>
            <a:off x="0" y="857707"/>
            <a:ext cx="12191695" cy="600120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1047902" y="3246120"/>
            <a:ext cx="10096805" cy="384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7902" y="2864815"/>
            <a:ext cx="761695" cy="76169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76502" y="3093415"/>
            <a:ext cx="304495" cy="30449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91540" y="3770071"/>
            <a:ext cx="10771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Center</a:t>
            </a:r>
            <a:endParaRPr lang="en-US" sz="1000" dirty="0"/>
          </a:p>
        </p:txBody>
      </p:sp>
      <p:sp>
        <p:nvSpPr>
          <p:cNvPr id="10" name="Text 4"/>
          <p:cNvSpPr txBox="1"/>
          <p:nvPr/>
        </p:nvSpPr>
        <p:spPr>
          <a:xfrm>
            <a:off x="733349" y="4023360"/>
            <a:ext cx="13908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centralizzata utenti e licenze</a:t>
            </a:r>
            <a:endParaRPr lang="en-US" sz="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603297" y="2864815"/>
            <a:ext cx="761695" cy="7616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831897" y="3093415"/>
            <a:ext cx="304495" cy="30449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2590495" y="3770071"/>
            <a:ext cx="7927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Sicurezza</a:t>
            </a:r>
            <a:endParaRPr lang="en-US" sz="1000" dirty="0"/>
          </a:p>
        </p:txBody>
      </p:sp>
      <p:sp>
        <p:nvSpPr>
          <p:cNvPr id="14" name="Text 6"/>
          <p:cNvSpPr txBox="1"/>
          <p:nvPr/>
        </p:nvSpPr>
        <p:spPr>
          <a:xfrm>
            <a:off x="2288743" y="4023360"/>
            <a:ext cx="13908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MFA, Audit Log e Minimo Privilegio</a:t>
            </a:r>
            <a:endParaRPr lang="en-US" sz="9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159606" y="2864815"/>
            <a:ext cx="761695" cy="761695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4369003" y="3093415"/>
            <a:ext cx="342900" cy="304495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4193438" y="3770071"/>
            <a:ext cx="7031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 ID</a:t>
            </a:r>
            <a:endParaRPr lang="en-US" sz="1000" dirty="0"/>
          </a:p>
        </p:txBody>
      </p:sp>
      <p:sp>
        <p:nvSpPr>
          <p:cNvPr id="18" name="Text 8"/>
          <p:cNvSpPr txBox="1"/>
          <p:nvPr/>
        </p:nvSpPr>
        <p:spPr>
          <a:xfrm>
            <a:off x="3845052" y="4023360"/>
            <a:ext cx="13908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Identity Management e Access Control</a:t>
            </a:r>
            <a:endParaRPr lang="en-US" sz="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15000" y="2864815"/>
            <a:ext cx="761695" cy="761695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1"/>
          <a:srcRect l="-90" r="-90"/>
          <a:stretch/>
        </p:blipFill>
        <p:spPr>
          <a:xfrm>
            <a:off x="5905195" y="3093415"/>
            <a:ext cx="381305" cy="304495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5577840" y="3770071"/>
            <a:ext cx="10387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Automazione</a:t>
            </a:r>
            <a:endParaRPr lang="en-US" sz="1000" dirty="0"/>
          </a:p>
        </p:txBody>
      </p:sp>
      <p:sp>
        <p:nvSpPr>
          <p:cNvPr id="22" name="Text 10"/>
          <p:cNvSpPr txBox="1"/>
          <p:nvPr/>
        </p:nvSpPr>
        <p:spPr>
          <a:xfrm>
            <a:off x="5400446" y="4023360"/>
            <a:ext cx="13908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Automate per workflow efficienti</a:t>
            </a:r>
            <a:endParaRPr lang="en-US" sz="9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270394" y="2864815"/>
            <a:ext cx="761695" cy="761695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3"/>
          <a:srcRect l="-50" r="-50"/>
          <a:stretch/>
        </p:blipFill>
        <p:spPr>
          <a:xfrm>
            <a:off x="7537399" y="3093415"/>
            <a:ext cx="228600" cy="304495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7181698" y="3770071"/>
            <a:ext cx="9436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Apps</a:t>
            </a:r>
            <a:endParaRPr lang="en-US" sz="1000" dirty="0"/>
          </a:p>
        </p:txBody>
      </p:sp>
      <p:sp>
        <p:nvSpPr>
          <p:cNvPr id="26" name="Text 12"/>
          <p:cNvSpPr txBox="1"/>
          <p:nvPr/>
        </p:nvSpPr>
        <p:spPr>
          <a:xfrm>
            <a:off x="6956755" y="4023360"/>
            <a:ext cx="13908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Sviluppo Low-Code di app aziendali</a:t>
            </a:r>
            <a:endParaRPr lang="en-US" sz="9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826703" y="2864815"/>
            <a:ext cx="761695" cy="761695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5"/>
          <a:srcRect l="-90" r="-90"/>
          <a:stretch/>
        </p:blipFill>
        <p:spPr>
          <a:xfrm>
            <a:off x="9016898" y="3093415"/>
            <a:ext cx="381305" cy="304495"/>
          </a:xfrm>
          <a:prstGeom prst="rect">
            <a:avLst/>
          </a:prstGeom>
        </p:spPr>
      </p:pic>
      <p:sp>
        <p:nvSpPr>
          <p:cNvPr id="29" name="Text 13"/>
          <p:cNvSpPr txBox="1"/>
          <p:nvPr/>
        </p:nvSpPr>
        <p:spPr>
          <a:xfrm>
            <a:off x="8739835" y="3770071"/>
            <a:ext cx="9436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0" name="Text 14"/>
          <p:cNvSpPr txBox="1"/>
          <p:nvPr/>
        </p:nvSpPr>
        <p:spPr>
          <a:xfrm>
            <a:off x="8512150" y="4023360"/>
            <a:ext cx="13908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Policy DLP e Naming Convention</a:t>
            </a:r>
            <a:endParaRPr lang="en-US" sz="900" dirty="0"/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382098" y="2864815"/>
            <a:ext cx="761695" cy="761695"/>
          </a:xfrm>
          <a:prstGeom prst="rect">
            <a:avLst/>
          </a:prstGeom>
        </p:spPr>
      </p:pic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610698" y="3093415"/>
            <a:ext cx="304495" cy="304495"/>
          </a:xfrm>
          <a:prstGeom prst="rect">
            <a:avLst/>
          </a:prstGeom>
        </p:spPr>
      </p:pic>
      <p:sp>
        <p:nvSpPr>
          <p:cNvPr id="33" name="Text 15"/>
          <p:cNvSpPr txBox="1"/>
          <p:nvPr/>
        </p:nvSpPr>
        <p:spPr>
          <a:xfrm>
            <a:off x="10451592" y="3770071"/>
            <a:ext cx="6291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Backup</a:t>
            </a:r>
            <a:endParaRPr lang="en-US" sz="1000" dirty="0"/>
          </a:p>
        </p:txBody>
      </p:sp>
      <p:sp>
        <p:nvSpPr>
          <p:cNvPr id="34" name="Text 16"/>
          <p:cNvSpPr txBox="1"/>
          <p:nvPr/>
        </p:nvSpPr>
        <p:spPr>
          <a:xfrm>
            <a:off x="10067544" y="4023360"/>
            <a:ext cx="13908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Disaster Recovery e Protezione Dati</a:t>
            </a:r>
            <a:endParaRPr lang="en-US" sz="900" dirty="0"/>
          </a:p>
        </p:txBody>
      </p:sp>
      <p:sp>
        <p:nvSpPr>
          <p:cNvPr id="35" name="Shape 17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18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9"/>
          <p:cNvSpPr txBox="1"/>
          <p:nvPr/>
        </p:nvSpPr>
        <p:spPr>
          <a:xfrm>
            <a:off x="571500" y="105156"/>
            <a:ext cx="4401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1D4E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Riepilogo Competenze</a:t>
            </a:r>
            <a:endParaRPr lang="en-US" sz="1000" dirty="0"/>
          </a:p>
        </p:txBody>
      </p:sp>
      <p:sp>
        <p:nvSpPr>
          <p:cNvPr id="38" name="Text 20"/>
          <p:cNvSpPr txBox="1"/>
          <p:nvPr/>
        </p:nvSpPr>
        <p:spPr>
          <a:xfrm>
            <a:off x="571500" y="333756"/>
            <a:ext cx="4868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 Modulo 3</a:t>
            </a:r>
            <a:endParaRPr lang="en-US" sz="2700" dirty="0"/>
          </a:p>
        </p:txBody>
      </p:sp>
      <p:sp>
        <p:nvSpPr>
          <p:cNvPr id="39" name="Shape 21"/>
          <p:cNvSpPr/>
          <p:nvPr/>
        </p:nvSpPr>
        <p:spPr>
          <a:xfrm>
            <a:off x="9653321" y="228600"/>
            <a:ext cx="1971446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8"/>
          <a:srcRect t="-43" b="-43"/>
          <a:stretch/>
        </p:blipFill>
        <p:spPr>
          <a:xfrm>
            <a:off x="9853574" y="333756"/>
            <a:ext cx="133502" cy="152705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10101377" y="228600"/>
            <a:ext cx="13816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Modulo Completato</a:t>
            </a:r>
            <a:endParaRPr lang="en-US" sz="1000" dirty="0"/>
          </a:p>
        </p:txBody>
      </p:sp>
      <p:sp>
        <p:nvSpPr>
          <p:cNvPr id="42" name="Text 23"/>
          <p:cNvSpPr txBox="1"/>
          <p:nvPr/>
        </p:nvSpPr>
        <p:spPr>
          <a:xfrm>
            <a:off x="514807" y="1143000"/>
            <a:ext cx="11163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 tuo Toolkit da Amministratore M365</a:t>
            </a:r>
            <a:endParaRPr lang="en-US" sz="2400" dirty="0"/>
          </a:p>
        </p:txBody>
      </p:sp>
      <p:sp>
        <p:nvSpPr>
          <p:cNvPr id="43" name="Text 24"/>
          <p:cNvSpPr txBox="1"/>
          <p:nvPr/>
        </p:nvSpPr>
        <p:spPr>
          <a:xfrm>
            <a:off x="2247595" y="1695298"/>
            <a:ext cx="76965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Hai acquisito le competenze fondamentali per gestire, proteggere e automatizzare l'ecosistema Microsoft 365. Ecco gli strumenti che ora padroneggi.</a:t>
            </a:r>
            <a:endParaRPr lang="en-US" sz="1300" dirty="0"/>
          </a:p>
        </p:txBody>
      </p:sp>
      <p:pic>
        <p:nvPicPr>
          <p:cNvPr id="44" name="Image 17" descr="preencoded.png"/>
          <p:cNvPicPr>
            <a:picLocks noChangeAspect="1"/>
          </p:cNvPicPr>
          <p:nvPr/>
        </p:nvPicPr>
        <p:blipFill>
          <a:blip r:embed="rId19"/>
          <a:srcRect t="-31" b="-31"/>
          <a:stretch/>
        </p:blipFill>
        <p:spPr>
          <a:xfrm>
            <a:off x="7488022" y="5715000"/>
            <a:ext cx="4132174" cy="857707"/>
          </a:xfrm>
          <a:prstGeom prst="rect">
            <a:avLst/>
          </a:prstGeom>
        </p:spPr>
      </p:pic>
      <p:sp>
        <p:nvSpPr>
          <p:cNvPr id="45" name="Text 25"/>
          <p:cNvSpPr txBox="1"/>
          <p:nvPr/>
        </p:nvSpPr>
        <p:spPr>
          <a:xfrm>
            <a:off x="8307324" y="5896966"/>
            <a:ext cx="3191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Obiettivo Raggiunto!</a:t>
            </a:r>
            <a:endParaRPr lang="en-US" sz="1300" dirty="0"/>
          </a:p>
        </p:txBody>
      </p:sp>
      <p:sp>
        <p:nvSpPr>
          <p:cNvPr id="46" name="Text 26"/>
          <p:cNvSpPr txBox="1"/>
          <p:nvPr/>
        </p:nvSpPr>
        <p:spPr>
          <a:xfrm>
            <a:off x="8307324" y="6195974"/>
            <a:ext cx="36530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Sei pronto per amministrare un tenant M365 reale.</a:t>
            </a:r>
            <a:endParaRPr lang="en-US" sz="1000" dirty="0"/>
          </a:p>
        </p:txBody>
      </p:sp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783373" y="5952744"/>
            <a:ext cx="381305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38103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/>
        </p:blipFill>
        <p:spPr>
          <a:xfrm>
            <a:off x="9810598" y="952805"/>
            <a:ext cx="22860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6402" y="1047902"/>
            <a:ext cx="5477256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476402" y="1047902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629107" y="1047902"/>
            <a:ext cx="391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86307" y="1178662"/>
            <a:ext cx="4457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Center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086307" y="1326794"/>
            <a:ext cx="501365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 è l'URL per accedere al portale di amministrazione M365?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5524805" y="1218895"/>
            <a:ext cx="286207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6402" y="1714500"/>
            <a:ext cx="5477256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476402" y="1714500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 txBox="1"/>
          <p:nvPr/>
        </p:nvSpPr>
        <p:spPr>
          <a:xfrm>
            <a:off x="629107" y="1714500"/>
            <a:ext cx="391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B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86307" y="1845259"/>
            <a:ext cx="4515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086307" y="1994306"/>
            <a:ext cx="45153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 significa l'acronimo MFA e perché è essenziale?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81498" y="1886407"/>
            <a:ext cx="228600" cy="228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6402" y="2381098"/>
            <a:ext cx="5477256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476402" y="2381098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 txBox="1"/>
          <p:nvPr/>
        </p:nvSpPr>
        <p:spPr>
          <a:xfrm>
            <a:off x="629107" y="2381098"/>
            <a:ext cx="391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B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86307" y="2511857"/>
            <a:ext cx="4515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&amp; Compliance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086307" y="2660904"/>
            <a:ext cx="5086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 è la retention standard degli Audit Log per le licenze base?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81498" y="2553005"/>
            <a:ext cx="228600" cy="228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76402" y="3047695"/>
            <a:ext cx="5477256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19"/>
          <p:cNvSpPr/>
          <p:nvPr/>
        </p:nvSpPr>
        <p:spPr>
          <a:xfrm>
            <a:off x="476402" y="3047695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0"/>
          <p:cNvSpPr txBox="1"/>
          <p:nvPr/>
        </p:nvSpPr>
        <p:spPr>
          <a:xfrm>
            <a:off x="629107" y="3047695"/>
            <a:ext cx="391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2D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086307" y="3178454"/>
            <a:ext cx="44869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Identity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1086307" y="3327502"/>
            <a:ext cx="46927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 è il nuovo nome ufficiale di Azure Active Directory?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5553151" y="3219602"/>
            <a:ext cx="256946" cy="2286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76402" y="3715207"/>
            <a:ext cx="5477256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4"/>
          <p:cNvSpPr/>
          <p:nvPr/>
        </p:nvSpPr>
        <p:spPr>
          <a:xfrm>
            <a:off x="476402" y="3715207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5"/>
          <p:cNvSpPr txBox="1"/>
          <p:nvPr/>
        </p:nvSpPr>
        <p:spPr>
          <a:xfrm>
            <a:off x="629107" y="3715207"/>
            <a:ext cx="391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2D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1086307" y="3845052"/>
            <a:ext cx="4515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Identity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1086307" y="3994099"/>
            <a:ext cx="46122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cosa serve la funzionalità SSPR per gli utenti finali?</a:t>
            </a:r>
            <a:endParaRPr lang="en-US" sz="10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81498" y="3886200"/>
            <a:ext cx="228600" cy="22860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238951" y="1047902"/>
            <a:ext cx="5477256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Shape 29"/>
          <p:cNvSpPr/>
          <p:nvPr/>
        </p:nvSpPr>
        <p:spPr>
          <a:xfrm>
            <a:off x="6238951" y="1047902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008272"/>
          </a:solidFill>
          <a:ln w="12700">
            <a:solidFill>
              <a:srgbClr val="0082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0"/>
          <p:cNvSpPr txBox="1"/>
          <p:nvPr/>
        </p:nvSpPr>
        <p:spPr>
          <a:xfrm>
            <a:off x="6391656" y="1047902"/>
            <a:ext cx="391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2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6848856" y="1178662"/>
            <a:ext cx="4543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Automate</a:t>
            </a:r>
            <a:endParaRPr lang="en-US" sz="800" dirty="0"/>
          </a:p>
        </p:txBody>
      </p:sp>
      <p:sp>
        <p:nvSpPr>
          <p:cNvPr id="40" name="Text 32"/>
          <p:cNvSpPr txBox="1"/>
          <p:nvPr/>
        </p:nvSpPr>
        <p:spPr>
          <a:xfrm>
            <a:off x="6848856" y="1326794"/>
            <a:ext cx="49341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 si chiama l'evento che fa partire un flusso automatico?</a:t>
            </a:r>
            <a:endParaRPr lang="en-US" sz="10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11373307" y="1218895"/>
            <a:ext cx="200254" cy="22860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6238951" y="1714500"/>
            <a:ext cx="5477256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Shape 34"/>
          <p:cNvSpPr/>
          <p:nvPr/>
        </p:nvSpPr>
        <p:spPr>
          <a:xfrm>
            <a:off x="6238951" y="1714500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744DA9"/>
          </a:solidFill>
          <a:ln w="12700">
            <a:solidFill>
              <a:srgbClr val="744DA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5"/>
          <p:cNvSpPr txBox="1"/>
          <p:nvPr/>
        </p:nvSpPr>
        <p:spPr>
          <a:xfrm>
            <a:off x="6391656" y="1714500"/>
            <a:ext cx="391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4D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6848856" y="1845259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Apps</a:t>
            </a:r>
            <a:endParaRPr lang="en-US" sz="800" dirty="0"/>
          </a:p>
        </p:txBody>
      </p:sp>
      <p:sp>
        <p:nvSpPr>
          <p:cNvPr id="46" name="Text 37"/>
          <p:cNvSpPr txBox="1"/>
          <p:nvPr/>
        </p:nvSpPr>
        <p:spPr>
          <a:xfrm>
            <a:off x="6848856" y="1994306"/>
            <a:ext cx="477316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 sono i due tipi principali di applicazioni creabili?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11401654" y="1886407"/>
            <a:ext cx="171907" cy="228600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6238951" y="2381098"/>
            <a:ext cx="5477256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9" name="Shape 39"/>
          <p:cNvSpPr/>
          <p:nvPr/>
        </p:nvSpPr>
        <p:spPr>
          <a:xfrm>
            <a:off x="6238951" y="2381098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0"/>
          <p:cNvSpPr txBox="1"/>
          <p:nvPr/>
        </p:nvSpPr>
        <p:spPr>
          <a:xfrm>
            <a:off x="6391656" y="2381098"/>
            <a:ext cx="391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7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400" dirty="0"/>
          </a:p>
        </p:txBody>
      </p:sp>
      <p:sp>
        <p:nvSpPr>
          <p:cNvPr id="51" name="Text 41"/>
          <p:cNvSpPr txBox="1"/>
          <p:nvPr/>
        </p:nvSpPr>
        <p:spPr>
          <a:xfrm>
            <a:off x="6848856" y="2511857"/>
            <a:ext cx="44869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52" name="Text 42"/>
          <p:cNvSpPr txBox="1"/>
          <p:nvPr/>
        </p:nvSpPr>
        <p:spPr>
          <a:xfrm>
            <a:off x="6848856" y="2660904"/>
            <a:ext cx="44869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 protegge principalmente una policy DLP?</a:t>
            </a:r>
            <a:endParaRPr lang="en-US" sz="100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11315700" y="2553005"/>
            <a:ext cx="256946" cy="228600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6238951" y="3047695"/>
            <a:ext cx="5477256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Shape 44"/>
          <p:cNvSpPr/>
          <p:nvPr/>
        </p:nvSpPr>
        <p:spPr>
          <a:xfrm>
            <a:off x="6238951" y="3047695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C50F1F"/>
          </a:solidFill>
          <a:ln w="12700">
            <a:solidFill>
              <a:srgbClr val="C50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45"/>
          <p:cNvSpPr txBox="1"/>
          <p:nvPr/>
        </p:nvSpPr>
        <p:spPr>
          <a:xfrm>
            <a:off x="6391656" y="3047695"/>
            <a:ext cx="391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0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400" dirty="0"/>
          </a:p>
        </p:txBody>
      </p:sp>
      <p:sp>
        <p:nvSpPr>
          <p:cNvPr id="57" name="Text 46"/>
          <p:cNvSpPr txBox="1"/>
          <p:nvPr/>
        </p:nvSpPr>
        <p:spPr>
          <a:xfrm>
            <a:off x="6848856" y="3178454"/>
            <a:ext cx="4543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&amp; Recovery</a:t>
            </a:r>
            <a:endParaRPr lang="en-US" sz="800" dirty="0"/>
          </a:p>
        </p:txBody>
      </p:sp>
      <p:sp>
        <p:nvSpPr>
          <p:cNvPr id="58" name="Text 47"/>
          <p:cNvSpPr txBox="1"/>
          <p:nvPr/>
        </p:nvSpPr>
        <p:spPr>
          <a:xfrm>
            <a:off x="6848856" y="3327502"/>
            <a:ext cx="46122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 livelli di Cestino esistono in SharePoint Online?</a:t>
            </a:r>
            <a:endParaRPr lang="en-US" sz="1000" dirty="0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1373307" y="3219602"/>
            <a:ext cx="200254" cy="228600"/>
          </a:xfrm>
          <a:prstGeom prst="rect">
            <a:avLst/>
          </a:prstGeom>
        </p:spPr>
      </p:pic>
      <p:sp>
        <p:nvSpPr>
          <p:cNvPr id="60" name="Shape 48"/>
          <p:cNvSpPr/>
          <p:nvPr/>
        </p:nvSpPr>
        <p:spPr>
          <a:xfrm>
            <a:off x="6238951" y="3715207"/>
            <a:ext cx="5477256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1" name="Shape 49"/>
          <p:cNvSpPr/>
          <p:nvPr/>
        </p:nvSpPr>
        <p:spPr>
          <a:xfrm>
            <a:off x="6238951" y="3715207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C50F1F"/>
          </a:solidFill>
          <a:ln w="12700">
            <a:solidFill>
              <a:srgbClr val="C50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50"/>
          <p:cNvSpPr txBox="1"/>
          <p:nvPr/>
        </p:nvSpPr>
        <p:spPr>
          <a:xfrm>
            <a:off x="6391656" y="3715207"/>
            <a:ext cx="3913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0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400" dirty="0"/>
          </a:p>
        </p:txBody>
      </p:sp>
      <p:sp>
        <p:nvSpPr>
          <p:cNvPr id="63" name="Text 51"/>
          <p:cNvSpPr txBox="1"/>
          <p:nvPr/>
        </p:nvSpPr>
        <p:spPr>
          <a:xfrm>
            <a:off x="6848856" y="3845052"/>
            <a:ext cx="4457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2026</a:t>
            </a:r>
            <a:endParaRPr lang="en-US" sz="800" dirty="0"/>
          </a:p>
        </p:txBody>
      </p:sp>
      <p:sp>
        <p:nvSpPr>
          <p:cNvPr id="64" name="Text 52"/>
          <p:cNvSpPr txBox="1"/>
          <p:nvPr/>
        </p:nvSpPr>
        <p:spPr>
          <a:xfrm>
            <a:off x="6848856" y="3994099"/>
            <a:ext cx="5029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Quale funzione chiave introduce il nuovo Microsoft 365 Backup?</a:t>
            </a:r>
            <a:endParaRPr lang="en-US" sz="1000" dirty="0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11287354" y="3886200"/>
            <a:ext cx="286207" cy="228600"/>
          </a:xfrm>
          <a:prstGeom prst="rect">
            <a:avLst/>
          </a:prstGeom>
        </p:spPr>
      </p:pic>
      <p:sp>
        <p:nvSpPr>
          <p:cNvPr id="66" name="Shape 53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7" name="Shape 54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55"/>
          <p:cNvSpPr txBox="1"/>
          <p:nvPr/>
        </p:nvSpPr>
        <p:spPr>
          <a:xfrm>
            <a:off x="476402" y="142646"/>
            <a:ext cx="3086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 Apprendimento</a:t>
            </a:r>
            <a:endParaRPr lang="en-US" sz="900" dirty="0"/>
          </a:p>
        </p:txBody>
      </p:sp>
      <p:sp>
        <p:nvSpPr>
          <p:cNvPr id="69" name="Text 56"/>
          <p:cNvSpPr txBox="1"/>
          <p:nvPr/>
        </p:nvSpPr>
        <p:spPr>
          <a:xfrm>
            <a:off x="476402" y="333756"/>
            <a:ext cx="35323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Finale Modulo 3</a:t>
            </a:r>
            <a:endParaRPr lang="en-US" sz="2200" dirty="0"/>
          </a:p>
        </p:txBody>
      </p:sp>
      <p:sp>
        <p:nvSpPr>
          <p:cNvPr id="70" name="Shape 57"/>
          <p:cNvSpPr/>
          <p:nvPr/>
        </p:nvSpPr>
        <p:spPr>
          <a:xfrm>
            <a:off x="10332720" y="247802"/>
            <a:ext cx="1390802" cy="323698"/>
          </a:xfrm>
          <a:prstGeom prst="roundRect">
            <a:avLst>
              <a:gd name="adj" fmla="val 13293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3"/>
          <a:srcRect t="-100" b="-100"/>
          <a:stretch/>
        </p:blipFill>
        <p:spPr>
          <a:xfrm>
            <a:off x="10494569" y="333756"/>
            <a:ext cx="114300" cy="152705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10723169" y="247802"/>
            <a:ext cx="8961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Domande</a:t>
            </a:r>
            <a:endParaRPr lang="en-US" sz="1000" dirty="0"/>
          </a:p>
        </p:txBody>
      </p:sp>
      <p:sp>
        <p:nvSpPr>
          <p:cNvPr id="74" name="Shape 60"/>
          <p:cNvSpPr/>
          <p:nvPr/>
        </p:nvSpPr>
        <p:spPr>
          <a:xfrm>
            <a:off x="0" y="4667098"/>
            <a:ext cx="12191695" cy="19202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61"/>
          <p:cNvSpPr txBox="1"/>
          <p:nvPr/>
        </p:nvSpPr>
        <p:spPr>
          <a:xfrm>
            <a:off x="695858" y="4828946"/>
            <a:ext cx="1113464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Risposte Corrette </a:t>
            </a:r>
            <a:endParaRPr lang="en-US" sz="1000" dirty="0"/>
          </a:p>
        </p:txBody>
      </p:sp>
      <p:pic>
        <p:nvPicPr>
          <p:cNvPr id="76" name="Image 12" descr="preencoded.png"/>
          <p:cNvPicPr>
            <a:picLocks noChangeAspect="1"/>
          </p:cNvPicPr>
          <p:nvPr/>
        </p:nvPicPr>
        <p:blipFill>
          <a:blip r:embed="rId14"/>
          <a:srcRect l="-3425" r="-3425"/>
          <a:stretch/>
        </p:blipFill>
        <p:spPr>
          <a:xfrm>
            <a:off x="476402" y="4865522"/>
            <a:ext cx="142646" cy="133502"/>
          </a:xfrm>
          <a:prstGeom prst="rect">
            <a:avLst/>
          </a:prstGeom>
        </p:spPr>
      </p:pic>
      <p:sp>
        <p:nvSpPr>
          <p:cNvPr id="77" name="Shape 62"/>
          <p:cNvSpPr/>
          <p:nvPr/>
        </p:nvSpPr>
        <p:spPr>
          <a:xfrm>
            <a:off x="476402" y="5129784"/>
            <a:ext cx="5477256" cy="295351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63"/>
          <p:cNvSpPr txBox="1"/>
          <p:nvPr/>
        </p:nvSpPr>
        <p:spPr>
          <a:xfrm>
            <a:off x="580644" y="5177333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</a:t>
            </a:r>
            <a:endParaRPr lang="en-US" sz="1000" dirty="0"/>
          </a:p>
        </p:txBody>
      </p:sp>
      <p:sp>
        <p:nvSpPr>
          <p:cNvPr id="79" name="Text 64"/>
          <p:cNvSpPr txBox="1"/>
          <p:nvPr/>
        </p:nvSpPr>
        <p:spPr>
          <a:xfrm>
            <a:off x="847649" y="5183734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admin.microsoft.com</a:t>
            </a:r>
            <a:endParaRPr lang="en-US" sz="900" dirty="0"/>
          </a:p>
        </p:txBody>
      </p:sp>
      <p:sp>
        <p:nvSpPr>
          <p:cNvPr id="80" name="Shape 65"/>
          <p:cNvSpPr/>
          <p:nvPr/>
        </p:nvSpPr>
        <p:spPr>
          <a:xfrm>
            <a:off x="476402" y="5454396"/>
            <a:ext cx="5477256" cy="295351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66"/>
          <p:cNvSpPr txBox="1"/>
          <p:nvPr/>
        </p:nvSpPr>
        <p:spPr>
          <a:xfrm>
            <a:off x="580644" y="5501945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3B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</a:t>
            </a:r>
            <a:endParaRPr lang="en-US" sz="1000" dirty="0"/>
          </a:p>
        </p:txBody>
      </p:sp>
      <p:sp>
        <p:nvSpPr>
          <p:cNvPr id="82" name="Text 67"/>
          <p:cNvSpPr txBox="1"/>
          <p:nvPr/>
        </p:nvSpPr>
        <p:spPr>
          <a:xfrm>
            <a:off x="847649" y="5507431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Multi-Factor Authentication - blocca </a:t>
            </a:r>
            <a:r>
              <a:rPr lang="en-US" sz="90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99.9%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attacchi</a:t>
            </a:r>
            <a:endParaRPr lang="en-US" sz="900" dirty="0"/>
          </a:p>
        </p:txBody>
      </p:sp>
      <p:sp>
        <p:nvSpPr>
          <p:cNvPr id="83" name="Shape 68"/>
          <p:cNvSpPr/>
          <p:nvPr/>
        </p:nvSpPr>
        <p:spPr>
          <a:xfrm>
            <a:off x="476402" y="5778094"/>
            <a:ext cx="5477256" cy="295351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Text 69"/>
          <p:cNvSpPr txBox="1"/>
          <p:nvPr/>
        </p:nvSpPr>
        <p:spPr>
          <a:xfrm>
            <a:off x="580644" y="5825642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3B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</a:t>
            </a:r>
            <a:endParaRPr lang="en-US" sz="1000" dirty="0"/>
          </a:p>
        </p:txBody>
      </p:sp>
      <p:sp>
        <p:nvSpPr>
          <p:cNvPr id="85" name="Text 70"/>
          <p:cNvSpPr txBox="1"/>
          <p:nvPr/>
        </p:nvSpPr>
        <p:spPr>
          <a:xfrm>
            <a:off x="847649" y="5831129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 giorni (retention standard)</a:t>
            </a:r>
            <a:endParaRPr lang="en-US" sz="900" dirty="0"/>
          </a:p>
        </p:txBody>
      </p:sp>
      <p:sp>
        <p:nvSpPr>
          <p:cNvPr id="86" name="Shape 71"/>
          <p:cNvSpPr/>
          <p:nvPr/>
        </p:nvSpPr>
        <p:spPr>
          <a:xfrm>
            <a:off x="476402" y="6101791"/>
            <a:ext cx="5477256" cy="295351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7" name="Text 72"/>
          <p:cNvSpPr txBox="1"/>
          <p:nvPr/>
        </p:nvSpPr>
        <p:spPr>
          <a:xfrm>
            <a:off x="580644" y="6149340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2D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</a:t>
            </a:r>
            <a:endParaRPr lang="en-US" sz="1000" dirty="0"/>
          </a:p>
        </p:txBody>
      </p:sp>
      <p:sp>
        <p:nvSpPr>
          <p:cNvPr id="88" name="Text 73"/>
          <p:cNvSpPr txBox="1"/>
          <p:nvPr/>
        </p:nvSpPr>
        <p:spPr>
          <a:xfrm>
            <a:off x="847649" y="6154826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Entra ID</a:t>
            </a:r>
            <a:endParaRPr lang="en-US" sz="900" dirty="0"/>
          </a:p>
        </p:txBody>
      </p:sp>
      <p:sp>
        <p:nvSpPr>
          <p:cNvPr id="89" name="Shape 74"/>
          <p:cNvSpPr/>
          <p:nvPr/>
        </p:nvSpPr>
        <p:spPr>
          <a:xfrm>
            <a:off x="476402" y="6425489"/>
            <a:ext cx="5477256" cy="295351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75"/>
          <p:cNvSpPr txBox="1"/>
          <p:nvPr/>
        </p:nvSpPr>
        <p:spPr>
          <a:xfrm>
            <a:off x="580644" y="6473038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2D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</a:t>
            </a:r>
            <a:endParaRPr lang="en-US" sz="1000" dirty="0"/>
          </a:p>
        </p:txBody>
      </p:sp>
      <p:sp>
        <p:nvSpPr>
          <p:cNvPr id="91" name="Text 76"/>
          <p:cNvSpPr txBox="1"/>
          <p:nvPr/>
        </p:nvSpPr>
        <p:spPr>
          <a:xfrm>
            <a:off x="847649" y="6478524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Self-Service Password Reset (reset autonomo)</a:t>
            </a:r>
            <a:endParaRPr lang="en-US" sz="900" dirty="0"/>
          </a:p>
        </p:txBody>
      </p:sp>
      <p:sp>
        <p:nvSpPr>
          <p:cNvPr id="92" name="Shape 77"/>
          <p:cNvSpPr/>
          <p:nvPr/>
        </p:nvSpPr>
        <p:spPr>
          <a:xfrm>
            <a:off x="6238951" y="5129784"/>
            <a:ext cx="5477256" cy="295351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3" name="Text 78"/>
          <p:cNvSpPr txBox="1"/>
          <p:nvPr/>
        </p:nvSpPr>
        <p:spPr>
          <a:xfrm>
            <a:off x="6344107" y="5177333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82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</a:t>
            </a:r>
            <a:endParaRPr lang="en-US" sz="1000" dirty="0"/>
          </a:p>
        </p:txBody>
      </p:sp>
      <p:sp>
        <p:nvSpPr>
          <p:cNvPr id="94" name="Text 79"/>
          <p:cNvSpPr txBox="1"/>
          <p:nvPr/>
        </p:nvSpPr>
        <p:spPr>
          <a:xfrm>
            <a:off x="6610198" y="5183734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Trigger (evento scatenante)</a:t>
            </a:r>
            <a:endParaRPr lang="en-US" sz="900" dirty="0"/>
          </a:p>
        </p:txBody>
      </p:sp>
      <p:sp>
        <p:nvSpPr>
          <p:cNvPr id="95" name="Shape 80"/>
          <p:cNvSpPr/>
          <p:nvPr/>
        </p:nvSpPr>
        <p:spPr>
          <a:xfrm>
            <a:off x="6238951" y="5454396"/>
            <a:ext cx="5477256" cy="295351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6" name="Text 81"/>
          <p:cNvSpPr txBox="1"/>
          <p:nvPr/>
        </p:nvSpPr>
        <p:spPr>
          <a:xfrm>
            <a:off x="6344107" y="5501945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4D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</a:t>
            </a:r>
            <a:endParaRPr lang="en-US" sz="1000" dirty="0"/>
          </a:p>
        </p:txBody>
      </p:sp>
      <p:sp>
        <p:nvSpPr>
          <p:cNvPr id="97" name="Text 82"/>
          <p:cNvSpPr txBox="1"/>
          <p:nvPr/>
        </p:nvSpPr>
        <p:spPr>
          <a:xfrm>
            <a:off x="6610198" y="5507431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Canvas App e Model-driven App</a:t>
            </a:r>
            <a:endParaRPr lang="en-US" sz="900" dirty="0"/>
          </a:p>
        </p:txBody>
      </p:sp>
      <p:sp>
        <p:nvSpPr>
          <p:cNvPr id="98" name="Shape 83"/>
          <p:cNvSpPr/>
          <p:nvPr/>
        </p:nvSpPr>
        <p:spPr>
          <a:xfrm>
            <a:off x="6238951" y="5778094"/>
            <a:ext cx="5477256" cy="295351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9" name="Text 84"/>
          <p:cNvSpPr txBox="1"/>
          <p:nvPr/>
        </p:nvSpPr>
        <p:spPr>
          <a:xfrm>
            <a:off x="6344107" y="5825642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7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</a:t>
            </a:r>
            <a:endParaRPr lang="en-US" sz="1000" dirty="0"/>
          </a:p>
        </p:txBody>
      </p:sp>
      <p:sp>
        <p:nvSpPr>
          <p:cNvPr id="100" name="Text 85"/>
          <p:cNvSpPr txBox="1"/>
          <p:nvPr/>
        </p:nvSpPr>
        <p:spPr>
          <a:xfrm>
            <a:off x="6610198" y="5831129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sensibili in uscita (GDPR, Carte, PII)</a:t>
            </a:r>
            <a:endParaRPr lang="en-US" sz="900" dirty="0"/>
          </a:p>
        </p:txBody>
      </p:sp>
      <p:sp>
        <p:nvSpPr>
          <p:cNvPr id="101" name="Shape 86"/>
          <p:cNvSpPr/>
          <p:nvPr/>
        </p:nvSpPr>
        <p:spPr>
          <a:xfrm>
            <a:off x="6238951" y="6101791"/>
            <a:ext cx="5477256" cy="295351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2" name="Text 87"/>
          <p:cNvSpPr txBox="1"/>
          <p:nvPr/>
        </p:nvSpPr>
        <p:spPr>
          <a:xfrm>
            <a:off x="6344107" y="6149340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50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</a:t>
            </a:r>
            <a:endParaRPr lang="en-US" sz="1000" dirty="0"/>
          </a:p>
        </p:txBody>
      </p:sp>
      <p:sp>
        <p:nvSpPr>
          <p:cNvPr id="103" name="Text 88"/>
          <p:cNvSpPr txBox="1"/>
          <p:nvPr/>
        </p:nvSpPr>
        <p:spPr>
          <a:xfrm>
            <a:off x="6610198" y="6154826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Due livelli (Cestino utente + Cestino raccolta siti)</a:t>
            </a:r>
            <a:endParaRPr lang="en-US" sz="900" dirty="0"/>
          </a:p>
        </p:txBody>
      </p:sp>
      <p:sp>
        <p:nvSpPr>
          <p:cNvPr id="104" name="Shape 89"/>
          <p:cNvSpPr/>
          <p:nvPr/>
        </p:nvSpPr>
        <p:spPr>
          <a:xfrm>
            <a:off x="6238951" y="6425489"/>
            <a:ext cx="5477256" cy="295351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5" name="Text 90"/>
          <p:cNvSpPr txBox="1"/>
          <p:nvPr/>
        </p:nvSpPr>
        <p:spPr>
          <a:xfrm>
            <a:off x="6344107" y="6473038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50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</a:t>
            </a:r>
            <a:endParaRPr lang="en-US" sz="1000" dirty="0"/>
          </a:p>
        </p:txBody>
      </p:sp>
      <p:sp>
        <p:nvSpPr>
          <p:cNvPr id="106" name="Text 91"/>
          <p:cNvSpPr txBox="1"/>
          <p:nvPr/>
        </p:nvSpPr>
        <p:spPr>
          <a:xfrm>
            <a:off x="6610198" y="6478524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Restore file/folder-level (granulare 2026)</a:t>
            </a:r>
            <a:endParaRPr lang="en-US" sz="900" dirty="0"/>
          </a:p>
        </p:txBody>
      </p:sp>
      <p:sp>
        <p:nvSpPr>
          <p:cNvPr id="73" name="Shape 59"/>
          <p:cNvSpPr/>
          <p:nvPr/>
        </p:nvSpPr>
        <p:spPr>
          <a:xfrm>
            <a:off x="0" y="4667098"/>
            <a:ext cx="12191695" cy="2190902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76402" y="1143000"/>
            <a:ext cx="3047695" cy="2638044"/>
          </a:xfrm>
          <a:prstGeom prst="roundRect">
            <a:avLst>
              <a:gd name="adj" fmla="val 300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76402" y="1143000"/>
            <a:ext cx="3047695" cy="47549"/>
          </a:xfrm>
          <a:prstGeom prst="roundRect">
            <a:avLst>
              <a:gd name="adj" fmla="val 166620"/>
            </a:avLst>
          </a:prstGeom>
          <a:solidFill>
            <a:srgbClr val="2B88D8"/>
          </a:solidFill>
          <a:ln w="12700">
            <a:solidFill>
              <a:srgbClr val="2B8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14146" y="1429207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rcRect l="-1773" r="-1773"/>
          <a:stretch/>
        </p:blipFill>
        <p:spPr>
          <a:xfrm>
            <a:off x="838505" y="1533449"/>
            <a:ext cx="133502" cy="1719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09751" y="1505102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Scenario: PMI Cloud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14146" y="2135124"/>
            <a:ext cx="2648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Sei l'</a:t>
            </a: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Admin</a:t>
            </a: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 una PMI con 50 utenti in migrazione totale su M365. 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14146" y="2682850"/>
            <a:ext cx="26481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Obiettivo: Configurare un tenant sicuro, automatizzato e governato secondo le best practice apprese.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6402" y="3972154"/>
            <a:ext cx="3047695" cy="1171346"/>
          </a:xfrm>
          <a:prstGeom prst="roundRect">
            <a:avLst>
              <a:gd name="adj" fmla="val 15232"/>
            </a:avLst>
          </a:prstGeom>
          <a:solidFill>
            <a:srgbClr val="2B88D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666598" y="4505249"/>
            <a:ext cx="2667305" cy="914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 txBox="1"/>
          <p:nvPr/>
        </p:nvSpPr>
        <p:spPr>
          <a:xfrm>
            <a:off x="875995" y="4200754"/>
            <a:ext cx="5248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666598" y="4226357"/>
            <a:ext cx="133502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75788" y="4162349"/>
            <a:ext cx="55046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Ore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4733849"/>
            <a:ext cx="4379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 l="-1507" r="-1507"/>
          <a:stretch/>
        </p:blipFill>
        <p:spPr>
          <a:xfrm>
            <a:off x="666598" y="4760366"/>
            <a:ext cx="171907" cy="13350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2496312" y="4705502"/>
            <a:ext cx="838505" cy="247802"/>
          </a:xfrm>
          <a:prstGeom prst="roundRect">
            <a:avLst>
              <a:gd name="adj" fmla="val 369004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2467966" y="4705502"/>
            <a:ext cx="8961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2-3 Persone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6402" y="5333695"/>
            <a:ext cx="3047695" cy="1238098"/>
          </a:xfrm>
          <a:prstGeom prst="roundRect">
            <a:avLst>
              <a:gd name="adj" fmla="val 136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7"/>
          <p:cNvSpPr txBox="1"/>
          <p:nvPr/>
        </p:nvSpPr>
        <p:spPr>
          <a:xfrm>
            <a:off x="1192378" y="5477256"/>
            <a:ext cx="1621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Teamwork Best Practice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140257" y="5705856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1196950" y="5781751"/>
            <a:ext cx="19019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78992" y="6048756"/>
            <a:ext cx="428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816913" y="5705856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912010" y="5781751"/>
            <a:ext cx="114300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53566" y="6048756"/>
            <a:ext cx="8394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Co-authoring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524658" y="5705856"/>
            <a:ext cx="304495" cy="3044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601468" y="5781751"/>
            <a:ext cx="152705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432304" y="604875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Planner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545897" y="6277356"/>
            <a:ext cx="29132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"Dividetevi i ruoli: Admin, Security, Developer"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3810305" y="1143000"/>
            <a:ext cx="20857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Deliverable Richiesti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3810305" y="1524305"/>
            <a:ext cx="2514600" cy="2428646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27"/>
          <p:cNvSpPr/>
          <p:nvPr/>
        </p:nvSpPr>
        <p:spPr>
          <a:xfrm>
            <a:off x="3962095" y="1676095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048049" y="1762049"/>
            <a:ext cx="171907" cy="17190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401007" y="1723644"/>
            <a:ext cx="857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MFA Setup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3962095" y="2162556"/>
            <a:ext cx="2210105" cy="114300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 w="12700">
            <a:solidFill>
              <a:srgbClr val="C8C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9">
            <a:alphaModFix amt="90000"/>
          </a:blip>
          <a:srcRect t="11530" b="11530"/>
          <a:stretch/>
        </p:blipFill>
        <p:spPr>
          <a:xfrm>
            <a:off x="3972154" y="2171700"/>
            <a:ext cx="2190902" cy="1123798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3933749" y="3078785"/>
            <a:ext cx="2267712" cy="21945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Screenshot Configurazione</a:t>
            </a:r>
            <a:endParaRPr lang="en-US" sz="800" dirty="0"/>
          </a:p>
        </p:txBody>
      </p:sp>
      <p:sp>
        <p:nvSpPr>
          <p:cNvPr id="41" name="Text 31"/>
          <p:cNvSpPr txBox="1"/>
          <p:nvPr/>
        </p:nvSpPr>
        <p:spPr>
          <a:xfrm>
            <a:off x="3962095" y="3448202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 MFA per tutti gli utenti via Security Defaults o Conditional Access.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6508699" y="1524305"/>
            <a:ext cx="2514600" cy="2428646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Shape 33"/>
          <p:cNvSpPr/>
          <p:nvPr/>
        </p:nvSpPr>
        <p:spPr>
          <a:xfrm>
            <a:off x="6661404" y="1676095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0"/>
          <a:srcRect t="-1310" b="-1310"/>
          <a:stretch/>
        </p:blipFill>
        <p:spPr>
          <a:xfrm>
            <a:off x="6728155" y="1762049"/>
            <a:ext cx="209398" cy="171907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099402" y="1723644"/>
            <a:ext cx="132039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Gruppi Entra ID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6661404" y="2162556"/>
            <a:ext cx="2210105" cy="114300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 w="12700">
            <a:solidFill>
              <a:srgbClr val="C8C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 t="11530" b="11530"/>
          <a:stretch/>
        </p:blipFill>
        <p:spPr>
          <a:xfrm>
            <a:off x="6670548" y="2171700"/>
            <a:ext cx="2190902" cy="1123798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6632143" y="3078785"/>
            <a:ext cx="2267712" cy="21945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Mockup Gruppi</a:t>
            </a:r>
            <a:endParaRPr lang="en-US" sz="800" dirty="0"/>
          </a:p>
        </p:txBody>
      </p:sp>
      <p:sp>
        <p:nvSpPr>
          <p:cNvPr id="49" name="Text 37"/>
          <p:cNvSpPr txBox="1"/>
          <p:nvPr/>
        </p:nvSpPr>
        <p:spPr>
          <a:xfrm>
            <a:off x="6661404" y="3448202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gruppi "Admin", "Vendite" (Dinamico) e "Esterni".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9207094" y="1524305"/>
            <a:ext cx="2514600" cy="2428646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1" name="Shape 39"/>
          <p:cNvSpPr/>
          <p:nvPr/>
        </p:nvSpPr>
        <p:spPr>
          <a:xfrm>
            <a:off x="9359798" y="1676095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8F0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2"/>
          <a:srcRect t="-1310" b="-1310"/>
          <a:stretch/>
        </p:blipFill>
        <p:spPr>
          <a:xfrm>
            <a:off x="9426550" y="1762049"/>
            <a:ext cx="209398" cy="171907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9797796" y="1723644"/>
            <a:ext cx="150144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 Approvazione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9359798" y="2162556"/>
            <a:ext cx="2210105" cy="114300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 w="12700">
            <a:solidFill>
              <a:srgbClr val="C8C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29482" b="29482"/>
          <a:stretch/>
        </p:blipFill>
        <p:spPr>
          <a:xfrm>
            <a:off x="9368942" y="2171700"/>
            <a:ext cx="2190902" cy="1123798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9331452" y="3078785"/>
            <a:ext cx="2267712" cy="21945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Esempio Flow</a:t>
            </a:r>
            <a:endParaRPr lang="en-US" sz="800" dirty="0"/>
          </a:p>
        </p:txBody>
      </p:sp>
      <p:sp>
        <p:nvSpPr>
          <p:cNvPr id="57" name="Text 43"/>
          <p:cNvSpPr txBox="1"/>
          <p:nvPr/>
        </p:nvSpPr>
        <p:spPr>
          <a:xfrm>
            <a:off x="9359798" y="3448202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flow per approvazione documenti su SharePoint.</a:t>
            </a:r>
            <a:endParaRPr lang="en-US" sz="900" dirty="0"/>
          </a:p>
        </p:txBody>
      </p:sp>
      <p:sp>
        <p:nvSpPr>
          <p:cNvPr id="58" name="Shape 44"/>
          <p:cNvSpPr/>
          <p:nvPr/>
        </p:nvSpPr>
        <p:spPr>
          <a:xfrm>
            <a:off x="3810305" y="4143146"/>
            <a:ext cx="2514600" cy="2428646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9" name="Shape 45"/>
          <p:cNvSpPr/>
          <p:nvPr/>
        </p:nvSpPr>
        <p:spPr>
          <a:xfrm>
            <a:off x="3962095" y="429585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4"/>
          <a:srcRect t="-2222" b="-2222"/>
          <a:stretch/>
        </p:blipFill>
        <p:spPr>
          <a:xfrm>
            <a:off x="4071823" y="4381805"/>
            <a:ext cx="123444" cy="171907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4401007" y="4343400"/>
            <a:ext cx="79369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Ferie</a:t>
            </a:r>
            <a:endParaRPr lang="en-US" sz="1000" dirty="0"/>
          </a:p>
        </p:txBody>
      </p:sp>
      <p:sp>
        <p:nvSpPr>
          <p:cNvPr id="62" name="Shape 47"/>
          <p:cNvSpPr/>
          <p:nvPr/>
        </p:nvSpPr>
        <p:spPr>
          <a:xfrm>
            <a:off x="3962095" y="4781398"/>
            <a:ext cx="2210105" cy="114300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 w="12700">
            <a:solidFill>
              <a:srgbClr val="C8C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11530" b="11530"/>
          <a:stretch/>
        </p:blipFill>
        <p:spPr>
          <a:xfrm>
            <a:off x="3972154" y="4791456"/>
            <a:ext cx="2190902" cy="1123798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3933749" y="5697626"/>
            <a:ext cx="2267712" cy="21945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Screenshot App</a:t>
            </a:r>
            <a:endParaRPr lang="en-US" sz="800" dirty="0"/>
          </a:p>
        </p:txBody>
      </p:sp>
      <p:sp>
        <p:nvSpPr>
          <p:cNvPr id="65" name="Text 49"/>
          <p:cNvSpPr txBox="1"/>
          <p:nvPr/>
        </p:nvSpPr>
        <p:spPr>
          <a:xfrm>
            <a:off x="3962095" y="6067044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Sviluppa Power App Canvas per gestione richieste ferie.</a:t>
            </a:r>
            <a:endParaRPr lang="en-US" sz="900" dirty="0"/>
          </a:p>
        </p:txBody>
      </p:sp>
      <p:sp>
        <p:nvSpPr>
          <p:cNvPr id="66" name="Shape 50"/>
          <p:cNvSpPr/>
          <p:nvPr/>
        </p:nvSpPr>
        <p:spPr>
          <a:xfrm>
            <a:off x="6508699" y="4143146"/>
            <a:ext cx="2514600" cy="2428646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7" name="Shape 51"/>
          <p:cNvSpPr/>
          <p:nvPr/>
        </p:nvSpPr>
        <p:spPr>
          <a:xfrm>
            <a:off x="6661404" y="429585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16"/>
          <a:srcRect t="-842" b="-842"/>
          <a:stretch/>
        </p:blipFill>
        <p:spPr>
          <a:xfrm>
            <a:off x="6737299" y="4381805"/>
            <a:ext cx="190195" cy="171907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7099402" y="4343400"/>
            <a:ext cx="8814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DLP</a:t>
            </a:r>
            <a:endParaRPr lang="en-US" sz="1000" dirty="0"/>
          </a:p>
        </p:txBody>
      </p:sp>
      <p:sp>
        <p:nvSpPr>
          <p:cNvPr id="70" name="Shape 53"/>
          <p:cNvSpPr/>
          <p:nvPr/>
        </p:nvSpPr>
        <p:spPr>
          <a:xfrm>
            <a:off x="6661404" y="4781398"/>
            <a:ext cx="2210105" cy="114300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 w="12700">
            <a:solidFill>
              <a:srgbClr val="C8C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1" name="Image 15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11530" b="11530"/>
          <a:stretch/>
        </p:blipFill>
        <p:spPr>
          <a:xfrm>
            <a:off x="6670548" y="4791456"/>
            <a:ext cx="2190902" cy="1123798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6632143" y="5697626"/>
            <a:ext cx="2267712" cy="21945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Policy</a:t>
            </a:r>
            <a:endParaRPr lang="en-US" sz="800" dirty="0"/>
          </a:p>
        </p:txBody>
      </p:sp>
      <p:sp>
        <p:nvSpPr>
          <p:cNvPr id="73" name="Text 55"/>
          <p:cNvSpPr txBox="1"/>
          <p:nvPr/>
        </p:nvSpPr>
        <p:spPr>
          <a:xfrm>
            <a:off x="6661404" y="6067044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Attiva regola per bloccare condivisione numeri carte credito.</a:t>
            </a:r>
            <a:endParaRPr lang="en-US" sz="900" dirty="0"/>
          </a:p>
        </p:txBody>
      </p:sp>
      <p:sp>
        <p:nvSpPr>
          <p:cNvPr id="74" name="Shape 56"/>
          <p:cNvSpPr/>
          <p:nvPr/>
        </p:nvSpPr>
        <p:spPr>
          <a:xfrm>
            <a:off x="9207094" y="4143146"/>
            <a:ext cx="2514600" cy="2428646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5" name="Shape 57"/>
          <p:cNvSpPr/>
          <p:nvPr/>
        </p:nvSpPr>
        <p:spPr>
          <a:xfrm>
            <a:off x="9359798" y="429585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6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9445752" y="4381805"/>
            <a:ext cx="171907" cy="171907"/>
          </a:xfrm>
          <a:prstGeom prst="rect">
            <a:avLst/>
          </a:prstGeom>
        </p:spPr>
      </p:pic>
      <p:sp>
        <p:nvSpPr>
          <p:cNvPr id="77" name="Text 58"/>
          <p:cNvSpPr txBox="1"/>
          <p:nvPr/>
        </p:nvSpPr>
        <p:spPr>
          <a:xfrm>
            <a:off x="9797796" y="4343400"/>
            <a:ext cx="12353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Piano Recovery</a:t>
            </a:r>
            <a:endParaRPr lang="en-US" sz="1000" dirty="0"/>
          </a:p>
        </p:txBody>
      </p:sp>
      <p:sp>
        <p:nvSpPr>
          <p:cNvPr id="78" name="Shape 59"/>
          <p:cNvSpPr/>
          <p:nvPr/>
        </p:nvSpPr>
        <p:spPr>
          <a:xfrm>
            <a:off x="9359798" y="4781398"/>
            <a:ext cx="2210105" cy="114300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 w="12700">
            <a:solidFill>
              <a:srgbClr val="C8C6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9" name="Image 17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t="11530" b="11530"/>
          <a:stretch/>
        </p:blipFill>
        <p:spPr>
          <a:xfrm>
            <a:off x="9368942" y="4791456"/>
            <a:ext cx="2190902" cy="1123798"/>
          </a:xfrm>
          <a:prstGeom prst="rect">
            <a:avLst/>
          </a:prstGeom>
        </p:spPr>
      </p:pic>
      <p:sp>
        <p:nvSpPr>
          <p:cNvPr id="80" name="Text 60"/>
          <p:cNvSpPr txBox="1"/>
          <p:nvPr/>
        </p:nvSpPr>
        <p:spPr>
          <a:xfrm>
            <a:off x="9331452" y="5697626"/>
            <a:ext cx="2267712" cy="21945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 DR</a:t>
            </a:r>
            <a:endParaRPr lang="en-US" sz="800" dirty="0"/>
          </a:p>
        </p:txBody>
      </p:sp>
      <p:sp>
        <p:nvSpPr>
          <p:cNvPr id="81" name="Text 61"/>
          <p:cNvSpPr txBox="1"/>
          <p:nvPr/>
        </p:nvSpPr>
        <p:spPr>
          <a:xfrm>
            <a:off x="9359798" y="6067044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Definisci strategia backup e parametri RTO/RPO.</a:t>
            </a:r>
            <a:endParaRPr lang="en-US" sz="900" dirty="0"/>
          </a:p>
        </p:txBody>
      </p:sp>
      <p:sp>
        <p:nvSpPr>
          <p:cNvPr id="82" name="Shape 6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3" name="Shape 63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Text 64"/>
          <p:cNvSpPr txBox="1"/>
          <p:nvPr/>
        </p:nvSpPr>
        <p:spPr>
          <a:xfrm>
            <a:off x="476402" y="123444"/>
            <a:ext cx="3391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Hands-on</a:t>
            </a:r>
            <a:endParaRPr lang="en-US" sz="1000" dirty="0"/>
          </a:p>
        </p:txBody>
      </p:sp>
      <p:sp>
        <p:nvSpPr>
          <p:cNvPr id="85" name="Text 65"/>
          <p:cNvSpPr txBox="1"/>
          <p:nvPr/>
        </p:nvSpPr>
        <p:spPr>
          <a:xfrm>
            <a:off x="476402" y="352044"/>
            <a:ext cx="38825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Progetto Pratico Finale</a:t>
            </a:r>
            <a:endParaRPr lang="en-US" sz="2200" dirty="0"/>
          </a:p>
        </p:txBody>
      </p:sp>
      <p:sp>
        <p:nvSpPr>
          <p:cNvPr id="86" name="Shape 66"/>
          <p:cNvSpPr/>
          <p:nvPr/>
        </p:nvSpPr>
        <p:spPr>
          <a:xfrm>
            <a:off x="9860890" y="228600"/>
            <a:ext cx="1857146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7" name="Image 1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022738" y="333756"/>
            <a:ext cx="152705" cy="152705"/>
          </a:xfrm>
          <a:prstGeom prst="rect">
            <a:avLst/>
          </a:prstGeom>
        </p:spPr>
      </p:pic>
      <p:sp>
        <p:nvSpPr>
          <p:cNvPr id="88" name="Text 67"/>
          <p:cNvSpPr txBox="1"/>
          <p:nvPr/>
        </p:nvSpPr>
        <p:spPr>
          <a:xfrm>
            <a:off x="10289743" y="228600"/>
            <a:ext cx="13240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Missione Completa</a:t>
            </a:r>
            <a:endParaRPr lang="en-US" sz="1000" dirty="0"/>
          </a:p>
        </p:txBody>
      </p:sp>
      <p:sp>
        <p:nvSpPr>
          <p:cNvPr id="89" name="Shape 68"/>
          <p:cNvSpPr/>
          <p:nvPr/>
        </p:nvSpPr>
        <p:spPr>
          <a:xfrm>
            <a:off x="6032297" y="1580998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69"/>
          <p:cNvSpPr/>
          <p:nvPr/>
        </p:nvSpPr>
        <p:spPr>
          <a:xfrm>
            <a:off x="5994806" y="1580998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000" dirty="0"/>
          </a:p>
        </p:txBody>
      </p:sp>
      <p:sp>
        <p:nvSpPr>
          <p:cNvPr id="91" name="Shape 70"/>
          <p:cNvSpPr/>
          <p:nvPr/>
        </p:nvSpPr>
        <p:spPr>
          <a:xfrm>
            <a:off x="8731606" y="1580998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2" name="Text 71"/>
          <p:cNvSpPr/>
          <p:nvPr/>
        </p:nvSpPr>
        <p:spPr>
          <a:xfrm>
            <a:off x="8693201" y="1580998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93" name="Shape 72"/>
          <p:cNvSpPr/>
          <p:nvPr/>
        </p:nvSpPr>
        <p:spPr>
          <a:xfrm>
            <a:off x="11430000" y="1580998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4" name="Text 73"/>
          <p:cNvSpPr/>
          <p:nvPr/>
        </p:nvSpPr>
        <p:spPr>
          <a:xfrm>
            <a:off x="11391595" y="1580998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95" name="Shape 74"/>
          <p:cNvSpPr/>
          <p:nvPr/>
        </p:nvSpPr>
        <p:spPr>
          <a:xfrm>
            <a:off x="6032297" y="4200754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6" name="Text 75"/>
          <p:cNvSpPr/>
          <p:nvPr/>
        </p:nvSpPr>
        <p:spPr>
          <a:xfrm>
            <a:off x="5994806" y="420075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  <p:sp>
        <p:nvSpPr>
          <p:cNvPr id="97" name="Shape 76"/>
          <p:cNvSpPr/>
          <p:nvPr/>
        </p:nvSpPr>
        <p:spPr>
          <a:xfrm>
            <a:off x="8731606" y="4200754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8" name="Text 77"/>
          <p:cNvSpPr/>
          <p:nvPr/>
        </p:nvSpPr>
        <p:spPr>
          <a:xfrm>
            <a:off x="8693201" y="420075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sp>
        <p:nvSpPr>
          <p:cNvPr id="99" name="Shape 78"/>
          <p:cNvSpPr/>
          <p:nvPr/>
        </p:nvSpPr>
        <p:spPr>
          <a:xfrm>
            <a:off x="11430000" y="4200754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0" name="Text 79"/>
          <p:cNvSpPr/>
          <p:nvPr/>
        </p:nvSpPr>
        <p:spPr>
          <a:xfrm>
            <a:off x="11391595" y="420075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76402"/>
            <a:ext cx="2857500" cy="2857500"/>
          </a:xfrm>
          <a:prstGeom prst="ellipse">
            <a:avLst/>
          </a:prstGeom>
          <a:solidFill>
            <a:srgbClr val="E6F2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-476402" y="4953305"/>
            <a:ext cx="2381098" cy="2381098"/>
          </a:xfrm>
          <a:prstGeom prst="ellipse">
            <a:avLst/>
          </a:prstGeom>
          <a:solidFill>
            <a:srgbClr val="FDECE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-57607" y="6473038"/>
            <a:ext cx="12306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Grazie per la partecipazione • Arrivederci al prossimo modulo del corso Microsoft 365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571500" y="152705"/>
            <a:ext cx="6410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 del Modulo 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381305"/>
            <a:ext cx="74194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Congratulazioni! Modulo Completato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19818" y="276149"/>
            <a:ext cx="2104949" cy="362102"/>
          </a:xfrm>
          <a:prstGeom prst="roundRect">
            <a:avLst>
              <a:gd name="adj" fmla="val 10632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9719158" y="381305"/>
            <a:ext cx="190195" cy="1527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024567" y="276149"/>
            <a:ext cx="14575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Sessione Q&amp;A Aperta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1500" y="1619402"/>
            <a:ext cx="5286146" cy="2143354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571500" y="1619402"/>
            <a:ext cx="47549" cy="2143354"/>
          </a:xfrm>
          <a:prstGeom prst="roundRect">
            <a:avLst>
              <a:gd name="adj" fmla="val 205127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 txBox="1"/>
          <p:nvPr/>
        </p:nvSpPr>
        <p:spPr>
          <a:xfrm>
            <a:off x="1019556" y="1857146"/>
            <a:ext cx="4715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7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Traguardi Raggiunti 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1082" r="-1082"/>
          <a:stretch/>
        </p:blipFill>
        <p:spPr>
          <a:xfrm>
            <a:off x="857707" y="1903781"/>
            <a:ext cx="161849" cy="18105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18642" y="2275027"/>
            <a:ext cx="2720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Gestione Avanzata &amp; Admin Center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018642" y="2586838"/>
            <a:ext cx="29562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Sicurezza (MFA) &amp; Microsoft Entra ID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018642" y="2899562"/>
            <a:ext cx="25429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Automazione con Power Platform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1018642" y="3212287"/>
            <a:ext cx="29882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Governance, DLP &amp; Disaster Recovery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71500" y="4048049"/>
            <a:ext cx="5286146" cy="2143354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0"/>
          <p:cNvSpPr/>
          <p:nvPr/>
        </p:nvSpPr>
        <p:spPr>
          <a:xfrm>
            <a:off x="571500" y="4048049"/>
            <a:ext cx="47549" cy="2143354"/>
          </a:xfrm>
          <a:prstGeom prst="roundRect">
            <a:avLst>
              <a:gd name="adj" fmla="val 20512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1"/>
          <p:cNvSpPr txBox="1"/>
          <p:nvPr/>
        </p:nvSpPr>
        <p:spPr>
          <a:xfrm>
            <a:off x="1038758" y="4286707"/>
            <a:ext cx="4696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Risorse &amp; Prossimi Passi </a:t>
            </a:r>
            <a:endParaRPr lang="en-US" sz="14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4332427"/>
            <a:ext cx="181051" cy="18105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47902" y="4703674"/>
            <a:ext cx="2959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Pratica continuativa su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Tenant Demo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1018642" y="5015484"/>
            <a:ext cx="2865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Preparazione certificazione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MS-900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1018642" y="5328209"/>
            <a:ext cx="29004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Approfondimenti su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Learn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1018642" y="5640934"/>
            <a:ext cx="2820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Contattare il docente per supporto</a:t>
            </a:r>
            <a:endParaRPr lang="en-US" sz="11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330806"/>
            <a:ext cx="123444" cy="123444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643530"/>
            <a:ext cx="123444" cy="123444"/>
          </a:xfrm>
          <a:prstGeom prst="rect">
            <a:avLst/>
          </a:prstGeom>
        </p:spPr>
      </p:pic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955341"/>
            <a:ext cx="123444" cy="123444"/>
          </a:xfrm>
          <a:prstGeom prst="rect">
            <a:avLst/>
          </a:prstGeom>
        </p:spPr>
      </p:pic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3268066"/>
            <a:ext cx="123444" cy="123444"/>
          </a:xfrm>
          <a:prstGeom prst="rect">
            <a:avLst/>
          </a:prstGeom>
        </p:spPr>
      </p:pic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6"/>
          <a:srcRect t="-524" b="-524"/>
          <a:stretch/>
        </p:blipFill>
        <p:spPr>
          <a:xfrm>
            <a:off x="857707" y="4759452"/>
            <a:ext cx="152705" cy="123444"/>
          </a:xfrm>
          <a:prstGeom prst="rect">
            <a:avLst/>
          </a:prstGeom>
        </p:spPr>
      </p:pic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7707" y="5072177"/>
            <a:ext cx="123444" cy="123444"/>
          </a:xfrm>
          <a:prstGeom prst="rect">
            <a:avLst/>
          </a:prstGeom>
        </p:spPr>
      </p:pic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707" y="5383987"/>
            <a:ext cx="123444" cy="123444"/>
          </a:xfrm>
          <a:prstGeom prst="rect">
            <a:avLst/>
          </a:prstGeom>
        </p:spPr>
      </p:pic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7707" y="5696712"/>
            <a:ext cx="123444" cy="123444"/>
          </a:xfrm>
          <a:prstGeom prst="rect">
            <a:avLst/>
          </a:prstGeom>
        </p:spPr>
      </p:pic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0"/>
          <a:srcRect t="-4" b="-4"/>
          <a:stretch/>
        </p:blipFill>
        <p:spPr>
          <a:xfrm>
            <a:off x="6334049" y="1975104"/>
            <a:ext cx="5286146" cy="3859682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11153851" y="2175358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27"/>
          <p:cNvSpPr/>
          <p:nvPr/>
        </p:nvSpPr>
        <p:spPr>
          <a:xfrm>
            <a:off x="11259007" y="2175358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28"/>
          <p:cNvSpPr/>
          <p:nvPr/>
        </p:nvSpPr>
        <p:spPr>
          <a:xfrm>
            <a:off x="11363249" y="2175358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29"/>
          <p:cNvSpPr/>
          <p:nvPr/>
        </p:nvSpPr>
        <p:spPr>
          <a:xfrm>
            <a:off x="11153851" y="2280514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30"/>
          <p:cNvSpPr/>
          <p:nvPr/>
        </p:nvSpPr>
        <p:spPr>
          <a:xfrm>
            <a:off x="11259007" y="2280514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31"/>
          <p:cNvSpPr/>
          <p:nvPr/>
        </p:nvSpPr>
        <p:spPr>
          <a:xfrm>
            <a:off x="11363249" y="2280514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32"/>
          <p:cNvSpPr/>
          <p:nvPr/>
        </p:nvSpPr>
        <p:spPr>
          <a:xfrm>
            <a:off x="11153851" y="2384755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33"/>
          <p:cNvSpPr/>
          <p:nvPr/>
        </p:nvSpPr>
        <p:spPr>
          <a:xfrm>
            <a:off x="11259007" y="2384755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Shape 34"/>
          <p:cNvSpPr/>
          <p:nvPr/>
        </p:nvSpPr>
        <p:spPr>
          <a:xfrm>
            <a:off x="11363249" y="2384755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35"/>
          <p:cNvSpPr/>
          <p:nvPr/>
        </p:nvSpPr>
        <p:spPr>
          <a:xfrm>
            <a:off x="8406079" y="2365553"/>
            <a:ext cx="1143000" cy="114300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1"/>
          <a:srcRect l="-36" r="-36"/>
          <a:stretch/>
        </p:blipFill>
        <p:spPr>
          <a:xfrm>
            <a:off x="8501177" y="2556662"/>
            <a:ext cx="952805" cy="761695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413041" y="3699662"/>
            <a:ext cx="313456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Spazio Domande</a:t>
            </a:r>
            <a:endParaRPr lang="en-US" sz="2600" dirty="0"/>
          </a:p>
        </p:txBody>
      </p:sp>
      <p:sp>
        <p:nvSpPr>
          <p:cNvPr id="52" name="Text 37"/>
          <p:cNvSpPr txBox="1"/>
          <p:nvPr/>
        </p:nvSpPr>
        <p:spPr>
          <a:xfrm>
            <a:off x="7182612" y="4297680"/>
            <a:ext cx="359176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Hai dubbi su policy, automazioni o sicurezza? 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È il momento giusto per chiarirli insieme. </a:t>
            </a:r>
            <a:endParaRPr lang="en-US" sz="1300" dirty="0"/>
          </a:p>
        </p:txBody>
      </p:sp>
      <p:sp>
        <p:nvSpPr>
          <p:cNvPr id="53" name="Shape 38"/>
          <p:cNvSpPr/>
          <p:nvPr/>
        </p:nvSpPr>
        <p:spPr>
          <a:xfrm>
            <a:off x="6819595" y="5086807"/>
            <a:ext cx="1047902" cy="362102"/>
          </a:xfrm>
          <a:prstGeom prst="roundRect">
            <a:avLst>
              <a:gd name="adj" fmla="val 252526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39"/>
          <p:cNvSpPr/>
          <p:nvPr/>
        </p:nvSpPr>
        <p:spPr>
          <a:xfrm>
            <a:off x="7095744" y="5086807"/>
            <a:ext cx="829361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MS Learn</a:t>
            </a:r>
            <a:endParaRPr lang="en-US" sz="1000" dirty="0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2"/>
          <a:srcRect l="-2838" r="-2838"/>
          <a:stretch/>
        </p:blipFill>
        <p:spPr>
          <a:xfrm>
            <a:off x="6972300" y="5198364"/>
            <a:ext cx="123444" cy="133502"/>
          </a:xfrm>
          <a:prstGeom prst="rect">
            <a:avLst/>
          </a:prstGeom>
        </p:spPr>
      </p:pic>
      <p:sp>
        <p:nvSpPr>
          <p:cNvPr id="56" name="Shape 40"/>
          <p:cNvSpPr/>
          <p:nvPr/>
        </p:nvSpPr>
        <p:spPr>
          <a:xfrm>
            <a:off x="8007401" y="5086807"/>
            <a:ext cx="1600200" cy="362102"/>
          </a:xfrm>
          <a:prstGeom prst="roundRect">
            <a:avLst>
              <a:gd name="adj" fmla="val 252526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41"/>
          <p:cNvSpPr/>
          <p:nvPr/>
        </p:nvSpPr>
        <p:spPr>
          <a:xfrm>
            <a:off x="8331098" y="5086807"/>
            <a:ext cx="13405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Tech Community</a:t>
            </a:r>
            <a:endParaRPr lang="en-US" sz="1000" dirty="0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8160106" y="5198364"/>
            <a:ext cx="171907" cy="133502"/>
          </a:xfrm>
          <a:prstGeom prst="rect">
            <a:avLst/>
          </a:prstGeom>
        </p:spPr>
      </p:pic>
      <p:sp>
        <p:nvSpPr>
          <p:cNvPr id="59" name="Shape 42"/>
          <p:cNvSpPr/>
          <p:nvPr/>
        </p:nvSpPr>
        <p:spPr>
          <a:xfrm>
            <a:off x="9746590" y="5086807"/>
            <a:ext cx="1390802" cy="362102"/>
          </a:xfrm>
          <a:prstGeom prst="roundRect">
            <a:avLst>
              <a:gd name="adj" fmla="val 252526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43"/>
          <p:cNvSpPr/>
          <p:nvPr/>
        </p:nvSpPr>
        <p:spPr>
          <a:xfrm>
            <a:off x="10032797" y="5086807"/>
            <a:ext cx="11622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Email Docente</a:t>
            </a:r>
            <a:endParaRPr lang="en-US" sz="1000" dirty="0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898380" y="5198364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4892</Words>
  <Application>Microsoft Office PowerPoint</Application>
  <PresentationFormat>Widescreen</PresentationFormat>
  <Paragraphs>890</Paragraphs>
  <Slides>39</Slides>
  <Notes>3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39</vt:i4>
      </vt:variant>
    </vt:vector>
  </HeadingPairs>
  <TitlesOfParts>
    <vt:vector size="48" baseType="lpstr">
      <vt:lpstr>Arial</vt:lpstr>
      <vt:lpstr>Calibri</vt:lpstr>
      <vt:lpstr>Century Gothic</vt:lpstr>
      <vt:lpstr>Montserrat</vt:lpstr>
      <vt:lpstr>Open Sans</vt:lpstr>
      <vt:lpstr>Segoe UI</vt:lpstr>
      <vt:lpstr>ui-monospace</vt:lpstr>
      <vt:lpstr>Office Theme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Novembre Matteo</cp:lastModifiedBy>
  <cp:revision>2</cp:revision>
  <dcterms:created xsi:type="dcterms:W3CDTF">2026-04-01T21:21:28Z</dcterms:created>
  <dcterms:modified xsi:type="dcterms:W3CDTF">2026-04-22T14:21:16Z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2026-04-02T08:56:55Z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e45c61e8-6373-4c01-af3f-00380c68d179</vt:lpwstr>
  </property>
  <property fmtid="{D5CDD505-2E9C-101B-9397-08002B2CF9AE}" pid="8" name="MSIP_Label_5bf4bb52-9e9d-4296-940a-59002820a53c_ContentBits">
    <vt:lpwstr>0</vt:lpwstr>
  </property>
  <property fmtid="{D5CDD505-2E9C-101B-9397-08002B2CF9AE}" pid="9" name="MSIP_Label_5bf4bb52-9e9d-4296-940a-59002820a53c_Tag">
    <vt:lpwstr>10, 3, 0, 1</vt:lpwstr>
  </property>
</Properties>
</file>