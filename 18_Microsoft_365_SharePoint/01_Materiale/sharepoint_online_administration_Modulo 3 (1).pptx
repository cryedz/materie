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38" r:id="rId2"/>
    <p:sldId id="268" r:id="rId3"/>
    <p:sldId id="269" r:id="rId4"/>
    <p:sldId id="271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53" y="1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addSld delSld modSld">
      <pc:chgData name="Novembre Matteo" userId="437dbab0-cd7d-4665-9647-10d1fd490981" providerId="ADAL" clId="{91B3E30A-C5F4-46D0-B01E-FB65EC075246}" dt="2026-04-02T13:12:25.356" v="185" actId="1076"/>
      <pc:docMkLst>
        <pc:docMk/>
      </pc:docMkLst>
      <pc:sldChg chg="del">
        <pc:chgData name="Novembre Matteo" userId="437dbab0-cd7d-4665-9647-10d1fd490981" providerId="ADAL" clId="{91B3E30A-C5F4-46D0-B01E-FB65EC075246}" dt="2026-04-02T10:59:30.917" v="124" actId="47"/>
        <pc:sldMkLst>
          <pc:docMk/>
          <pc:sldMk cId="0" sldId="256"/>
        </pc:sldMkLst>
      </pc:sldChg>
      <pc:sldChg chg="del">
        <pc:chgData name="Novembre Matteo" userId="437dbab0-cd7d-4665-9647-10d1fd490981" providerId="ADAL" clId="{91B3E30A-C5F4-46D0-B01E-FB65EC075246}" dt="2026-04-02T10:59:31.664" v="125" actId="47"/>
        <pc:sldMkLst>
          <pc:docMk/>
          <pc:sldMk cId="0" sldId="257"/>
        </pc:sldMkLst>
      </pc:sldChg>
      <pc:sldChg chg="del">
        <pc:chgData name="Novembre Matteo" userId="437dbab0-cd7d-4665-9647-10d1fd490981" providerId="ADAL" clId="{91B3E30A-C5F4-46D0-B01E-FB65EC075246}" dt="2026-04-02T10:59:31.952" v="126" actId="47"/>
        <pc:sldMkLst>
          <pc:docMk/>
          <pc:sldMk cId="0" sldId="258"/>
        </pc:sldMkLst>
      </pc:sldChg>
      <pc:sldChg chg="del">
        <pc:chgData name="Novembre Matteo" userId="437dbab0-cd7d-4665-9647-10d1fd490981" providerId="ADAL" clId="{91B3E30A-C5F4-46D0-B01E-FB65EC075246}" dt="2026-04-02T10:59:33.305" v="127" actId="47"/>
        <pc:sldMkLst>
          <pc:docMk/>
          <pc:sldMk cId="0" sldId="259"/>
        </pc:sldMkLst>
      </pc:sldChg>
      <pc:sldChg chg="modSp del mod">
        <pc:chgData name="Novembre Matteo" userId="437dbab0-cd7d-4665-9647-10d1fd490981" providerId="ADAL" clId="{91B3E30A-C5F4-46D0-B01E-FB65EC075246}" dt="2026-04-02T10:59:33.728" v="128" actId="47"/>
        <pc:sldMkLst>
          <pc:docMk/>
          <pc:sldMk cId="0" sldId="260"/>
        </pc:sldMkLst>
      </pc:sldChg>
      <pc:sldChg chg="del">
        <pc:chgData name="Novembre Matteo" userId="437dbab0-cd7d-4665-9647-10d1fd490981" providerId="ADAL" clId="{91B3E30A-C5F4-46D0-B01E-FB65EC075246}" dt="2026-04-02T10:59:34.174" v="129" actId="47"/>
        <pc:sldMkLst>
          <pc:docMk/>
          <pc:sldMk cId="0" sldId="261"/>
        </pc:sldMkLst>
      </pc:sldChg>
      <pc:sldChg chg="modSp del mod">
        <pc:chgData name="Novembre Matteo" userId="437dbab0-cd7d-4665-9647-10d1fd490981" providerId="ADAL" clId="{91B3E30A-C5F4-46D0-B01E-FB65EC075246}" dt="2026-04-02T10:59:34.691" v="130" actId="47"/>
        <pc:sldMkLst>
          <pc:docMk/>
          <pc:sldMk cId="0" sldId="262"/>
        </pc:sldMkLst>
      </pc:sldChg>
      <pc:sldChg chg="del">
        <pc:chgData name="Novembre Matteo" userId="437dbab0-cd7d-4665-9647-10d1fd490981" providerId="ADAL" clId="{91B3E30A-C5F4-46D0-B01E-FB65EC075246}" dt="2026-04-02T10:59:35.638" v="131" actId="47"/>
        <pc:sldMkLst>
          <pc:docMk/>
          <pc:sldMk cId="0" sldId="263"/>
        </pc:sldMkLst>
      </pc:sldChg>
      <pc:sldChg chg="del">
        <pc:chgData name="Novembre Matteo" userId="437dbab0-cd7d-4665-9647-10d1fd490981" providerId="ADAL" clId="{91B3E30A-C5F4-46D0-B01E-FB65EC075246}" dt="2026-04-02T10:59:37.252" v="133" actId="47"/>
        <pc:sldMkLst>
          <pc:docMk/>
          <pc:sldMk cId="0" sldId="264"/>
        </pc:sldMkLst>
      </pc:sldChg>
      <pc:sldChg chg="del">
        <pc:chgData name="Novembre Matteo" userId="437dbab0-cd7d-4665-9647-10d1fd490981" providerId="ADAL" clId="{91B3E30A-C5F4-46D0-B01E-FB65EC075246}" dt="2026-04-02T10:59:37.832" v="134" actId="47"/>
        <pc:sldMkLst>
          <pc:docMk/>
          <pc:sldMk cId="0" sldId="265"/>
        </pc:sldMkLst>
      </pc:sldChg>
      <pc:sldChg chg="del">
        <pc:chgData name="Novembre Matteo" userId="437dbab0-cd7d-4665-9647-10d1fd490981" providerId="ADAL" clId="{91B3E30A-C5F4-46D0-B01E-FB65EC075246}" dt="2026-04-02T10:59:38.853" v="135" actId="47"/>
        <pc:sldMkLst>
          <pc:docMk/>
          <pc:sldMk cId="0" sldId="266"/>
        </pc:sldMkLst>
      </pc:sldChg>
      <pc:sldChg chg="del">
        <pc:chgData name="Novembre Matteo" userId="437dbab0-cd7d-4665-9647-10d1fd490981" providerId="ADAL" clId="{91B3E30A-C5F4-46D0-B01E-FB65EC075246}" dt="2026-04-02T10:59:39.829" v="136" actId="47"/>
        <pc:sldMkLst>
          <pc:docMk/>
          <pc:sldMk cId="0" sldId="267"/>
        </pc:sldMkLst>
      </pc:sldChg>
      <pc:sldChg chg="modSp del mod">
        <pc:chgData name="Novembre Matteo" userId="437dbab0-cd7d-4665-9647-10d1fd490981" providerId="ADAL" clId="{91B3E30A-C5F4-46D0-B01E-FB65EC075246}" dt="2026-04-02T10:59:43.781" v="137" actId="47"/>
        <pc:sldMkLst>
          <pc:docMk/>
          <pc:sldMk cId="0" sldId="270"/>
        </pc:sldMkLst>
      </pc:sldChg>
      <pc:sldChg chg="modSp del mod">
        <pc:chgData name="Novembre Matteo" userId="437dbab0-cd7d-4665-9647-10d1fd490981" providerId="ADAL" clId="{91B3E30A-C5F4-46D0-B01E-FB65EC075246}" dt="2026-04-02T10:59:48.951" v="138" actId="47"/>
        <pc:sldMkLst>
          <pc:docMk/>
          <pc:sldMk cId="0" sldId="272"/>
        </pc:sldMkLst>
      </pc:sldChg>
      <pc:sldChg chg="del">
        <pc:chgData name="Novembre Matteo" userId="437dbab0-cd7d-4665-9647-10d1fd490981" providerId="ADAL" clId="{91B3E30A-C5F4-46D0-B01E-FB65EC075246}" dt="2026-04-02T10:59:49.425" v="139" actId="47"/>
        <pc:sldMkLst>
          <pc:docMk/>
          <pc:sldMk cId="0" sldId="273"/>
        </pc:sldMkLst>
      </pc:sldChg>
      <pc:sldChg chg="del">
        <pc:chgData name="Novembre Matteo" userId="437dbab0-cd7d-4665-9647-10d1fd490981" providerId="ADAL" clId="{91B3E30A-C5F4-46D0-B01E-FB65EC075246}" dt="2026-04-02T10:59:50.061" v="140" actId="47"/>
        <pc:sldMkLst>
          <pc:docMk/>
          <pc:sldMk cId="0" sldId="274"/>
        </pc:sldMkLst>
      </pc:sldChg>
      <pc:sldChg chg="del">
        <pc:chgData name="Novembre Matteo" userId="437dbab0-cd7d-4665-9647-10d1fd490981" providerId="ADAL" clId="{91B3E30A-C5F4-46D0-B01E-FB65EC075246}" dt="2026-04-02T10:59:51.279" v="141" actId="47"/>
        <pc:sldMkLst>
          <pc:docMk/>
          <pc:sldMk cId="0" sldId="275"/>
        </pc:sldMkLst>
      </pc:sldChg>
      <pc:sldChg chg="del">
        <pc:chgData name="Novembre Matteo" userId="437dbab0-cd7d-4665-9647-10d1fd490981" providerId="ADAL" clId="{91B3E30A-C5F4-46D0-B01E-FB65EC075246}" dt="2026-04-02T10:59:51.805" v="142" actId="47"/>
        <pc:sldMkLst>
          <pc:docMk/>
          <pc:sldMk cId="0" sldId="276"/>
        </pc:sldMkLst>
      </pc:sldChg>
      <pc:sldChg chg="del">
        <pc:chgData name="Novembre Matteo" userId="437dbab0-cd7d-4665-9647-10d1fd490981" providerId="ADAL" clId="{91B3E30A-C5F4-46D0-B01E-FB65EC075246}" dt="2026-04-02T10:59:52.423" v="143" actId="47"/>
        <pc:sldMkLst>
          <pc:docMk/>
          <pc:sldMk cId="0" sldId="277"/>
        </pc:sldMkLst>
      </pc:sldChg>
      <pc:sldChg chg="del">
        <pc:chgData name="Novembre Matteo" userId="437dbab0-cd7d-4665-9647-10d1fd490981" providerId="ADAL" clId="{91B3E30A-C5F4-46D0-B01E-FB65EC075246}" dt="2026-04-02T10:59:53.129" v="144" actId="47"/>
        <pc:sldMkLst>
          <pc:docMk/>
          <pc:sldMk cId="0" sldId="278"/>
        </pc:sldMkLst>
      </pc:sldChg>
      <pc:sldChg chg="del">
        <pc:chgData name="Novembre Matteo" userId="437dbab0-cd7d-4665-9647-10d1fd490981" providerId="ADAL" clId="{91B3E30A-C5F4-46D0-B01E-FB65EC075246}" dt="2026-04-02T10:59:54.168" v="145" actId="47"/>
        <pc:sldMkLst>
          <pc:docMk/>
          <pc:sldMk cId="0" sldId="279"/>
        </pc:sldMkLst>
      </pc:sldChg>
      <pc:sldChg chg="del">
        <pc:chgData name="Novembre Matteo" userId="437dbab0-cd7d-4665-9647-10d1fd490981" providerId="ADAL" clId="{91B3E30A-C5F4-46D0-B01E-FB65EC075246}" dt="2026-04-02T10:59:55.039" v="146" actId="47"/>
        <pc:sldMkLst>
          <pc:docMk/>
          <pc:sldMk cId="0" sldId="280"/>
        </pc:sldMkLst>
      </pc:sldChg>
      <pc:sldChg chg="del">
        <pc:chgData name="Novembre Matteo" userId="437dbab0-cd7d-4665-9647-10d1fd490981" providerId="ADAL" clId="{91B3E30A-C5F4-46D0-B01E-FB65EC075246}" dt="2026-04-02T10:59:55.813" v="147" actId="47"/>
        <pc:sldMkLst>
          <pc:docMk/>
          <pc:sldMk cId="0" sldId="281"/>
        </pc:sldMkLst>
      </pc:sldChg>
      <pc:sldChg chg="del">
        <pc:chgData name="Novembre Matteo" userId="437dbab0-cd7d-4665-9647-10d1fd490981" providerId="ADAL" clId="{91B3E30A-C5F4-46D0-B01E-FB65EC075246}" dt="2026-04-02T10:59:56.565" v="148" actId="47"/>
        <pc:sldMkLst>
          <pc:docMk/>
          <pc:sldMk cId="0" sldId="282"/>
        </pc:sldMkLst>
      </pc:sldChg>
      <pc:sldChg chg="del">
        <pc:chgData name="Novembre Matteo" userId="437dbab0-cd7d-4665-9647-10d1fd490981" providerId="ADAL" clId="{91B3E30A-C5F4-46D0-B01E-FB65EC075246}" dt="2026-04-02T10:59:57.312" v="149" actId="47"/>
        <pc:sldMkLst>
          <pc:docMk/>
          <pc:sldMk cId="0" sldId="283"/>
        </pc:sldMkLst>
      </pc:sldChg>
      <pc:sldChg chg="del">
        <pc:chgData name="Novembre Matteo" userId="437dbab0-cd7d-4665-9647-10d1fd490981" providerId="ADAL" clId="{91B3E30A-C5F4-46D0-B01E-FB65EC075246}" dt="2026-04-02T10:59:57.966" v="150" actId="47"/>
        <pc:sldMkLst>
          <pc:docMk/>
          <pc:sldMk cId="0" sldId="284"/>
        </pc:sldMkLst>
      </pc:sldChg>
      <pc:sldChg chg="modSp del mod">
        <pc:chgData name="Novembre Matteo" userId="437dbab0-cd7d-4665-9647-10d1fd490981" providerId="ADAL" clId="{91B3E30A-C5F4-46D0-B01E-FB65EC075246}" dt="2026-04-02T10:59:59.326" v="151" actId="47"/>
        <pc:sldMkLst>
          <pc:docMk/>
          <pc:sldMk cId="0" sldId="285"/>
        </pc:sldMkLst>
      </pc:sldChg>
      <pc:sldChg chg="del">
        <pc:chgData name="Novembre Matteo" userId="437dbab0-cd7d-4665-9647-10d1fd490981" providerId="ADAL" clId="{91B3E30A-C5F4-46D0-B01E-FB65EC075246}" dt="2026-04-02T11:00:00.882" v="152" actId="47"/>
        <pc:sldMkLst>
          <pc:docMk/>
          <pc:sldMk cId="0" sldId="286"/>
        </pc:sldMkLst>
      </pc:sldChg>
      <pc:sldChg chg="del">
        <pc:chgData name="Novembre Matteo" userId="437dbab0-cd7d-4665-9647-10d1fd490981" providerId="ADAL" clId="{91B3E30A-C5F4-46D0-B01E-FB65EC075246}" dt="2026-04-02T11:00:01.756" v="153" actId="47"/>
        <pc:sldMkLst>
          <pc:docMk/>
          <pc:sldMk cId="0" sldId="287"/>
        </pc:sldMkLst>
      </pc:sldChg>
      <pc:sldChg chg="del">
        <pc:chgData name="Novembre Matteo" userId="437dbab0-cd7d-4665-9647-10d1fd490981" providerId="ADAL" clId="{91B3E30A-C5F4-46D0-B01E-FB65EC075246}" dt="2026-04-02T11:00:02.435" v="154" actId="47"/>
        <pc:sldMkLst>
          <pc:docMk/>
          <pc:sldMk cId="0" sldId="288"/>
        </pc:sldMkLst>
      </pc:sldChg>
      <pc:sldChg chg="del">
        <pc:chgData name="Novembre Matteo" userId="437dbab0-cd7d-4665-9647-10d1fd490981" providerId="ADAL" clId="{91B3E30A-C5F4-46D0-B01E-FB65EC075246}" dt="2026-04-02T11:00:03.262" v="155" actId="47"/>
        <pc:sldMkLst>
          <pc:docMk/>
          <pc:sldMk cId="0" sldId="289"/>
        </pc:sldMkLst>
      </pc:sldChg>
      <pc:sldChg chg="modSp del mod">
        <pc:chgData name="Novembre Matteo" userId="437dbab0-cd7d-4665-9647-10d1fd490981" providerId="ADAL" clId="{91B3E30A-C5F4-46D0-B01E-FB65EC075246}" dt="2026-04-02T11:00:03.964" v="156" actId="47"/>
        <pc:sldMkLst>
          <pc:docMk/>
          <pc:sldMk cId="0" sldId="290"/>
        </pc:sldMkLst>
      </pc:sldChg>
      <pc:sldChg chg="del">
        <pc:chgData name="Novembre Matteo" userId="437dbab0-cd7d-4665-9647-10d1fd490981" providerId="ADAL" clId="{91B3E30A-C5F4-46D0-B01E-FB65EC075246}" dt="2026-04-02T11:00:04.820" v="157" actId="47"/>
        <pc:sldMkLst>
          <pc:docMk/>
          <pc:sldMk cId="0" sldId="291"/>
        </pc:sldMkLst>
      </pc:sldChg>
      <pc:sldChg chg="del">
        <pc:chgData name="Novembre Matteo" userId="437dbab0-cd7d-4665-9647-10d1fd490981" providerId="ADAL" clId="{91B3E30A-C5F4-46D0-B01E-FB65EC075246}" dt="2026-04-02T11:00:05.627" v="158" actId="47"/>
        <pc:sldMkLst>
          <pc:docMk/>
          <pc:sldMk cId="0" sldId="292"/>
        </pc:sldMkLst>
      </pc:sldChg>
      <pc:sldChg chg="del">
        <pc:chgData name="Novembre Matteo" userId="437dbab0-cd7d-4665-9647-10d1fd490981" providerId="ADAL" clId="{91B3E30A-C5F4-46D0-B01E-FB65EC075246}" dt="2026-04-02T11:00:06.452" v="159" actId="47"/>
        <pc:sldMkLst>
          <pc:docMk/>
          <pc:sldMk cId="0" sldId="293"/>
        </pc:sldMkLst>
      </pc:sldChg>
      <pc:sldChg chg="del">
        <pc:chgData name="Novembre Matteo" userId="437dbab0-cd7d-4665-9647-10d1fd490981" providerId="ADAL" clId="{91B3E30A-C5F4-46D0-B01E-FB65EC075246}" dt="2026-04-02T11:00:07.233" v="160" actId="47"/>
        <pc:sldMkLst>
          <pc:docMk/>
          <pc:sldMk cId="0" sldId="294"/>
        </pc:sldMkLst>
      </pc:sldChg>
      <pc:sldChg chg="del">
        <pc:chgData name="Novembre Matteo" userId="437dbab0-cd7d-4665-9647-10d1fd490981" providerId="ADAL" clId="{91B3E30A-C5F4-46D0-B01E-FB65EC075246}" dt="2026-04-02T11:00:08.126" v="161" actId="47"/>
        <pc:sldMkLst>
          <pc:docMk/>
          <pc:sldMk cId="0" sldId="295"/>
        </pc:sldMkLst>
      </pc:sldChg>
      <pc:sldChg chg="del">
        <pc:chgData name="Novembre Matteo" userId="437dbab0-cd7d-4665-9647-10d1fd490981" providerId="ADAL" clId="{91B3E30A-C5F4-46D0-B01E-FB65EC075246}" dt="2026-04-02T11:00:11.707" v="162" actId="47"/>
        <pc:sldMkLst>
          <pc:docMk/>
          <pc:sldMk cId="0" sldId="296"/>
        </pc:sldMkLst>
      </pc:sldChg>
      <pc:sldChg chg="del">
        <pc:chgData name="Novembre Matteo" userId="437dbab0-cd7d-4665-9647-10d1fd490981" providerId="ADAL" clId="{91B3E30A-C5F4-46D0-B01E-FB65EC075246}" dt="2026-04-02T11:00:12.448" v="163" actId="47"/>
        <pc:sldMkLst>
          <pc:docMk/>
          <pc:sldMk cId="0" sldId="297"/>
        </pc:sldMkLst>
      </pc:sldChg>
      <pc:sldChg chg="del">
        <pc:chgData name="Novembre Matteo" userId="437dbab0-cd7d-4665-9647-10d1fd490981" providerId="ADAL" clId="{91B3E30A-C5F4-46D0-B01E-FB65EC075246}" dt="2026-04-02T11:00:14.772" v="164" actId="47"/>
        <pc:sldMkLst>
          <pc:docMk/>
          <pc:sldMk cId="0" sldId="298"/>
        </pc:sldMkLst>
      </pc:sldChg>
      <pc:sldChg chg="del">
        <pc:chgData name="Novembre Matteo" userId="437dbab0-cd7d-4665-9647-10d1fd490981" providerId="ADAL" clId="{91B3E30A-C5F4-46D0-B01E-FB65EC075246}" dt="2026-04-02T11:00:15.576" v="165" actId="47"/>
        <pc:sldMkLst>
          <pc:docMk/>
          <pc:sldMk cId="0" sldId="299"/>
        </pc:sldMkLst>
      </pc:sldChg>
      <pc:sldChg chg="del">
        <pc:chgData name="Novembre Matteo" userId="437dbab0-cd7d-4665-9647-10d1fd490981" providerId="ADAL" clId="{91B3E30A-C5F4-46D0-B01E-FB65EC075246}" dt="2026-04-02T11:00:18.592" v="169" actId="47"/>
        <pc:sldMkLst>
          <pc:docMk/>
          <pc:sldMk cId="0" sldId="300"/>
        </pc:sldMkLst>
      </pc:sldChg>
      <pc:sldChg chg="del">
        <pc:chgData name="Novembre Matteo" userId="437dbab0-cd7d-4665-9647-10d1fd490981" providerId="ADAL" clId="{91B3E30A-C5F4-46D0-B01E-FB65EC075246}" dt="2026-04-02T11:00:19.446" v="170" actId="47"/>
        <pc:sldMkLst>
          <pc:docMk/>
          <pc:sldMk cId="0" sldId="301"/>
        </pc:sldMkLst>
      </pc:sldChg>
      <pc:sldChg chg="del">
        <pc:chgData name="Novembre Matteo" userId="437dbab0-cd7d-4665-9647-10d1fd490981" providerId="ADAL" clId="{91B3E30A-C5F4-46D0-B01E-FB65EC075246}" dt="2026-04-02T11:00:20.105" v="171" actId="47"/>
        <pc:sldMkLst>
          <pc:docMk/>
          <pc:sldMk cId="0" sldId="302"/>
        </pc:sldMkLst>
      </pc:sldChg>
      <pc:sldChg chg="del">
        <pc:chgData name="Novembre Matteo" userId="437dbab0-cd7d-4665-9647-10d1fd490981" providerId="ADAL" clId="{91B3E30A-C5F4-46D0-B01E-FB65EC075246}" dt="2026-04-02T11:00:20.806" v="172" actId="47"/>
        <pc:sldMkLst>
          <pc:docMk/>
          <pc:sldMk cId="0" sldId="303"/>
        </pc:sldMkLst>
      </pc:sldChg>
      <pc:sldChg chg="modSp mod">
        <pc:chgData name="Novembre Matteo" userId="437dbab0-cd7d-4665-9647-10d1fd490981" providerId="ADAL" clId="{91B3E30A-C5F4-46D0-B01E-FB65EC075246}" dt="2026-04-02T13:10:42.622" v="173" actId="1076"/>
        <pc:sldMkLst>
          <pc:docMk/>
          <pc:sldMk cId="0" sldId="304"/>
        </pc:sldMkLst>
        <pc:spChg chg="mod">
          <ac:chgData name="Novembre Matteo" userId="437dbab0-cd7d-4665-9647-10d1fd490981" providerId="ADAL" clId="{91B3E30A-C5F4-46D0-B01E-FB65EC075246}" dt="2026-04-02T13:10:42.622" v="173" actId="1076"/>
          <ac:spMkLst>
            <pc:docMk/>
            <pc:sldMk cId="0" sldId="304"/>
            <ac:spMk id="22" creationId="{00000000-0000-0000-0000-000000000000}"/>
          </ac:spMkLst>
        </pc:spChg>
      </pc:sldChg>
      <pc:sldChg chg="modSp mod">
        <pc:chgData name="Novembre Matteo" userId="437dbab0-cd7d-4665-9647-10d1fd490981" providerId="ADAL" clId="{91B3E30A-C5F4-46D0-B01E-FB65EC075246}" dt="2026-04-02T13:12:25.356" v="185" actId="1076"/>
        <pc:sldMkLst>
          <pc:docMk/>
          <pc:sldMk cId="0" sldId="312"/>
        </pc:sldMkLst>
        <pc:spChg chg="mod">
          <ac:chgData name="Novembre Matteo" userId="437dbab0-cd7d-4665-9647-10d1fd490981" providerId="ADAL" clId="{91B3E30A-C5F4-46D0-B01E-FB65EC075246}" dt="2026-04-02T13:11:14.226" v="174" actId="1076"/>
          <ac:spMkLst>
            <pc:docMk/>
            <pc:sldMk cId="0" sldId="312"/>
            <ac:spMk id="1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14.226" v="174" actId="1076"/>
          <ac:spMkLst>
            <pc:docMk/>
            <pc:sldMk cId="0" sldId="312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14.226" v="174" actId="1076"/>
          <ac:spMkLst>
            <pc:docMk/>
            <pc:sldMk cId="0" sldId="312"/>
            <ac:spMk id="1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2:04.834" v="181" actId="1076"/>
          <ac:spMkLst>
            <pc:docMk/>
            <pc:sldMk cId="0" sldId="312"/>
            <ac:spMk id="2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23.077" v="175" actId="1076"/>
          <ac:spMkLst>
            <pc:docMk/>
            <pc:sldMk cId="0" sldId="312"/>
            <ac:spMk id="2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23.077" v="175" actId="1076"/>
          <ac:spMkLst>
            <pc:docMk/>
            <pc:sldMk cId="0" sldId="312"/>
            <ac:spMk id="3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23.077" v="175" actId="1076"/>
          <ac:spMkLst>
            <pc:docMk/>
            <pc:sldMk cId="0" sldId="312"/>
            <ac:spMk id="3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2:10.053" v="182" actId="1076"/>
          <ac:spMkLst>
            <pc:docMk/>
            <pc:sldMk cId="0" sldId="312"/>
            <ac:spMk id="3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32.469" v="176" actId="1076"/>
          <ac:spMkLst>
            <pc:docMk/>
            <pc:sldMk cId="0" sldId="312"/>
            <ac:spMk id="4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32.469" v="176" actId="1076"/>
          <ac:spMkLst>
            <pc:docMk/>
            <pc:sldMk cId="0" sldId="312"/>
            <ac:spMk id="4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32.469" v="176" actId="1076"/>
          <ac:spMkLst>
            <pc:docMk/>
            <pc:sldMk cId="0" sldId="312"/>
            <ac:spMk id="4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2:15.980" v="183" actId="1076"/>
          <ac:spMkLst>
            <pc:docMk/>
            <pc:sldMk cId="0" sldId="312"/>
            <ac:spMk id="4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43.581" v="177" actId="1076"/>
          <ac:spMkLst>
            <pc:docMk/>
            <pc:sldMk cId="0" sldId="312"/>
            <ac:spMk id="5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43.581" v="177" actId="1076"/>
          <ac:spMkLst>
            <pc:docMk/>
            <pc:sldMk cId="0" sldId="312"/>
            <ac:spMk id="5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43.581" v="177" actId="1076"/>
          <ac:spMkLst>
            <pc:docMk/>
            <pc:sldMk cId="0" sldId="312"/>
            <ac:spMk id="6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2:01.548" v="180" actId="1076"/>
          <ac:spMkLst>
            <pc:docMk/>
            <pc:sldMk cId="0" sldId="312"/>
            <ac:spMk id="6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48.900" v="178" actId="1076"/>
          <ac:spMkLst>
            <pc:docMk/>
            <pc:sldMk cId="0" sldId="312"/>
            <ac:spMk id="7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48.900" v="178" actId="1076"/>
          <ac:spMkLst>
            <pc:docMk/>
            <pc:sldMk cId="0" sldId="312"/>
            <ac:spMk id="7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2:20.461" v="184" actId="1076"/>
          <ac:spMkLst>
            <pc:docMk/>
            <pc:sldMk cId="0" sldId="312"/>
            <ac:spMk id="7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55.372" v="179" actId="1076"/>
          <ac:spMkLst>
            <pc:docMk/>
            <pc:sldMk cId="0" sldId="312"/>
            <ac:spMk id="8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1:55.372" v="179" actId="1076"/>
          <ac:spMkLst>
            <pc:docMk/>
            <pc:sldMk cId="0" sldId="312"/>
            <ac:spMk id="8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4-02T13:12:25.356" v="185" actId="1076"/>
          <ac:spMkLst>
            <pc:docMk/>
            <pc:sldMk cId="0" sldId="312"/>
            <ac:spMk id="86" creationId="{00000000-0000-0000-0000-000000000000}"/>
          </ac:spMkLst>
        </pc:spChg>
      </pc:sldChg>
      <pc:sldChg chg="modSp add mod">
        <pc:chgData name="Novembre Matteo" userId="437dbab0-cd7d-4665-9647-10d1fd490981" providerId="ADAL" clId="{91B3E30A-C5F4-46D0-B01E-FB65EC075246}" dt="2026-04-02T10:59:26.365" v="123" actId="20577"/>
        <pc:sldMkLst>
          <pc:docMk/>
          <pc:sldMk cId="348954085" sldId="338"/>
        </pc:sldMkLst>
        <pc:graphicFrameChg chg="modGraphic">
          <ac:chgData name="Novembre Matteo" userId="437dbab0-cd7d-4665-9647-10d1fd490981" providerId="ADAL" clId="{91B3E30A-C5F4-46D0-B01E-FB65EC075246}" dt="2026-04-02T10:59:26.365" v="123" actId="20577"/>
          <ac:graphicFrameMkLst>
            <pc:docMk/>
            <pc:sldMk cId="348954085" sldId="338"/>
            <ac:graphicFrameMk id="5" creationId="{52A369BA-F177-BE2A-86F7-3CE0AB26EBE9}"/>
          </ac:graphicFrameMkLst>
        </pc:graphicFrameChg>
      </pc:sldChg>
      <pc:sldChg chg="del">
        <pc:chgData name="Novembre Matteo" userId="437dbab0-cd7d-4665-9647-10d1fd490981" providerId="ADAL" clId="{91B3E30A-C5F4-46D0-B01E-FB65EC075246}" dt="2026-04-02T10:59:36.867" v="132" actId="47"/>
        <pc:sldMkLst>
          <pc:docMk/>
          <pc:sldMk cId="0" sldId="339"/>
        </pc:sldMkLst>
      </pc:sldChg>
      <pc:sldChg chg="del">
        <pc:chgData name="Novembre Matteo" userId="437dbab0-cd7d-4665-9647-10d1fd490981" providerId="ADAL" clId="{91B3E30A-C5F4-46D0-B01E-FB65EC075246}" dt="2026-04-02T11:00:16.510" v="166" actId="47"/>
        <pc:sldMkLst>
          <pc:docMk/>
          <pc:sldMk cId="0" sldId="340"/>
        </pc:sldMkLst>
      </pc:sldChg>
      <pc:sldChg chg="del">
        <pc:chgData name="Novembre Matteo" userId="437dbab0-cd7d-4665-9647-10d1fd490981" providerId="ADAL" clId="{91B3E30A-C5F4-46D0-B01E-FB65EC075246}" dt="2026-04-02T11:00:17.120" v="167" actId="47"/>
        <pc:sldMkLst>
          <pc:docMk/>
          <pc:sldMk cId="0" sldId="341"/>
        </pc:sldMkLst>
      </pc:sldChg>
      <pc:sldChg chg="del">
        <pc:chgData name="Novembre Matteo" userId="437dbab0-cd7d-4665-9647-10d1fd490981" providerId="ADAL" clId="{91B3E30A-C5F4-46D0-B01E-FB65EC075246}" dt="2026-04-02T11:00:17.735" v="168" actId="47"/>
        <pc:sldMkLst>
          <pc:docMk/>
          <pc:sldMk cId="0" sldId="342"/>
        </pc:sldMkLst>
      </pc:sldChg>
    </pc:docChg>
  </pc:docChgLst>
  <pc:docChgLst>
    <pc:chgData name="Novembre Matteo" userId="437dbab0-cd7d-4665-9647-10d1fd490981" providerId="ADAL" clId="{32D87564-5860-4D0F-8588-6C5265CF8554}"/>
    <pc:docChg chg="modSld">
      <pc:chgData name="Novembre Matteo" userId="437dbab0-cd7d-4665-9647-10d1fd490981" providerId="ADAL" clId="{32D87564-5860-4D0F-8588-6C5265CF8554}" dt="2026-02-02T10:17:45.862" v="22" actId="20577"/>
      <pc:docMkLst>
        <pc:docMk/>
      </pc:docMkLst>
      <pc:sldChg chg="addSp modSp mod">
        <pc:chgData name="Novembre Matteo" userId="437dbab0-cd7d-4665-9647-10d1fd490981" providerId="ADAL" clId="{32D87564-5860-4D0F-8588-6C5265CF8554}" dt="2026-02-02T10:17:45.862" v="22" actId="2057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19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03/04/2026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180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14.png"/><Relationship Id="rId10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47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endParaRPr lang="it-IT" sz="1200" dirty="0">
              <a:effectLst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454299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: Integrazione con Teams ed Esercitazione di modulo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615391" y="3825850"/>
            <a:ext cx="23500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 Contenuti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 le cartelle o le librerie specifiche che contengono dati sensibili e richiedono protezione o restrizioni di accesso speciali.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5491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55940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Gruppi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i gruppi standard (Visitatori, Membri, Proprietari) per mappare i livelli di accesso: Lettura, Modifica, Controllo completo.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5491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326026" y="2559406"/>
            <a:ext cx="666598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35654"/>
            <a:ext cx="2438705" cy="2115007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9380" y="3825850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Interrompi Ereditarietà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47050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Nelle impostazioni avanzate dei permessi, interrompi l'ereditarietà dal sito padre solo per gli elementi che necessitano eccezioni.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5491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7199071" y="2559406"/>
            <a:ext cx="666598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Accesso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la funzione "Controlla autorizzazioni" o accedi con un utente di test per garantire il rispetto del principio del privilegio minimo.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5491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55940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353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 5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Configurare Permessi e Gruppi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240926" y="276149"/>
            <a:ext cx="23810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441180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708185" y="276149"/>
            <a:ext cx="17830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15 Minuti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64001"/>
            <a:ext cx="243870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Apri/Crea Team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224528"/>
            <a:ext cx="21342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 Microsoft Teams e seleziona un Team esistente o creane uno nuovo assicurandoti che sia collegato al tuo sito SharePoint.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83257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1553566" y="2587752"/>
            <a:ext cx="466344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Aggiungi Scheda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canale Generale, clicca su "+" e aggiungi una scheda "Document Library" (SharePoint). Seleziona la libreria del sito.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83257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587752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Sposta File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Prendi un file dalla tua chat privata o OneDrive e spostalo (o copialo) nella scheda File del canale appena configurato.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83257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587752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64001"/>
            <a:ext cx="243870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&amp; Test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224528"/>
            <a:ext cx="21342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 il file contemporaneamente con un collega per testare il co-authoring in tempo reale e controlla la cronologia versioni.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83257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587752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201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 6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143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Collegare SharePoint a Teams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429293" y="276149"/>
            <a:ext cx="22000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29546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895637" y="276149"/>
            <a:ext cx="15956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15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571500" y="152705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continuare a studiare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Risorse e Approfondimenti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532974" y="286207"/>
            <a:ext cx="1095451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764" y="381305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13364" y="286207"/>
            <a:ext cx="619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utili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" y="1333195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71500" y="1333195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809244" y="182514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905256" y="1958645"/>
            <a:ext cx="381305" cy="3044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1747418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Learn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71854" y="2069287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Percorsi di apprendimento guidati gratuiti su SharePoint, Teams e OneDrive per ogni livello.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86500" y="1333195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286500" y="1333195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524244" y="182514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6696151" y="1958645"/>
            <a:ext cx="228600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86854" y="1747418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Documentazione Ufficiale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286854" y="2069287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 tecniche dettagliate su governance, permessi, sicurezza e configurazione avanzata.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71500" y="3127248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571500" y="3127248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09244" y="36191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05256" y="3752698"/>
            <a:ext cx="3813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71854" y="3541471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PnP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571854" y="3863340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 di codice, webpart open-source e best practices dalla community Patterns &amp; Practices.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86500" y="3127248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6286500" y="3127248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6524244" y="36191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6638544" y="3752698"/>
            <a:ext cx="342900" cy="3044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86854" y="3541471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Tutorial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286854" y="3863340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Canale YouTube Microsoft 365 e sessioni registrate dalle conferenze Ignite e Build.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71500" y="4921301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571500" y="4921301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809244" y="541324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2746" y="5546750"/>
            <a:ext cx="304495" cy="3044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571854" y="5335524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Strumenti PnP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1571854" y="5657393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Risorse pratiche come l'Adoption Kit e script di automazione per amministratori.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286500" y="4921301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4"/>
          <p:cNvSpPr/>
          <p:nvPr/>
        </p:nvSpPr>
        <p:spPr>
          <a:xfrm>
            <a:off x="6286500" y="4921301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5"/>
          <p:cNvSpPr/>
          <p:nvPr/>
        </p:nvSpPr>
        <p:spPr>
          <a:xfrm>
            <a:off x="6524244" y="541324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6638544" y="5546750"/>
            <a:ext cx="342900" cy="30449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286854" y="5335524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M365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7286854" y="5657393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 aggiornato sulle nuove funzionalità in arrivo e sugli sviluppi futuri della piattaforma.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 l="-57" r="-57"/>
          <a:stretch/>
        </p:blipFill>
        <p:spPr>
          <a:xfrm>
            <a:off x="11487607" y="6172200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1" r="-1"/>
          <a:stretch/>
        </p:blipFill>
        <p:spPr>
          <a:xfrm>
            <a:off x="0" y="1333195"/>
            <a:ext cx="12191695" cy="5905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4843576"/>
            <a:ext cx="3047695" cy="1429207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71500" y="4843576"/>
            <a:ext cx="38405" cy="1429207"/>
          </a:xfrm>
          <a:prstGeom prst="roundRect">
            <a:avLst>
              <a:gd name="adj" fmla="val 126983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1047902" y="5034686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dei Canali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800100" y="5072176"/>
            <a:ext cx="171907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0100" y="5310835"/>
            <a:ext cx="27057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carichi un file nella tab "File" di un canale Teams, in realtà lo stai salvando in una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Cartella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della Libreria Documenti del sito SharePoint collegato.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8572500" y="4843576"/>
            <a:ext cx="3047695" cy="1429207"/>
          </a:xfrm>
          <a:prstGeom prst="roundRect">
            <a:avLst>
              <a:gd name="adj" fmla="val 3412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8572500" y="4843576"/>
            <a:ext cx="38405" cy="1429207"/>
          </a:xfrm>
          <a:prstGeom prst="roundRect">
            <a:avLst>
              <a:gd name="adj" fmla="val 126983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 txBox="1"/>
          <p:nvPr/>
        </p:nvSpPr>
        <p:spPr>
          <a:xfrm>
            <a:off x="9068105" y="5034686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Unificati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801100" y="5072176"/>
            <a:ext cx="190195" cy="1527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01100" y="5310835"/>
            <a:ext cx="27057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Aggiungi un membro al Team? Accesso automatico al sito SharePoint. Rimuovi un membro? Accesso revocato.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Gruppi M365 gestiscono tutto.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384" b="-384"/>
          <a:stretch/>
        </p:blipFill>
        <p:spPr>
          <a:xfrm>
            <a:off x="5381244" y="3297326"/>
            <a:ext cx="1429207" cy="384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381244" y="3316528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2"/>
          <p:cNvSpPr/>
          <p:nvPr/>
        </p:nvSpPr>
        <p:spPr>
          <a:xfrm>
            <a:off x="6696151" y="3316528"/>
            <a:ext cx="114300" cy="1143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3"/>
          <p:cNvSpPr/>
          <p:nvPr/>
        </p:nvSpPr>
        <p:spPr>
          <a:xfrm>
            <a:off x="5382158" y="2840126"/>
            <a:ext cx="1429207" cy="352044"/>
          </a:xfrm>
          <a:prstGeom prst="roundRect">
            <a:avLst>
              <a:gd name="adj" fmla="val 140400"/>
            </a:avLst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4"/>
          <p:cNvSpPr txBox="1"/>
          <p:nvPr/>
        </p:nvSpPr>
        <p:spPr>
          <a:xfrm>
            <a:off x="5696712" y="2840126"/>
            <a:ext cx="1171346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 Team = 1 Sito 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1554" b="-1554"/>
          <a:stretch/>
        </p:blipFill>
        <p:spPr>
          <a:xfrm>
            <a:off x="5534863" y="2947111"/>
            <a:ext cx="161849" cy="13350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038697" y="325892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0078D4">
                <a:alpha val="5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t="-12" b="-12"/>
          <a:stretch/>
        </p:blipFill>
        <p:spPr>
          <a:xfrm>
            <a:off x="2333549" y="2268626"/>
            <a:ext cx="3047695" cy="209580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156509" y="251642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 l="-90" r="-90"/>
          <a:stretch/>
        </p:blipFill>
        <p:spPr>
          <a:xfrm>
            <a:off x="3204058" y="2602382"/>
            <a:ext cx="381305" cy="3044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775558" y="2583180"/>
            <a:ext cx="8668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</a:t>
            </a:r>
            <a:endParaRPr lang="en-US" sz="1800" dirty="0"/>
          </a:p>
        </p:txBody>
      </p:sp>
      <p:sp>
        <p:nvSpPr>
          <p:cNvPr id="27" name="Shape 18"/>
          <p:cNvSpPr/>
          <p:nvPr/>
        </p:nvSpPr>
        <p:spPr>
          <a:xfrm>
            <a:off x="2523744" y="3183026"/>
            <a:ext cx="2667305" cy="371246"/>
          </a:xfrm>
          <a:prstGeom prst="roundRect">
            <a:avLst>
              <a:gd name="adj" fmla="val 37893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19"/>
          <p:cNvSpPr txBox="1"/>
          <p:nvPr/>
        </p:nvSpPr>
        <p:spPr>
          <a:xfrm>
            <a:off x="2828239" y="3183026"/>
            <a:ext cx="243870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Interfaccia di chat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2638044" y="3291840"/>
            <a:ext cx="190195" cy="152705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2523744" y="3666744"/>
            <a:ext cx="2667305" cy="371246"/>
          </a:xfrm>
          <a:prstGeom prst="roundRect">
            <a:avLst>
              <a:gd name="adj" fmla="val 37893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1"/>
          <p:cNvSpPr txBox="1"/>
          <p:nvPr/>
        </p:nvSpPr>
        <p:spPr>
          <a:xfrm>
            <a:off x="2809951" y="3666744"/>
            <a:ext cx="2456993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Canali &amp; Tab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2638044" y="3775557"/>
            <a:ext cx="171907" cy="152705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2523744" y="4150461"/>
            <a:ext cx="2667305" cy="371246"/>
          </a:xfrm>
          <a:prstGeom prst="roundRect">
            <a:avLst>
              <a:gd name="adj" fmla="val 37893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3"/>
          <p:cNvSpPr txBox="1"/>
          <p:nvPr/>
        </p:nvSpPr>
        <p:spPr>
          <a:xfrm>
            <a:off x="2809951" y="4150461"/>
            <a:ext cx="2456993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Meeting &amp; Call</a:t>
            </a:r>
            <a:endParaRPr lang="en-US" sz="1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2638044" y="4259275"/>
            <a:ext cx="171907" cy="152705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rcRect t="-12" b="-12"/>
          <a:stretch/>
        </p:blipFill>
        <p:spPr>
          <a:xfrm>
            <a:off x="6810451" y="2268626"/>
            <a:ext cx="3047695" cy="209580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7350862" y="251642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0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435901" y="2602382"/>
            <a:ext cx="304495" cy="304495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7969910" y="2583180"/>
            <a:ext cx="14721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</a:t>
            </a:r>
            <a:endParaRPr lang="en-US" sz="1800" dirty="0"/>
          </a:p>
        </p:txBody>
      </p:sp>
      <p:sp>
        <p:nvSpPr>
          <p:cNvPr id="40" name="Shape 26"/>
          <p:cNvSpPr/>
          <p:nvPr/>
        </p:nvSpPr>
        <p:spPr>
          <a:xfrm>
            <a:off x="7000646" y="3183026"/>
            <a:ext cx="2667305" cy="371246"/>
          </a:xfrm>
          <a:prstGeom prst="roundRect">
            <a:avLst>
              <a:gd name="adj" fmla="val 37893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27"/>
          <p:cNvSpPr txBox="1"/>
          <p:nvPr/>
        </p:nvSpPr>
        <p:spPr>
          <a:xfrm>
            <a:off x="7248449" y="3183026"/>
            <a:ext cx="249539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Storage dei File</a:t>
            </a:r>
            <a:endParaRPr lang="en-US" sz="11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7114946" y="3291840"/>
            <a:ext cx="133502" cy="152705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7000646" y="3666744"/>
            <a:ext cx="2667305" cy="371246"/>
          </a:xfrm>
          <a:prstGeom prst="roundRect">
            <a:avLst>
              <a:gd name="adj" fmla="val 37893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29"/>
          <p:cNvSpPr txBox="1"/>
          <p:nvPr/>
        </p:nvSpPr>
        <p:spPr>
          <a:xfrm>
            <a:off x="7248449" y="3666744"/>
            <a:ext cx="249539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Motore Permessi</a:t>
            </a:r>
            <a:endParaRPr lang="en-US" sz="11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7114946" y="3775557"/>
            <a:ext cx="133502" cy="152705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7000646" y="4150461"/>
            <a:ext cx="2667305" cy="371246"/>
          </a:xfrm>
          <a:prstGeom prst="roundRect">
            <a:avLst>
              <a:gd name="adj" fmla="val 37893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1"/>
          <p:cNvSpPr txBox="1"/>
          <p:nvPr/>
        </p:nvSpPr>
        <p:spPr>
          <a:xfrm>
            <a:off x="7267651" y="4150461"/>
            <a:ext cx="2476195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Pagine &amp; Liste</a:t>
            </a:r>
            <a:endParaRPr lang="en-US" sz="110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114946" y="4259275"/>
            <a:ext cx="152705" cy="152705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3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4"/>
          <p:cNvSpPr txBox="1"/>
          <p:nvPr/>
        </p:nvSpPr>
        <p:spPr>
          <a:xfrm>
            <a:off x="571500" y="152705"/>
            <a:ext cx="7858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Overview</a:t>
            </a:r>
            <a:endParaRPr lang="en-US" sz="1000" dirty="0"/>
          </a:p>
        </p:txBody>
      </p:sp>
      <p:sp>
        <p:nvSpPr>
          <p:cNvPr id="52" name="Text 35"/>
          <p:cNvSpPr txBox="1"/>
          <p:nvPr/>
        </p:nvSpPr>
        <p:spPr>
          <a:xfrm>
            <a:off x="571500" y="381305"/>
            <a:ext cx="89071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&amp; SharePoint: Come Lavorano Insieme</a:t>
            </a:r>
            <a:endParaRPr lang="en-US" sz="2700" dirty="0"/>
          </a:p>
        </p:txBody>
      </p:sp>
      <p:sp>
        <p:nvSpPr>
          <p:cNvPr id="53" name="Shape 36"/>
          <p:cNvSpPr/>
          <p:nvPr/>
        </p:nvSpPr>
        <p:spPr>
          <a:xfrm>
            <a:off x="9446666" y="276149"/>
            <a:ext cx="21808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8"/>
          <a:srcRect l="-33" r="-33"/>
          <a:stretch/>
        </p:blipFill>
        <p:spPr>
          <a:xfrm>
            <a:off x="9646920" y="381305"/>
            <a:ext cx="171907" cy="152705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9932213" y="276149"/>
            <a:ext cx="155539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Profonda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333195"/>
            <a:ext cx="5333695" cy="51435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09244" y="412485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1133856" y="3295498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Proprietà del Mittente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3600907"/>
            <a:ext cx="4610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file risiede fisicamente nel OneDrive for Business della persona che lo ha caricato.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" y="515355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1162202" y="4324198"/>
            <a:ext cx="4620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Cartella Automatica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62202" y="4629607"/>
            <a:ext cx="45820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Viene creato automaticamente nella </a:t>
            </a:r>
            <a:r>
              <a:rPr lang="en-US" sz="1000" dirty="0" err="1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cartella</a:t>
            </a: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 Chat Files</a:t>
            </a: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14654" y="5352898"/>
            <a:ext cx="4668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Privato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14654" y="5658307"/>
            <a:ext cx="46296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visibile all'intera organizzazione, ma solo agli utenti specifici della chat.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3365906"/>
            <a:ext cx="181051" cy="181051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403" r="-1403"/>
          <a:stretch/>
        </p:blipFill>
        <p:spPr>
          <a:xfrm>
            <a:off x="809244" y="4394606"/>
            <a:ext cx="209398" cy="18105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809244" y="5423306"/>
            <a:ext cx="161849" cy="18105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71500" y="1333195"/>
            <a:ext cx="5333695" cy="1723644"/>
          </a:xfrm>
          <a:prstGeom prst="roundRect">
            <a:avLst>
              <a:gd name="adj" fmla="val 3517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3"/>
          <p:cNvSpPr/>
          <p:nvPr/>
        </p:nvSpPr>
        <p:spPr>
          <a:xfrm>
            <a:off x="2952598" y="157185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3095244" y="1742846"/>
            <a:ext cx="286207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2551" y="2286000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Dove vengono salvati?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52551" y="2628900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Spazio personale del mittente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71500" y="6080760"/>
            <a:ext cx="5333695" cy="400507"/>
          </a:xfrm>
          <a:prstGeom prst="roundRect">
            <a:avLst>
              <a:gd name="adj" fmla="val 6523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 txBox="1"/>
          <p:nvPr/>
        </p:nvSpPr>
        <p:spPr>
          <a:xfrm>
            <a:off x="609905" y="6175858"/>
            <a:ext cx="5257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Ideale per bozze rapide e file non definitivi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1747418" y="6212434"/>
            <a:ext cx="105156" cy="13350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286500" y="1333195"/>
            <a:ext cx="5333695" cy="51435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19"/>
          <p:cNvSpPr/>
          <p:nvPr/>
        </p:nvSpPr>
        <p:spPr>
          <a:xfrm>
            <a:off x="6524244" y="412485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 txBox="1"/>
          <p:nvPr/>
        </p:nvSpPr>
        <p:spPr>
          <a:xfrm>
            <a:off x="6896405" y="3295498"/>
            <a:ext cx="4601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i Partecipanti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896405" y="3600907"/>
            <a:ext cx="4562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permessi vengono concessi automaticamente solo ai membri presenti nella conversazione.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524244" y="515355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3"/>
          <p:cNvSpPr txBox="1"/>
          <p:nvPr/>
        </p:nvSpPr>
        <p:spPr>
          <a:xfrm>
            <a:off x="6896405" y="4324198"/>
            <a:ext cx="4601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Rischio "Utente Uscente"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6896405" y="4629607"/>
            <a:ext cx="4562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il mittente lascia l'azienda e il suo OneDrive viene chiuso, il file diventa inaccessibile.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6829654" y="5352898"/>
            <a:ext cx="4668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Spostamento Necessario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829654" y="5658307"/>
            <a:ext cx="46296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documenti ufficiali del progetto, il file va spostato manualmente in SharePoint.</a:t>
            </a:r>
            <a:endParaRPr lang="en-US" sz="10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505" r="-505"/>
          <a:stretch/>
        </p:blipFill>
        <p:spPr>
          <a:xfrm>
            <a:off x="6524244" y="3365906"/>
            <a:ext cx="228600" cy="181051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6524244" y="4394606"/>
            <a:ext cx="228600" cy="181051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-1082" r="-1082"/>
          <a:stretch/>
        </p:blipFill>
        <p:spPr>
          <a:xfrm>
            <a:off x="6524244" y="5423306"/>
            <a:ext cx="161849" cy="181051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286500" y="1333195"/>
            <a:ext cx="5333695" cy="1723644"/>
          </a:xfrm>
          <a:prstGeom prst="roundRect">
            <a:avLst>
              <a:gd name="adj" fmla="val 3517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8"/>
          <p:cNvSpPr/>
          <p:nvPr/>
        </p:nvSpPr>
        <p:spPr>
          <a:xfrm>
            <a:off x="8667598" y="157185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8853221" y="1742846"/>
            <a:ext cx="200254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467551" y="2286000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 può accedere?</a:t>
            </a:r>
            <a:endParaRPr lang="en-US" sz="1800" dirty="0"/>
          </a:p>
        </p:txBody>
      </p:sp>
      <p:sp>
        <p:nvSpPr>
          <p:cNvPr id="41" name="Text 30"/>
          <p:cNvSpPr txBox="1"/>
          <p:nvPr/>
        </p:nvSpPr>
        <p:spPr>
          <a:xfrm>
            <a:off x="6467551" y="2628900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permessi e rischi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6286500" y="6080760"/>
            <a:ext cx="5333695" cy="400507"/>
          </a:xfrm>
          <a:prstGeom prst="roundRect">
            <a:avLst>
              <a:gd name="adj" fmla="val 65232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32"/>
          <p:cNvSpPr txBox="1"/>
          <p:nvPr/>
        </p:nvSpPr>
        <p:spPr>
          <a:xfrm>
            <a:off x="6324905" y="6175858"/>
            <a:ext cx="5257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Attenzione: Evitare per documenti a lungo termine</a:t>
            </a:r>
            <a:endParaRPr lang="en-US" sz="10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177126" y="6212434"/>
            <a:ext cx="133502" cy="133502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34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5"/>
          <p:cNvSpPr txBox="1"/>
          <p:nvPr/>
        </p:nvSpPr>
        <p:spPr>
          <a:xfrm>
            <a:off x="571500" y="152705"/>
            <a:ext cx="6430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in Teams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571500" y="381305"/>
            <a:ext cx="84819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Inviati in Chat (Privata e Gruppo)</a:t>
            </a:r>
            <a:endParaRPr lang="en-US" sz="2700" dirty="0"/>
          </a:p>
        </p:txBody>
      </p:sp>
      <p:sp>
        <p:nvSpPr>
          <p:cNvPr id="49" name="Shape 37"/>
          <p:cNvSpPr/>
          <p:nvPr/>
        </p:nvSpPr>
        <p:spPr>
          <a:xfrm>
            <a:off x="9859975" y="276149"/>
            <a:ext cx="1762049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10059314" y="381305"/>
            <a:ext cx="190195" cy="15270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10364724" y="276149"/>
            <a:ext cx="11146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1:1</a:t>
            </a:r>
            <a:endParaRPr lang="en-US" sz="10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810098" y="3619195"/>
            <a:ext cx="571500" cy="571500"/>
          </a:xfrm>
          <a:prstGeom prst="rect">
            <a:avLst/>
          </a:prstGeom>
        </p:spPr>
      </p:pic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982005" y="3791102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73913"/>
            <a:ext cx="12191695" cy="61914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55218"/>
            <a:ext cx="4972507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09244" y="129387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918972" y="1417320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76756" y="1293876"/>
            <a:ext cx="3943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Canale = Una Cartella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76756" y="1644091"/>
            <a:ext cx="39054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canale creato in Microsoft Teams genera automaticamente una cartella corrispondente nella libreria "Documenti" del sito SharePoint.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" y="2862986"/>
            <a:ext cx="4972507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809244" y="310073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905256" y="3224174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6756" y="3100730"/>
            <a:ext cx="3943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Permessi Sincronizzati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76756" y="3450946"/>
            <a:ext cx="39054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permessi sono allineati automaticamente ai membri del Team. Chi viene aggiunto al Team accede immediatamente a tutti i file dei canali.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1500" y="4669841"/>
            <a:ext cx="4972507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809244" y="490758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8E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05256" y="5031943"/>
            <a:ext cx="2862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76756" y="4907585"/>
            <a:ext cx="3943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Flessibile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76756" y="5258714"/>
            <a:ext cx="390540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ai file dalla tab "File" in Teams per velocità o dal sito SharePoint per funzionalità avanzate di gestione documentale.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734202" y="1856232"/>
            <a:ext cx="1714500" cy="1714500"/>
          </a:xfrm>
          <a:prstGeom prst="roundRect">
            <a:avLst>
              <a:gd name="adj" fmla="val 5926"/>
            </a:avLst>
          </a:prstGeom>
          <a:solidFill>
            <a:srgbClr val="D1D5F5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144000" y="3009290"/>
            <a:ext cx="2857500" cy="2857500"/>
          </a:xfrm>
          <a:prstGeom prst="ellipse">
            <a:avLst/>
          </a:prstGeom>
          <a:solidFill>
            <a:srgbClr val="E0E0F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0" y="638251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 txBox="1"/>
          <p:nvPr/>
        </p:nvSpPr>
        <p:spPr>
          <a:xfrm>
            <a:off x="571500" y="12802"/>
            <a:ext cx="28693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Teams &amp; SharePoint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241402"/>
            <a:ext cx="337962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dei Canali</a:t>
            </a:r>
            <a:endParaRPr lang="en-US" sz="2700" dirty="0"/>
          </a:p>
        </p:txBody>
      </p:sp>
      <p:sp>
        <p:nvSpPr>
          <p:cNvPr id="26" name="Shape 21"/>
          <p:cNvSpPr/>
          <p:nvPr/>
        </p:nvSpPr>
        <p:spPr>
          <a:xfrm>
            <a:off x="9496958" y="137160"/>
            <a:ext cx="21241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9696298" y="241402"/>
            <a:ext cx="171907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982505" y="137160"/>
            <a:ext cx="14959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Automatica</a:t>
            </a:r>
            <a:endParaRPr lang="en-US" sz="10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4" r="-4"/>
          <a:stretch/>
        </p:blipFill>
        <p:spPr>
          <a:xfrm>
            <a:off x="5924398" y="2046427"/>
            <a:ext cx="5695798" cy="3438144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6029554" y="2151583"/>
            <a:ext cx="5486400" cy="286207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172200" y="2246681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4"/>
          <p:cNvSpPr/>
          <p:nvPr/>
        </p:nvSpPr>
        <p:spPr>
          <a:xfrm>
            <a:off x="6324905" y="2246681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5"/>
          <p:cNvSpPr/>
          <p:nvPr/>
        </p:nvSpPr>
        <p:spPr>
          <a:xfrm>
            <a:off x="6476695" y="2246681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6"/>
          <p:cNvSpPr txBox="1"/>
          <p:nvPr/>
        </p:nvSpPr>
        <p:spPr>
          <a:xfrm>
            <a:off x="6724498" y="2218334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 Marketing - Documenti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6029554" y="2485339"/>
            <a:ext cx="5486400" cy="2895905"/>
          </a:xfrm>
          <a:prstGeom prst="roundRect">
            <a:avLst>
              <a:gd name="adj" fmla="val 41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28"/>
          <p:cNvSpPr/>
          <p:nvPr/>
        </p:nvSpPr>
        <p:spPr>
          <a:xfrm>
            <a:off x="6038698" y="2494483"/>
            <a:ext cx="5467198" cy="428854"/>
          </a:xfrm>
          <a:prstGeom prst="roundRect">
            <a:avLst>
              <a:gd name="adj" fmla="val 1895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6038698" y="2914193"/>
            <a:ext cx="5467198" cy="9144"/>
          </a:xfrm>
          <a:prstGeom prst="roundRect">
            <a:avLst>
              <a:gd name="adj" fmla="val 888889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0"/>
          <p:cNvSpPr txBox="1"/>
          <p:nvPr/>
        </p:nvSpPr>
        <p:spPr>
          <a:xfrm>
            <a:off x="6305702" y="2608783"/>
            <a:ext cx="5047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Nuovo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6152998" y="2637130"/>
            <a:ext cx="114300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052767" y="2608783"/>
            <a:ext cx="485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Carica</a:t>
            </a:r>
            <a:endParaRPr lang="en-US" sz="10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880860" y="2637130"/>
            <a:ext cx="133502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776972" y="2608783"/>
            <a:ext cx="8092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Sincronizza</a:t>
            </a:r>
            <a:endParaRPr lang="en-US" sz="10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05065" y="2637130"/>
            <a:ext cx="133502" cy="13350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182758" y="2608783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Apri in SharePoint</a:t>
            </a:r>
            <a:endParaRPr lang="en-US" sz="10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9996221" y="2635301"/>
            <a:ext cx="114300" cy="133502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6038698" y="3228746"/>
            <a:ext cx="54671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5"/>
          <p:cNvSpPr txBox="1"/>
          <p:nvPr/>
        </p:nvSpPr>
        <p:spPr>
          <a:xfrm>
            <a:off x="6191402" y="2999232"/>
            <a:ext cx="26846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8772754" y="2999232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Stato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10062972" y="2999232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da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6038698" y="3237890"/>
            <a:ext cx="5467198" cy="428854"/>
          </a:xfrm>
          <a:prstGeom prst="rect">
            <a:avLst/>
          </a:prstGeom>
          <a:solidFill>
            <a:srgbClr val="EEF2FF">
              <a:alpha val="3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39"/>
          <p:cNvSpPr/>
          <p:nvPr/>
        </p:nvSpPr>
        <p:spPr>
          <a:xfrm>
            <a:off x="6038698" y="3657600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91402" y="3361334"/>
            <a:ext cx="171907" cy="171907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6476695" y="3352190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8772754" y="3370478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Attivo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10062972" y="3370478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6038698" y="4085539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91402" y="3790188"/>
            <a:ext cx="171907" cy="171907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6476695" y="3780130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Campagna Estiva 2024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8772754" y="3799332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ore fa</a:t>
            </a:r>
            <a:endParaRPr lang="en-US" sz="900" dirty="0"/>
          </a:p>
        </p:txBody>
      </p:sp>
      <p:sp>
        <p:nvSpPr>
          <p:cNvPr id="60" name="Shape 46"/>
          <p:cNvSpPr/>
          <p:nvPr/>
        </p:nvSpPr>
        <p:spPr>
          <a:xfrm>
            <a:off x="10062972" y="3780130"/>
            <a:ext cx="190195" cy="1901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47"/>
          <p:cNvSpPr txBox="1"/>
          <p:nvPr/>
        </p:nvSpPr>
        <p:spPr>
          <a:xfrm>
            <a:off x="10025482" y="3780130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endParaRPr lang="en-US" sz="900" dirty="0"/>
          </a:p>
        </p:txBody>
      </p:sp>
      <p:sp>
        <p:nvSpPr>
          <p:cNvPr id="62" name="Shape 48"/>
          <p:cNvSpPr/>
          <p:nvPr/>
        </p:nvSpPr>
        <p:spPr>
          <a:xfrm>
            <a:off x="6038698" y="4514393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91402" y="4218127"/>
            <a:ext cx="171907" cy="171907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6476695" y="4208983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 Mercato</a:t>
            </a:r>
            <a:endParaRPr lang="en-US" sz="1000" dirty="0"/>
          </a:p>
        </p:txBody>
      </p:sp>
      <p:sp>
        <p:nvSpPr>
          <p:cNvPr id="65" name="Text 50"/>
          <p:cNvSpPr txBox="1"/>
          <p:nvPr/>
        </p:nvSpPr>
        <p:spPr>
          <a:xfrm>
            <a:off x="8772754" y="4228186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Ieri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10062972" y="4208983"/>
            <a:ext cx="190195" cy="1901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52"/>
          <p:cNvSpPr txBox="1"/>
          <p:nvPr/>
        </p:nvSpPr>
        <p:spPr>
          <a:xfrm>
            <a:off x="10025482" y="4208983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2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endParaRPr lang="en-US" sz="900" dirty="0"/>
          </a:p>
        </p:txBody>
      </p:sp>
      <p:sp>
        <p:nvSpPr>
          <p:cNvPr id="68" name="Shape 53"/>
          <p:cNvSpPr/>
          <p:nvPr/>
        </p:nvSpPr>
        <p:spPr>
          <a:xfrm>
            <a:off x="6038698" y="4943246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191402" y="4646981"/>
            <a:ext cx="171907" cy="171907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6476695" y="4637837"/>
            <a:ext cx="16440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Media Planning</a:t>
            </a:r>
            <a:endParaRPr lang="en-US" sz="1000" dirty="0"/>
          </a:p>
        </p:txBody>
      </p:sp>
      <p:sp>
        <p:nvSpPr>
          <p:cNvPr id="71" name="Text 55"/>
          <p:cNvSpPr txBox="1"/>
          <p:nvPr/>
        </p:nvSpPr>
        <p:spPr>
          <a:xfrm>
            <a:off x="8772754" y="4657039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giorni fa</a:t>
            </a:r>
            <a:endParaRPr lang="en-US" sz="900" dirty="0"/>
          </a:p>
        </p:txBody>
      </p:sp>
      <p:sp>
        <p:nvSpPr>
          <p:cNvPr id="72" name="Shape 56"/>
          <p:cNvSpPr/>
          <p:nvPr/>
        </p:nvSpPr>
        <p:spPr>
          <a:xfrm>
            <a:off x="10062972" y="4637837"/>
            <a:ext cx="190195" cy="1901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57"/>
          <p:cNvSpPr txBox="1"/>
          <p:nvPr/>
        </p:nvSpPr>
        <p:spPr>
          <a:xfrm>
            <a:off x="10025482" y="4637837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</a:t>
            </a:r>
            <a:endParaRPr lang="en-US" sz="900" dirty="0"/>
          </a:p>
        </p:txBody>
      </p:sp>
      <p:pic>
        <p:nvPicPr>
          <p:cNvPr id="74" name="Image 14" descr="preencoded.png"/>
          <p:cNvPicPr>
            <a:picLocks noChangeAspect="1"/>
          </p:cNvPicPr>
          <p:nvPr/>
        </p:nvPicPr>
        <p:blipFill>
          <a:blip r:embed="rId14">
            <a:alphaModFix amt="60000"/>
          </a:blip>
          <a:srcRect/>
          <a:stretch/>
        </p:blipFill>
        <p:spPr>
          <a:xfrm>
            <a:off x="6191402" y="5075834"/>
            <a:ext cx="171907" cy="171907"/>
          </a:xfrm>
          <a:prstGeom prst="rect">
            <a:avLst/>
          </a:prstGeom>
        </p:spPr>
      </p:pic>
      <p:sp>
        <p:nvSpPr>
          <p:cNvPr id="75" name="Text 58"/>
          <p:cNvSpPr txBox="1"/>
          <p:nvPr/>
        </p:nvSpPr>
        <p:spPr>
          <a:xfrm>
            <a:off x="6476695" y="5066690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Linee Guida Team.pdf</a:t>
            </a:r>
            <a:endParaRPr lang="en-US" sz="1000" dirty="0"/>
          </a:p>
        </p:txBody>
      </p:sp>
      <p:sp>
        <p:nvSpPr>
          <p:cNvPr id="76" name="Text 59"/>
          <p:cNvSpPr txBox="1"/>
          <p:nvPr/>
        </p:nvSpPr>
        <p:spPr>
          <a:xfrm>
            <a:off x="8772754" y="5084978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Settimana scorsa</a:t>
            </a:r>
            <a:endParaRPr lang="en-US" sz="900" dirty="0"/>
          </a:p>
        </p:txBody>
      </p:sp>
      <p:sp>
        <p:nvSpPr>
          <p:cNvPr id="77" name="Text 60"/>
          <p:cNvSpPr txBox="1"/>
          <p:nvPr/>
        </p:nvSpPr>
        <p:spPr>
          <a:xfrm>
            <a:off x="10062972" y="5084978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444752"/>
            <a:ext cx="4972507" cy="1429207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09244" y="168341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602" y="1806854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76756" y="1683410"/>
            <a:ext cx="39438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Modifica nel Browser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76756" y="1982419"/>
            <a:ext cx="39054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 e modifica documenti Word, Excel e PowerPoint direttamente dal browser senza installare software desktop.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1500" y="3157423"/>
            <a:ext cx="4972507" cy="1429207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809244" y="339608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947318" y="3519526"/>
            <a:ext cx="200254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6756" y="3396082"/>
            <a:ext cx="39438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Salvataggio &amp; Versioni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76756" y="3695090"/>
            <a:ext cx="39054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Salvataggio automatico istantaneo. Accedi alla cronologia per ripristinare versioni precedenti in caso di errori.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1500" y="4870094"/>
            <a:ext cx="4972507" cy="1209751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809244" y="5107838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05256" y="5232197"/>
            <a:ext cx="2862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76756" y="5107838"/>
            <a:ext cx="39438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Co-authoring Fluido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76756" y="5407762"/>
            <a:ext cx="3905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 con il team sullo stesso file in tempo reale senza blocchi. Vedi chi sta modificando e dove.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68365" y="2000707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9239098" y="3319272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 txBox="1"/>
          <p:nvPr/>
        </p:nvSpPr>
        <p:spPr>
          <a:xfrm>
            <a:off x="571500" y="152705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Produttività nel Browser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381305"/>
            <a:ext cx="57186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Lavorare con Office Online</a:t>
            </a:r>
            <a:endParaRPr lang="en-US" sz="2700" dirty="0"/>
          </a:p>
        </p:txBody>
      </p:sp>
      <p:sp>
        <p:nvSpPr>
          <p:cNvPr id="26" name="Shape 21"/>
          <p:cNvSpPr/>
          <p:nvPr/>
        </p:nvSpPr>
        <p:spPr>
          <a:xfrm>
            <a:off x="10261397" y="276149"/>
            <a:ext cx="13624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10461650" y="381305"/>
            <a:ext cx="190195" cy="152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67060" y="276149"/>
            <a:ext cx="7150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Apps</a:t>
            </a:r>
            <a:endParaRPr lang="en-US" sz="1000" dirty="0"/>
          </a:p>
        </p:txBody>
      </p:sp>
      <p:pic>
        <p:nvPicPr>
          <p:cNvPr id="81" name="Immagine 80">
            <a:extLst>
              <a:ext uri="{FF2B5EF4-FFF2-40B4-BE49-F238E27FC236}">
                <a16:creationId xmlns:a16="http://schemas.microsoft.com/office/drawing/2014/main" id="{D26694D1-C09E-EE00-246C-C19C336A8A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291" y="2150669"/>
            <a:ext cx="5722202" cy="36273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715975"/>
            <a:ext cx="12191695" cy="6143854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-2" r="-2"/>
          <a:stretch/>
        </p:blipFill>
        <p:spPr>
          <a:xfrm>
            <a:off x="0" y="715975"/>
            <a:ext cx="12191695" cy="61420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72420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0" y="6858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571500" y="33833"/>
            <a:ext cx="6315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Ecosistema Connesso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1500" y="262433"/>
            <a:ext cx="7631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con Microsoft 365 Apps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9763963" y="158191"/>
            <a:ext cx="18571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4217" y="262433"/>
            <a:ext cx="152705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231222" y="158191"/>
            <a:ext cx="12481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Productivity Suite</a:t>
            </a:r>
            <a:endParaRPr lang="en-US" sz="1000" dirty="0"/>
          </a:p>
        </p:txBody>
      </p:sp>
      <p:pic>
        <p:nvPicPr>
          <p:cNvPr id="60" name="Immagine 59">
            <a:extLst>
              <a:ext uri="{FF2B5EF4-FFF2-40B4-BE49-F238E27FC236}">
                <a16:creationId xmlns:a16="http://schemas.microsoft.com/office/drawing/2014/main" id="{53056193-E409-065D-B250-31BEB9904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614" y="1044755"/>
            <a:ext cx="9444771" cy="5165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864" b="-4864"/>
          <a:stretch/>
        </p:blipFill>
        <p:spPr>
          <a:xfrm>
            <a:off x="476402" y="3438144"/>
            <a:ext cx="3353105" cy="294345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942" r="-2942"/>
          <a:stretch/>
        </p:blipFill>
        <p:spPr>
          <a:xfrm>
            <a:off x="8715146" y="476402"/>
            <a:ext cx="2523744" cy="27239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0530" y="1955902"/>
            <a:ext cx="9192463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file condiviso in chat serve ora a tutto il team. Cosa fai?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4781398" y="1339596"/>
            <a:ext cx="2628900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4743907" y="1339596"/>
            <a:ext cx="270571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Scenario Pratico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72507" y="1457554"/>
            <a:ext cx="181051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423514"/>
            <a:ext cx="3305556" cy="2095805"/>
          </a:xfrm>
          <a:prstGeom prst="roundRect">
            <a:avLst>
              <a:gd name="adj" fmla="val 3173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70455" y="40096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 txBox="1"/>
          <p:nvPr/>
        </p:nvSpPr>
        <p:spPr>
          <a:xfrm>
            <a:off x="2241194" y="4009644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53819" y="4676242"/>
            <a:ext cx="151973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lasci in chat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9" r="-9"/>
          <a:stretch/>
        </p:blipFill>
        <p:spPr>
          <a:xfrm>
            <a:off x="8033004" y="3423514"/>
            <a:ext cx="3301289" cy="20958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989112" y="4633571"/>
            <a:ext cx="338968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sposti in SharePoint (canale)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033004" y="3423514"/>
            <a:ext cx="3305556" cy="2095805"/>
          </a:xfrm>
          <a:prstGeom prst="roundRect">
            <a:avLst>
              <a:gd name="adj" fmla="val 3173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9445752" y="40096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 txBox="1"/>
          <p:nvPr/>
        </p:nvSpPr>
        <p:spPr>
          <a:xfrm>
            <a:off x="9417406" y="4009644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4931740" y="4647208"/>
            <a:ext cx="243779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invii per email a tutti</a:t>
            </a:r>
            <a:endParaRPr lang="en-US" sz="14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95D712A-201E-1A9A-EC19-AB7D80AEAE5F}"/>
              </a:ext>
            </a:extLst>
          </p:cNvPr>
          <p:cNvSpPr/>
          <p:nvPr/>
        </p:nvSpPr>
        <p:spPr>
          <a:xfrm>
            <a:off x="5912891" y="4009644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E519EA01-89B5-8BED-638A-47A7496B4AE5}"/>
              </a:ext>
            </a:extLst>
          </p:cNvPr>
          <p:cNvSpPr txBox="1"/>
          <p:nvPr/>
        </p:nvSpPr>
        <p:spPr>
          <a:xfrm>
            <a:off x="5883630" y="4009644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8165ABB-2814-2491-4E38-922BEEF181BF}"/>
              </a:ext>
            </a:extLst>
          </p:cNvPr>
          <p:cNvSpPr/>
          <p:nvPr/>
        </p:nvSpPr>
        <p:spPr>
          <a:xfrm>
            <a:off x="4445355" y="3422599"/>
            <a:ext cx="3305556" cy="2095805"/>
          </a:xfrm>
          <a:prstGeom prst="roundRect">
            <a:avLst>
              <a:gd name="adj" fmla="val 3173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5" b="-5"/>
          <a:stretch/>
        </p:blipFill>
        <p:spPr>
          <a:xfrm>
            <a:off x="0" y="857707"/>
            <a:ext cx="12191695" cy="60012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571500" y="105156"/>
            <a:ext cx="5619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Caso Studio Pratico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33756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 Reale: Team Marketing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076334" y="228600"/>
            <a:ext cx="25530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76588" y="333756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542678" y="228600"/>
            <a:ext cx="196138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&amp; Comunicazione</a:t>
            </a:r>
            <a:endParaRPr lang="en-US" sz="1000" dirty="0"/>
          </a:p>
        </p:txBody>
      </p:sp>
      <p:pic>
        <p:nvPicPr>
          <p:cNvPr id="88" name="Immagine 87">
            <a:extLst>
              <a:ext uri="{FF2B5EF4-FFF2-40B4-BE49-F238E27FC236}">
                <a16:creationId xmlns:a16="http://schemas.microsoft.com/office/drawing/2014/main" id="{DC9214A8-37DE-E68E-35B2-CF50AA4AA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13794"/>
            <a:ext cx="11057840" cy="5418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5" b="-5"/>
          <a:stretch/>
        </p:blipFill>
        <p:spPr>
          <a:xfrm>
            <a:off x="0" y="857707"/>
            <a:ext cx="12191695" cy="60012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571500" y="105156"/>
            <a:ext cx="5239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 Reale Aziendale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33756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HR &amp; People Operations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772193" y="228600"/>
            <a:ext cx="18571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971532" y="333756"/>
            <a:ext cx="133502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219334" y="228600"/>
            <a:ext cx="12673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Resources</a:t>
            </a:r>
            <a:endParaRPr lang="en-US" sz="1000" dirty="0"/>
          </a:p>
        </p:txBody>
      </p:sp>
      <p:pic>
        <p:nvPicPr>
          <p:cNvPr id="92" name="Immagine 91">
            <a:extLst>
              <a:ext uri="{FF2B5EF4-FFF2-40B4-BE49-F238E27FC236}">
                <a16:creationId xmlns:a16="http://schemas.microsoft.com/office/drawing/2014/main" id="{5ED9AA42-8538-D21A-21A6-A84D71128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4" y="1191463"/>
            <a:ext cx="10915192" cy="53349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3623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3" b="-3"/>
          <a:stretch/>
        </p:blipFill>
        <p:spPr>
          <a:xfrm>
            <a:off x="0" y="647395"/>
            <a:ext cx="12191695" cy="635690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3000"/>
          </a:blip>
          <a:srcRect t="-10" b="-10"/>
          <a:stretch/>
        </p:blipFill>
        <p:spPr>
          <a:xfrm>
            <a:off x="10858500" y="4927702"/>
            <a:ext cx="1143000" cy="1524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933602"/>
            <a:ext cx="3524098" cy="278160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571500" y="933602"/>
            <a:ext cx="3524098" cy="57607"/>
          </a:xfrm>
          <a:prstGeom prst="roundRect">
            <a:avLst>
              <a:gd name="adj" fmla="val 65232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5"/>
          <p:cNvSpPr/>
          <p:nvPr/>
        </p:nvSpPr>
        <p:spPr>
          <a:xfrm>
            <a:off x="761695" y="1181405"/>
            <a:ext cx="457200" cy="457200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9770" y="1319479"/>
            <a:ext cx="181051" cy="1810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1695" y="1752905"/>
            <a:ext cx="12134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Team Site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715207" y="1783080"/>
            <a:ext cx="190195" cy="190195"/>
          </a:xfrm>
          <a:prstGeom prst="ellipse">
            <a:avLst/>
          </a:prstGeom>
          <a:noFill/>
          <a:ln w="254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2080260"/>
            <a:ext cx="75895" cy="758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5995" y="2019908"/>
            <a:ext cx="27267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 nuovo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Site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moderno.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2348179"/>
            <a:ext cx="75895" cy="758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75995" y="2287827"/>
            <a:ext cx="32424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Assegna un titolo e una descrizione chiara.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2617013"/>
            <a:ext cx="75895" cy="758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5995" y="2556661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Aggiungi almeno un altro studente come membro.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761695" y="3268980"/>
            <a:ext cx="1238098" cy="247802"/>
          </a:xfrm>
          <a:prstGeom prst="roundRect">
            <a:avLst>
              <a:gd name="adj" fmla="val 56770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2"/>
          <p:cNvSpPr txBox="1"/>
          <p:nvPr/>
        </p:nvSpPr>
        <p:spPr>
          <a:xfrm>
            <a:off x="838504" y="3323137"/>
            <a:ext cx="12957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Struttura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4334256" y="933602"/>
            <a:ext cx="3524098" cy="278160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4"/>
          <p:cNvSpPr/>
          <p:nvPr/>
        </p:nvSpPr>
        <p:spPr>
          <a:xfrm>
            <a:off x="4334256" y="933602"/>
            <a:ext cx="3524098" cy="57607"/>
          </a:xfrm>
          <a:prstGeom prst="roundRect">
            <a:avLst>
              <a:gd name="adj" fmla="val 65232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5"/>
          <p:cNvSpPr/>
          <p:nvPr/>
        </p:nvSpPr>
        <p:spPr>
          <a:xfrm>
            <a:off x="4524451" y="1181405"/>
            <a:ext cx="457200" cy="457200"/>
          </a:xfrm>
          <a:prstGeom prst="ellipse">
            <a:avLst/>
          </a:prstGeom>
          <a:solidFill>
            <a:srgbClr val="E6FF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1403" r="-1403"/>
          <a:stretch/>
        </p:blipFill>
        <p:spPr>
          <a:xfrm>
            <a:off x="4647895" y="1319479"/>
            <a:ext cx="209398" cy="181051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524451" y="1752905"/>
            <a:ext cx="225582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Libreria Documenti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7477049" y="1783080"/>
            <a:ext cx="190195" cy="190195"/>
          </a:xfrm>
          <a:prstGeom prst="ellipse">
            <a:avLst/>
          </a:prstGeom>
          <a:noFill/>
          <a:ln w="254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4451" y="2080260"/>
            <a:ext cx="75895" cy="75895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647895" y="2049626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una nuova libreria (non usare quella di default).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4451" y="2540203"/>
            <a:ext cx="75895" cy="7589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647895" y="2509569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colonne metadati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(es. Stato, Tipo, Cliente).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4451" y="3001061"/>
            <a:ext cx="75895" cy="75895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4647895" y="2970427"/>
            <a:ext cx="29589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viste pubbliche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personalizzate.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4524451" y="3268980"/>
            <a:ext cx="1076249" cy="247802"/>
          </a:xfrm>
          <a:prstGeom prst="roundRect">
            <a:avLst>
              <a:gd name="adj" fmla="val 56770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2"/>
          <p:cNvSpPr txBox="1"/>
          <p:nvPr/>
        </p:nvSpPr>
        <p:spPr>
          <a:xfrm>
            <a:off x="4585716" y="3329788"/>
            <a:ext cx="11338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File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8096098" y="933602"/>
            <a:ext cx="3524098" cy="278160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24"/>
          <p:cNvSpPr/>
          <p:nvPr/>
        </p:nvSpPr>
        <p:spPr>
          <a:xfrm>
            <a:off x="8096098" y="933602"/>
            <a:ext cx="3524098" cy="57607"/>
          </a:xfrm>
          <a:prstGeom prst="roundRect">
            <a:avLst>
              <a:gd name="adj" fmla="val 65232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25"/>
          <p:cNvSpPr/>
          <p:nvPr/>
        </p:nvSpPr>
        <p:spPr>
          <a:xfrm>
            <a:off x="8287207" y="1181405"/>
            <a:ext cx="457200" cy="457200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5282" y="1319479"/>
            <a:ext cx="181051" cy="181051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8287207" y="1752905"/>
            <a:ext cx="17684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Lista con Form</a:t>
            </a:r>
            <a:endParaRPr lang="en-US" sz="1300" dirty="0"/>
          </a:p>
        </p:txBody>
      </p:sp>
      <p:sp>
        <p:nvSpPr>
          <p:cNvPr id="40" name="Shape 27"/>
          <p:cNvSpPr/>
          <p:nvPr/>
        </p:nvSpPr>
        <p:spPr>
          <a:xfrm>
            <a:off x="11239805" y="1783080"/>
            <a:ext cx="190195" cy="190195"/>
          </a:xfrm>
          <a:prstGeom prst="ellipse">
            <a:avLst/>
          </a:prstGeom>
          <a:noFill/>
          <a:ln w="254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7207" y="2080260"/>
            <a:ext cx="75895" cy="75895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8401507" y="2036369"/>
            <a:ext cx="35981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una lista per tracciare attività o inventario.</a:t>
            </a:r>
            <a:endParaRPr lang="en-US" sz="10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7207" y="2348179"/>
            <a:ext cx="75895" cy="75895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8401507" y="2304288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 il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di inserimento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(ordine campi, campi obbligatori).</a:t>
            </a:r>
            <a:endParaRPr lang="en-US" sz="10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7207" y="2809037"/>
            <a:ext cx="75895" cy="75895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401507" y="2765146"/>
            <a:ext cx="2788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Inserisci almeno 5 elementi di prova.</a:t>
            </a:r>
            <a:endParaRPr lang="en-US" sz="1000" dirty="0"/>
          </a:p>
        </p:txBody>
      </p:sp>
      <p:sp>
        <p:nvSpPr>
          <p:cNvPr id="47" name="Shape 31"/>
          <p:cNvSpPr/>
          <p:nvPr/>
        </p:nvSpPr>
        <p:spPr>
          <a:xfrm>
            <a:off x="8287207" y="3268980"/>
            <a:ext cx="1333195" cy="247802"/>
          </a:xfrm>
          <a:prstGeom prst="roundRect">
            <a:avLst>
              <a:gd name="adj" fmla="val 56770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2"/>
          <p:cNvSpPr txBox="1"/>
          <p:nvPr/>
        </p:nvSpPr>
        <p:spPr>
          <a:xfrm>
            <a:off x="8363102" y="3321706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Strutturati</a:t>
            </a:r>
            <a:endParaRPr lang="en-US" sz="900" dirty="0"/>
          </a:p>
        </p:txBody>
      </p:sp>
      <p:sp>
        <p:nvSpPr>
          <p:cNvPr id="49" name="Shape 33"/>
          <p:cNvSpPr/>
          <p:nvPr/>
        </p:nvSpPr>
        <p:spPr>
          <a:xfrm>
            <a:off x="571500" y="3944722"/>
            <a:ext cx="3524098" cy="278160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0" name="Shape 34"/>
          <p:cNvSpPr/>
          <p:nvPr/>
        </p:nvSpPr>
        <p:spPr>
          <a:xfrm>
            <a:off x="571500" y="3944722"/>
            <a:ext cx="3524098" cy="57607"/>
          </a:xfrm>
          <a:prstGeom prst="roundRect">
            <a:avLst>
              <a:gd name="adj" fmla="val 65232"/>
            </a:avLst>
          </a:prstGeom>
          <a:solidFill>
            <a:srgbClr val="CA5010"/>
          </a:solidFill>
          <a:ln w="12700">
            <a:solidFill>
              <a:srgbClr val="CA50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35"/>
          <p:cNvSpPr/>
          <p:nvPr/>
        </p:nvSpPr>
        <p:spPr>
          <a:xfrm>
            <a:off x="761695" y="4192524"/>
            <a:ext cx="457200" cy="457200"/>
          </a:xfrm>
          <a:prstGeom prst="ellipse">
            <a:avLst/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4" descr="preencoded.png"/>
          <p:cNvPicPr>
            <a:picLocks noChangeAspect="1"/>
          </p:cNvPicPr>
          <p:nvPr/>
        </p:nvPicPr>
        <p:blipFill>
          <a:blip r:embed="rId9"/>
          <a:srcRect l="-505" r="-505"/>
          <a:stretch/>
        </p:blipFill>
        <p:spPr>
          <a:xfrm>
            <a:off x="875995" y="4330598"/>
            <a:ext cx="228600" cy="181051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761695" y="4764024"/>
            <a:ext cx="13149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Home Page</a:t>
            </a:r>
            <a:endParaRPr lang="en-US" sz="1300" dirty="0"/>
          </a:p>
        </p:txBody>
      </p:sp>
      <p:sp>
        <p:nvSpPr>
          <p:cNvPr id="54" name="Shape 37"/>
          <p:cNvSpPr/>
          <p:nvPr/>
        </p:nvSpPr>
        <p:spPr>
          <a:xfrm>
            <a:off x="3715207" y="4795114"/>
            <a:ext cx="190195" cy="190195"/>
          </a:xfrm>
          <a:prstGeom prst="ellipse">
            <a:avLst/>
          </a:prstGeom>
          <a:noFill/>
          <a:ln w="254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5092294"/>
            <a:ext cx="75895" cy="75895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75995" y="5033772"/>
            <a:ext cx="28227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Personalizza la pagina Home del sito.</a:t>
            </a:r>
            <a:endParaRPr lang="en-US" sz="10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5360213"/>
            <a:ext cx="75895" cy="75895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875995" y="5301691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Webpart: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Notizie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Rapidi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la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Libreria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creata.</a:t>
            </a:r>
            <a:endParaRPr lang="en-US" sz="100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5820156"/>
            <a:ext cx="75895" cy="75895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875995" y="5761634"/>
            <a:ext cx="30266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Rendi il layout visivamente accattivante.</a:t>
            </a:r>
            <a:endParaRPr lang="en-US" sz="1000" dirty="0"/>
          </a:p>
        </p:txBody>
      </p:sp>
      <p:sp>
        <p:nvSpPr>
          <p:cNvPr id="61" name="Shape 41"/>
          <p:cNvSpPr/>
          <p:nvPr/>
        </p:nvSpPr>
        <p:spPr>
          <a:xfrm>
            <a:off x="761695" y="6280099"/>
            <a:ext cx="1181405" cy="247802"/>
          </a:xfrm>
          <a:prstGeom prst="roundRect">
            <a:avLst>
              <a:gd name="adj" fmla="val 56770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42"/>
          <p:cNvSpPr txBox="1"/>
          <p:nvPr/>
        </p:nvSpPr>
        <p:spPr>
          <a:xfrm>
            <a:off x="837590" y="6340449"/>
            <a:ext cx="12390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Presentazione</a:t>
            </a:r>
            <a:endParaRPr lang="en-US" sz="900" dirty="0"/>
          </a:p>
        </p:txBody>
      </p:sp>
      <p:sp>
        <p:nvSpPr>
          <p:cNvPr id="63" name="Shape 43"/>
          <p:cNvSpPr/>
          <p:nvPr/>
        </p:nvSpPr>
        <p:spPr>
          <a:xfrm>
            <a:off x="4334256" y="3944722"/>
            <a:ext cx="3524098" cy="278160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4" name="Shape 44"/>
          <p:cNvSpPr/>
          <p:nvPr/>
        </p:nvSpPr>
        <p:spPr>
          <a:xfrm>
            <a:off x="4334256" y="3944722"/>
            <a:ext cx="3524098" cy="57607"/>
          </a:xfrm>
          <a:prstGeom prst="roundRect">
            <a:avLst>
              <a:gd name="adj" fmla="val 65232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Shape 45"/>
          <p:cNvSpPr/>
          <p:nvPr/>
        </p:nvSpPr>
        <p:spPr>
          <a:xfrm>
            <a:off x="4524451" y="4192524"/>
            <a:ext cx="457200" cy="457200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0"/>
          <a:srcRect l="-505" r="-505"/>
          <a:stretch/>
        </p:blipFill>
        <p:spPr>
          <a:xfrm>
            <a:off x="4638751" y="4330598"/>
            <a:ext cx="228600" cy="181051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4524451" y="4764024"/>
            <a:ext cx="11841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Permessi</a:t>
            </a:r>
            <a:endParaRPr lang="en-US" sz="1300" dirty="0"/>
          </a:p>
        </p:txBody>
      </p:sp>
      <p:sp>
        <p:nvSpPr>
          <p:cNvPr id="68" name="Shape 47"/>
          <p:cNvSpPr/>
          <p:nvPr/>
        </p:nvSpPr>
        <p:spPr>
          <a:xfrm>
            <a:off x="7477049" y="4795114"/>
            <a:ext cx="190195" cy="190195"/>
          </a:xfrm>
          <a:prstGeom prst="ellipse">
            <a:avLst/>
          </a:prstGeom>
          <a:noFill/>
          <a:ln w="254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4451" y="5092294"/>
            <a:ext cx="75895" cy="75895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4667098" y="5068520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i gruppi di default (Owners, Members, Visitors).</a:t>
            </a:r>
            <a:endParaRPr lang="en-US" sz="1000" dirty="0"/>
          </a:p>
        </p:txBody>
      </p:sp>
      <p:pic>
        <p:nvPicPr>
          <p:cNvPr id="71" name="Image 2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4451" y="5552237"/>
            <a:ext cx="75895" cy="75895"/>
          </a:xfrm>
          <a:prstGeom prst="rect">
            <a:avLst/>
          </a:prstGeom>
        </p:spPr>
      </p:pic>
      <p:sp>
        <p:nvSpPr>
          <p:cNvPr id="72" name="Text 49"/>
          <p:cNvSpPr txBox="1"/>
          <p:nvPr/>
        </p:nvSpPr>
        <p:spPr>
          <a:xfrm>
            <a:off x="4667098" y="5528463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una cartella o lista con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unici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(interrompi ereditarietà).</a:t>
            </a:r>
            <a:endParaRPr lang="en-US" sz="1000" dirty="0"/>
          </a:p>
        </p:txBody>
      </p:sp>
      <p:sp>
        <p:nvSpPr>
          <p:cNvPr id="73" name="Shape 50"/>
          <p:cNvSpPr/>
          <p:nvPr/>
        </p:nvSpPr>
        <p:spPr>
          <a:xfrm>
            <a:off x="4524451" y="6280099"/>
            <a:ext cx="847649" cy="247802"/>
          </a:xfrm>
          <a:prstGeom prst="roundRect">
            <a:avLst>
              <a:gd name="adj" fmla="val 56770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51"/>
          <p:cNvSpPr txBox="1"/>
          <p:nvPr/>
        </p:nvSpPr>
        <p:spPr>
          <a:xfrm>
            <a:off x="4585716" y="6324447"/>
            <a:ext cx="9052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900" dirty="0"/>
          </a:p>
        </p:txBody>
      </p:sp>
      <p:sp>
        <p:nvSpPr>
          <p:cNvPr id="75" name="Shape 52"/>
          <p:cNvSpPr/>
          <p:nvPr/>
        </p:nvSpPr>
        <p:spPr>
          <a:xfrm>
            <a:off x="8096098" y="3944722"/>
            <a:ext cx="3524098" cy="278160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6" name="Shape 53"/>
          <p:cNvSpPr/>
          <p:nvPr/>
        </p:nvSpPr>
        <p:spPr>
          <a:xfrm>
            <a:off x="8096098" y="3944722"/>
            <a:ext cx="3524098" cy="57607"/>
          </a:xfrm>
          <a:prstGeom prst="roundRect">
            <a:avLst>
              <a:gd name="adj" fmla="val 65232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Shape 54"/>
          <p:cNvSpPr/>
          <p:nvPr/>
        </p:nvSpPr>
        <p:spPr>
          <a:xfrm>
            <a:off x="8287207" y="4192524"/>
            <a:ext cx="457200" cy="457200"/>
          </a:xfrm>
          <a:prstGeom prst="ellipse">
            <a:avLst/>
          </a:prstGeom>
          <a:solidFill>
            <a:srgbClr val="F4E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11"/>
          <a:srcRect l="-505" r="-505"/>
          <a:stretch/>
        </p:blipFill>
        <p:spPr>
          <a:xfrm>
            <a:off x="8401507" y="4330598"/>
            <a:ext cx="228600" cy="181051"/>
          </a:xfrm>
          <a:prstGeom prst="rect">
            <a:avLst/>
          </a:prstGeom>
        </p:spPr>
      </p:pic>
      <p:sp>
        <p:nvSpPr>
          <p:cNvPr id="79" name="Text 55"/>
          <p:cNvSpPr txBox="1"/>
          <p:nvPr/>
        </p:nvSpPr>
        <p:spPr>
          <a:xfrm>
            <a:off x="8287207" y="4764024"/>
            <a:ext cx="8631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Teams</a:t>
            </a:r>
            <a:endParaRPr lang="en-US" sz="1300" dirty="0"/>
          </a:p>
        </p:txBody>
      </p:sp>
      <p:sp>
        <p:nvSpPr>
          <p:cNvPr id="80" name="Shape 56"/>
          <p:cNvSpPr/>
          <p:nvPr/>
        </p:nvSpPr>
        <p:spPr>
          <a:xfrm>
            <a:off x="11239805" y="4795114"/>
            <a:ext cx="190195" cy="190195"/>
          </a:xfrm>
          <a:prstGeom prst="ellipse">
            <a:avLst/>
          </a:prstGeom>
          <a:noFill/>
          <a:ln w="25400">
            <a:solidFill>
              <a:srgbClr val="A19F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7207" y="5092294"/>
            <a:ext cx="75895" cy="75895"/>
          </a:xfrm>
          <a:prstGeom prst="rect">
            <a:avLst/>
          </a:prstGeom>
        </p:spPr>
      </p:pic>
      <p:sp>
        <p:nvSpPr>
          <p:cNvPr id="82" name="Text 57"/>
          <p:cNvSpPr txBox="1"/>
          <p:nvPr/>
        </p:nvSpPr>
        <p:spPr>
          <a:xfrm>
            <a:off x="8416137" y="5033772"/>
            <a:ext cx="31967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 il sito a un Team Microsoft Teams.</a:t>
            </a:r>
            <a:endParaRPr lang="en-US" sz="1000" dirty="0"/>
          </a:p>
        </p:txBody>
      </p:sp>
      <p:pic>
        <p:nvPicPr>
          <p:cNvPr id="83" name="Image 2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87207" y="5360213"/>
            <a:ext cx="75895" cy="75895"/>
          </a:xfrm>
          <a:prstGeom prst="rect">
            <a:avLst/>
          </a:prstGeom>
        </p:spPr>
      </p:pic>
      <p:sp>
        <p:nvSpPr>
          <p:cNvPr id="84" name="Text 58"/>
          <p:cNvSpPr txBox="1"/>
          <p:nvPr/>
        </p:nvSpPr>
        <p:spPr>
          <a:xfrm>
            <a:off x="8416137" y="5301691"/>
            <a:ext cx="3143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Aggiungi una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 canale Generale che punta alla tua Lista o Pagina Home.</a:t>
            </a:r>
            <a:endParaRPr lang="en-US" sz="1000" dirty="0"/>
          </a:p>
        </p:txBody>
      </p:sp>
      <p:sp>
        <p:nvSpPr>
          <p:cNvPr id="85" name="Shape 59"/>
          <p:cNvSpPr/>
          <p:nvPr/>
        </p:nvSpPr>
        <p:spPr>
          <a:xfrm>
            <a:off x="8287207" y="6280099"/>
            <a:ext cx="1104595" cy="247802"/>
          </a:xfrm>
          <a:prstGeom prst="roundRect">
            <a:avLst>
              <a:gd name="adj" fmla="val 56770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60"/>
          <p:cNvSpPr txBox="1"/>
          <p:nvPr/>
        </p:nvSpPr>
        <p:spPr>
          <a:xfrm>
            <a:off x="8390535" y="6348809"/>
            <a:ext cx="11622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</a:t>
            </a:r>
            <a:endParaRPr lang="en-US" sz="900" dirty="0"/>
          </a:p>
        </p:txBody>
      </p:sp>
      <p:sp>
        <p:nvSpPr>
          <p:cNvPr id="87" name="Shape 61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8" name="Shape 62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63"/>
          <p:cNvSpPr txBox="1"/>
          <p:nvPr/>
        </p:nvSpPr>
        <p:spPr>
          <a:xfrm>
            <a:off x="571500" y="0"/>
            <a:ext cx="3581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Mettiamo in pratica</a:t>
            </a:r>
            <a:endParaRPr lang="en-US" sz="1000" dirty="0"/>
          </a:p>
        </p:txBody>
      </p:sp>
      <p:sp>
        <p:nvSpPr>
          <p:cNvPr id="90" name="Text 64"/>
          <p:cNvSpPr txBox="1"/>
          <p:nvPr/>
        </p:nvSpPr>
        <p:spPr>
          <a:xfrm>
            <a:off x="571500" y="228600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 Progetto Finale</a:t>
            </a:r>
            <a:endParaRPr lang="en-US" sz="2700" dirty="0"/>
          </a:p>
        </p:txBody>
      </p:sp>
      <p:sp>
        <p:nvSpPr>
          <p:cNvPr id="91" name="Shape 65"/>
          <p:cNvSpPr/>
          <p:nvPr/>
        </p:nvSpPr>
        <p:spPr>
          <a:xfrm>
            <a:off x="9552737" y="123444"/>
            <a:ext cx="20766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2" name="Image 2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752076" y="228600"/>
            <a:ext cx="152705" cy="152705"/>
          </a:xfrm>
          <a:prstGeom prst="rect">
            <a:avLst/>
          </a:prstGeom>
        </p:spPr>
      </p:pic>
      <p:sp>
        <p:nvSpPr>
          <p:cNvPr id="93" name="Text 66"/>
          <p:cNvSpPr txBox="1"/>
          <p:nvPr/>
        </p:nvSpPr>
        <p:spPr>
          <a:xfrm>
            <a:off x="10019081" y="123444"/>
            <a:ext cx="14676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Checklist Deliverable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715207" y="1476756"/>
            <a:ext cx="4762195" cy="4762195"/>
          </a:xfrm>
          <a:prstGeom prst="ellipse">
            <a:avLst/>
          </a:prstGeom>
          <a:noFill/>
          <a:ln w="25400">
            <a:solidFill>
              <a:srgbClr val="E1DF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476402" y="105156"/>
            <a:ext cx="5162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delle Competenze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6402" y="333756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Finale: Mettiti alla Prova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218420" y="228600"/>
            <a:ext cx="15051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8674" y="333756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84764" y="228600"/>
            <a:ext cx="896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Domande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6402" y="1142999"/>
            <a:ext cx="5524805" cy="929789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76402" y="1143000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57454" y="1369771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619049" y="1369771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67105" y="1512418"/>
            <a:ext cx="4657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lo scopo principale di un Team Site?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05856" y="1426464"/>
            <a:ext cx="152705" cy="15270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76402" y="2131706"/>
            <a:ext cx="5524805" cy="909103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476402" y="2131706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657454" y="2358477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/>
          <p:cNvSpPr txBox="1"/>
          <p:nvPr/>
        </p:nvSpPr>
        <p:spPr>
          <a:xfrm>
            <a:off x="619049" y="2358477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1067105" y="2501123"/>
            <a:ext cx="4657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Perché usare i Metadati invece delle Cartelle?</a:t>
            </a:r>
            <a:endParaRPr lang="en-US" sz="11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05856" y="2415170"/>
            <a:ext cx="152705" cy="15270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83717" y="3098469"/>
            <a:ext cx="5524805" cy="903271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483717" y="3098469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664769" y="3325240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3"/>
          <p:cNvSpPr txBox="1"/>
          <p:nvPr/>
        </p:nvSpPr>
        <p:spPr>
          <a:xfrm>
            <a:off x="626364" y="3325240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074420" y="3468801"/>
            <a:ext cx="5052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cosa servono le Viste Personalizzate in una libreria?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3171" y="3382847"/>
            <a:ext cx="152705" cy="15270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75816" y="4079620"/>
            <a:ext cx="5524805" cy="909103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26"/>
          <p:cNvSpPr/>
          <p:nvPr/>
        </p:nvSpPr>
        <p:spPr>
          <a:xfrm>
            <a:off x="475816" y="4079620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656868" y="4306392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8"/>
          <p:cNvSpPr txBox="1"/>
          <p:nvPr/>
        </p:nvSpPr>
        <p:spPr>
          <a:xfrm>
            <a:off x="618463" y="4306392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066519" y="4449038"/>
            <a:ext cx="5229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comporta l'interruzione dell'ereditarietà dei permessi?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05270" y="4363084"/>
            <a:ext cx="152705" cy="15270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75816" y="5006734"/>
            <a:ext cx="5524805" cy="909103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31"/>
          <p:cNvSpPr/>
          <p:nvPr/>
        </p:nvSpPr>
        <p:spPr>
          <a:xfrm>
            <a:off x="475816" y="5006734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2"/>
          <p:cNvSpPr/>
          <p:nvPr/>
        </p:nvSpPr>
        <p:spPr>
          <a:xfrm>
            <a:off x="656868" y="5233505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3"/>
          <p:cNvSpPr txBox="1"/>
          <p:nvPr/>
        </p:nvSpPr>
        <p:spPr>
          <a:xfrm>
            <a:off x="618463" y="5233505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66519" y="5376152"/>
            <a:ext cx="4657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la funzione principale del Versioning?</a:t>
            </a:r>
            <a:endParaRPr lang="en-US" sz="11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05270" y="5290198"/>
            <a:ext cx="152705" cy="152705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191402" y="1143000"/>
            <a:ext cx="5524805" cy="895394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Shape 36"/>
          <p:cNvSpPr/>
          <p:nvPr/>
        </p:nvSpPr>
        <p:spPr>
          <a:xfrm>
            <a:off x="6191402" y="1143000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7"/>
          <p:cNvSpPr/>
          <p:nvPr/>
        </p:nvSpPr>
        <p:spPr>
          <a:xfrm>
            <a:off x="6372454" y="1369771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8"/>
          <p:cNvSpPr txBox="1"/>
          <p:nvPr/>
        </p:nvSpPr>
        <p:spPr>
          <a:xfrm>
            <a:off x="6334049" y="1369771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6782105" y="1512418"/>
            <a:ext cx="48719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è preferibile usare una Lista invece di Excel?</a:t>
            </a:r>
            <a:endParaRPr lang="en-US" sz="11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0856" y="1426464"/>
            <a:ext cx="152705" cy="152705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6191402" y="2131706"/>
            <a:ext cx="5524805" cy="915086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Shape 41"/>
          <p:cNvSpPr/>
          <p:nvPr/>
        </p:nvSpPr>
        <p:spPr>
          <a:xfrm>
            <a:off x="6191402" y="2131706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Shape 42"/>
          <p:cNvSpPr/>
          <p:nvPr/>
        </p:nvSpPr>
        <p:spPr>
          <a:xfrm>
            <a:off x="6372454" y="2358477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43"/>
          <p:cNvSpPr txBox="1"/>
          <p:nvPr/>
        </p:nvSpPr>
        <p:spPr>
          <a:xfrm>
            <a:off x="6334049" y="2358477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6782105" y="2501123"/>
            <a:ext cx="52294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vengono salvati i file condivisi in una Chat di Teams?</a:t>
            </a:r>
            <a:endParaRPr lang="en-US" sz="110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0856" y="2415170"/>
            <a:ext cx="152705" cy="152705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6198717" y="3098469"/>
            <a:ext cx="5524805" cy="903271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Shape 46"/>
          <p:cNvSpPr/>
          <p:nvPr/>
        </p:nvSpPr>
        <p:spPr>
          <a:xfrm>
            <a:off x="6198717" y="3098469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Shape 47"/>
          <p:cNvSpPr/>
          <p:nvPr/>
        </p:nvSpPr>
        <p:spPr>
          <a:xfrm>
            <a:off x="6379769" y="3325240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48"/>
          <p:cNvSpPr txBox="1"/>
          <p:nvPr/>
        </p:nvSpPr>
        <p:spPr>
          <a:xfrm>
            <a:off x="6341364" y="3325240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59" name="Text 49"/>
          <p:cNvSpPr txBox="1"/>
          <p:nvPr/>
        </p:nvSpPr>
        <p:spPr>
          <a:xfrm>
            <a:off x="6789420" y="3468801"/>
            <a:ext cx="4657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i file condivisi in un Canale di Teams?</a:t>
            </a:r>
            <a:endParaRPr lang="en-US" sz="11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8171" y="3382847"/>
            <a:ext cx="152705" cy="152705"/>
          </a:xfrm>
          <a:prstGeom prst="rect">
            <a:avLst/>
          </a:prstGeom>
        </p:spPr>
      </p:pic>
      <p:sp>
        <p:nvSpPr>
          <p:cNvPr id="61" name="Shape 50"/>
          <p:cNvSpPr/>
          <p:nvPr/>
        </p:nvSpPr>
        <p:spPr>
          <a:xfrm>
            <a:off x="6190816" y="4079620"/>
            <a:ext cx="5524805" cy="911176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2" name="Shape 51"/>
          <p:cNvSpPr/>
          <p:nvPr/>
        </p:nvSpPr>
        <p:spPr>
          <a:xfrm>
            <a:off x="6190816" y="4079620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Shape 52"/>
          <p:cNvSpPr/>
          <p:nvPr/>
        </p:nvSpPr>
        <p:spPr>
          <a:xfrm>
            <a:off x="6371868" y="4306392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53"/>
          <p:cNvSpPr txBox="1"/>
          <p:nvPr/>
        </p:nvSpPr>
        <p:spPr>
          <a:xfrm>
            <a:off x="6333463" y="4306392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6781519" y="4449038"/>
            <a:ext cx="4657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 sono le Webpart più utili per una Home Page?</a:t>
            </a:r>
            <a:endParaRPr lang="en-US" sz="1100" dirty="0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0270" y="4363084"/>
            <a:ext cx="152705" cy="152705"/>
          </a:xfrm>
          <a:prstGeom prst="rect">
            <a:avLst/>
          </a:prstGeom>
        </p:spPr>
      </p:pic>
      <p:sp>
        <p:nvSpPr>
          <p:cNvPr id="67" name="Shape 55"/>
          <p:cNvSpPr/>
          <p:nvPr/>
        </p:nvSpPr>
        <p:spPr>
          <a:xfrm>
            <a:off x="6190816" y="5006734"/>
            <a:ext cx="5524805" cy="909103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8" name="Shape 56"/>
          <p:cNvSpPr/>
          <p:nvPr/>
        </p:nvSpPr>
        <p:spPr>
          <a:xfrm>
            <a:off x="6190816" y="5006734"/>
            <a:ext cx="38405" cy="724205"/>
          </a:xfrm>
          <a:prstGeom prst="roundRect">
            <a:avLst>
              <a:gd name="adj" fmla="val 250625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Shape 57"/>
          <p:cNvSpPr/>
          <p:nvPr/>
        </p:nvSpPr>
        <p:spPr>
          <a:xfrm>
            <a:off x="6371868" y="5233505"/>
            <a:ext cx="267005" cy="267005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58"/>
          <p:cNvSpPr txBox="1"/>
          <p:nvPr/>
        </p:nvSpPr>
        <p:spPr>
          <a:xfrm>
            <a:off x="6333463" y="5233505"/>
            <a:ext cx="34290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sp>
        <p:nvSpPr>
          <p:cNvPr id="71" name="Text 59"/>
          <p:cNvSpPr txBox="1"/>
          <p:nvPr/>
        </p:nvSpPr>
        <p:spPr>
          <a:xfrm>
            <a:off x="6781519" y="5376152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la regola d'oro per la gestione dei permessi?</a:t>
            </a:r>
            <a:endParaRPr lang="en-US" sz="110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0270" y="5290198"/>
            <a:ext cx="152705" cy="152705"/>
          </a:xfrm>
          <a:prstGeom prst="rect">
            <a:avLst/>
          </a:prstGeom>
        </p:spPr>
      </p:pic>
      <p:sp>
        <p:nvSpPr>
          <p:cNvPr id="73" name="Shape 60"/>
          <p:cNvSpPr/>
          <p:nvPr/>
        </p:nvSpPr>
        <p:spPr>
          <a:xfrm>
            <a:off x="1037844" y="1304366"/>
            <a:ext cx="323698" cy="200254"/>
          </a:xfrm>
          <a:prstGeom prst="roundRect">
            <a:avLst>
              <a:gd name="adj" fmla="val 86975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61"/>
          <p:cNvSpPr txBox="1"/>
          <p:nvPr/>
        </p:nvSpPr>
        <p:spPr>
          <a:xfrm>
            <a:off x="1114654" y="1304366"/>
            <a:ext cx="4005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Siti</a:t>
            </a:r>
            <a:endParaRPr lang="en-US" sz="800" dirty="0"/>
          </a:p>
        </p:txBody>
      </p:sp>
      <p:sp>
        <p:nvSpPr>
          <p:cNvPr id="75" name="Shape 62"/>
          <p:cNvSpPr/>
          <p:nvPr/>
        </p:nvSpPr>
        <p:spPr>
          <a:xfrm>
            <a:off x="1067105" y="2283496"/>
            <a:ext cx="743407" cy="200254"/>
          </a:xfrm>
          <a:prstGeom prst="roundRect">
            <a:avLst>
              <a:gd name="adj" fmla="val 86975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63"/>
          <p:cNvSpPr txBox="1"/>
          <p:nvPr/>
        </p:nvSpPr>
        <p:spPr>
          <a:xfrm>
            <a:off x="1121987" y="2265664"/>
            <a:ext cx="8193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6D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</a:t>
            </a:r>
            <a:endParaRPr lang="en-US" sz="800" dirty="0"/>
          </a:p>
        </p:txBody>
      </p:sp>
      <p:sp>
        <p:nvSpPr>
          <p:cNvPr id="77" name="Shape 64"/>
          <p:cNvSpPr/>
          <p:nvPr/>
        </p:nvSpPr>
        <p:spPr>
          <a:xfrm>
            <a:off x="1074420" y="3251174"/>
            <a:ext cx="743407" cy="200254"/>
          </a:xfrm>
          <a:prstGeom prst="roundRect">
            <a:avLst>
              <a:gd name="adj" fmla="val 86975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65"/>
          <p:cNvSpPr txBox="1"/>
          <p:nvPr/>
        </p:nvSpPr>
        <p:spPr>
          <a:xfrm>
            <a:off x="1129302" y="3251174"/>
            <a:ext cx="8193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6D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</a:t>
            </a:r>
            <a:endParaRPr lang="en-US" sz="800" dirty="0"/>
          </a:p>
        </p:txBody>
      </p:sp>
      <p:sp>
        <p:nvSpPr>
          <p:cNvPr id="79" name="Shape 66"/>
          <p:cNvSpPr/>
          <p:nvPr/>
        </p:nvSpPr>
        <p:spPr>
          <a:xfrm>
            <a:off x="1066519" y="4232325"/>
            <a:ext cx="638251" cy="200254"/>
          </a:xfrm>
          <a:prstGeom prst="roundRect">
            <a:avLst>
              <a:gd name="adj" fmla="val 86975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67"/>
          <p:cNvSpPr txBox="1"/>
          <p:nvPr/>
        </p:nvSpPr>
        <p:spPr>
          <a:xfrm>
            <a:off x="1121401" y="4241728"/>
            <a:ext cx="7150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</a:t>
            </a:r>
            <a:endParaRPr lang="en-US" sz="800" dirty="0"/>
          </a:p>
        </p:txBody>
      </p:sp>
      <p:sp>
        <p:nvSpPr>
          <p:cNvPr id="81" name="Shape 68"/>
          <p:cNvSpPr/>
          <p:nvPr/>
        </p:nvSpPr>
        <p:spPr>
          <a:xfrm>
            <a:off x="1066519" y="5158524"/>
            <a:ext cx="657454" cy="200254"/>
          </a:xfrm>
          <a:prstGeom prst="roundRect">
            <a:avLst>
              <a:gd name="adj" fmla="val 86975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69"/>
          <p:cNvSpPr txBox="1"/>
          <p:nvPr/>
        </p:nvSpPr>
        <p:spPr>
          <a:xfrm>
            <a:off x="1122754" y="5166296"/>
            <a:ext cx="7342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800" dirty="0"/>
          </a:p>
        </p:txBody>
      </p:sp>
      <p:sp>
        <p:nvSpPr>
          <p:cNvPr id="83" name="Shape 70"/>
          <p:cNvSpPr/>
          <p:nvPr/>
        </p:nvSpPr>
        <p:spPr>
          <a:xfrm>
            <a:off x="6782105" y="1295705"/>
            <a:ext cx="409651" cy="200254"/>
          </a:xfrm>
          <a:prstGeom prst="roundRect">
            <a:avLst>
              <a:gd name="adj" fmla="val 86975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71"/>
          <p:cNvSpPr txBox="1"/>
          <p:nvPr/>
        </p:nvSpPr>
        <p:spPr>
          <a:xfrm>
            <a:off x="6841085" y="1295705"/>
            <a:ext cx="4864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6D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</a:t>
            </a:r>
            <a:endParaRPr lang="en-US" sz="800" dirty="0"/>
          </a:p>
        </p:txBody>
      </p:sp>
      <p:sp>
        <p:nvSpPr>
          <p:cNvPr id="85" name="Shape 72"/>
          <p:cNvSpPr/>
          <p:nvPr/>
        </p:nvSpPr>
        <p:spPr>
          <a:xfrm>
            <a:off x="6782105" y="2283496"/>
            <a:ext cx="828446" cy="200254"/>
          </a:xfrm>
          <a:prstGeom prst="roundRect">
            <a:avLst>
              <a:gd name="adj" fmla="val 86975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73"/>
          <p:cNvSpPr txBox="1"/>
          <p:nvPr/>
        </p:nvSpPr>
        <p:spPr>
          <a:xfrm>
            <a:off x="6825082" y="2283496"/>
            <a:ext cx="9052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</a:t>
            </a:r>
            <a:endParaRPr lang="en-US" sz="800" dirty="0"/>
          </a:p>
        </p:txBody>
      </p:sp>
      <p:sp>
        <p:nvSpPr>
          <p:cNvPr id="87" name="Shape 74"/>
          <p:cNvSpPr/>
          <p:nvPr/>
        </p:nvSpPr>
        <p:spPr>
          <a:xfrm>
            <a:off x="6789420" y="3251174"/>
            <a:ext cx="828446" cy="200254"/>
          </a:xfrm>
          <a:prstGeom prst="roundRect">
            <a:avLst>
              <a:gd name="adj" fmla="val 86975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75"/>
          <p:cNvSpPr txBox="1"/>
          <p:nvPr/>
        </p:nvSpPr>
        <p:spPr>
          <a:xfrm>
            <a:off x="6812279" y="3251174"/>
            <a:ext cx="9052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</a:t>
            </a:r>
            <a:endParaRPr lang="en-US" sz="800" dirty="0"/>
          </a:p>
        </p:txBody>
      </p:sp>
      <p:sp>
        <p:nvSpPr>
          <p:cNvPr id="89" name="Shape 76"/>
          <p:cNvSpPr/>
          <p:nvPr/>
        </p:nvSpPr>
        <p:spPr>
          <a:xfrm>
            <a:off x="6781519" y="4232325"/>
            <a:ext cx="514807" cy="200254"/>
          </a:xfrm>
          <a:prstGeom prst="roundRect">
            <a:avLst>
              <a:gd name="adj" fmla="val 86975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77"/>
          <p:cNvSpPr txBox="1"/>
          <p:nvPr/>
        </p:nvSpPr>
        <p:spPr>
          <a:xfrm>
            <a:off x="6835019" y="4232325"/>
            <a:ext cx="5907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</a:t>
            </a:r>
            <a:endParaRPr lang="en-US" sz="800" dirty="0"/>
          </a:p>
        </p:txBody>
      </p:sp>
      <p:sp>
        <p:nvSpPr>
          <p:cNvPr id="91" name="Shape 78"/>
          <p:cNvSpPr/>
          <p:nvPr/>
        </p:nvSpPr>
        <p:spPr>
          <a:xfrm>
            <a:off x="6781519" y="5158524"/>
            <a:ext cx="847649" cy="200254"/>
          </a:xfrm>
          <a:prstGeom prst="roundRect">
            <a:avLst>
              <a:gd name="adj" fmla="val 86975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79"/>
          <p:cNvSpPr txBox="1"/>
          <p:nvPr/>
        </p:nvSpPr>
        <p:spPr>
          <a:xfrm>
            <a:off x="6840499" y="5158524"/>
            <a:ext cx="9244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</a:t>
            </a:r>
            <a:endParaRPr lang="en-US" sz="800" dirty="0"/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45FD3CC2-B676-4BCB-F365-02357C29FCA7}"/>
              </a:ext>
            </a:extLst>
          </p:cNvPr>
          <p:cNvSpPr txBox="1"/>
          <p:nvPr/>
        </p:nvSpPr>
        <p:spPr>
          <a:xfrm>
            <a:off x="985818" y="1699011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Favorire la collaborazione del team tramite condivisione di file, liste, attività e comunicazioni in un unico spazio</a:t>
            </a:r>
            <a:endParaRPr lang="it-IT" dirty="0"/>
          </a:p>
        </p:txBody>
      </p: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37EE23AE-001C-3B2D-85DA-EEA0F2248473}"/>
              </a:ext>
            </a:extLst>
          </p:cNvPr>
          <p:cNvSpPr txBox="1"/>
          <p:nvPr/>
        </p:nvSpPr>
        <p:spPr>
          <a:xfrm>
            <a:off x="984481" y="2680119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Per classificare, filtrare e ricercare i documenti in modo più efficace, evitando strutture di cartelle troppo profonde.</a:t>
            </a:r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1D732FC1-21AC-196D-4BCB-8D3677583722}"/>
              </a:ext>
            </a:extLst>
          </p:cNvPr>
          <p:cNvSpPr txBox="1"/>
          <p:nvPr/>
        </p:nvSpPr>
        <p:spPr>
          <a:xfrm>
            <a:off x="984481" y="3623109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A mostrare i documenti in modi diversi (filtri, raggruppamenti, ordinamenti) in base alle esigenze dell’utente o del team.</a:t>
            </a:r>
            <a:endParaRPr lang="it-IT" dirty="0"/>
          </a:p>
        </p:txBody>
      </p:sp>
      <p:sp>
        <p:nvSpPr>
          <p:cNvPr id="100" name="CasellaDiTesto 99">
            <a:extLst>
              <a:ext uri="{FF2B5EF4-FFF2-40B4-BE49-F238E27FC236}">
                <a16:creationId xmlns:a16="http://schemas.microsoft.com/office/drawing/2014/main" id="{D3F50EE4-647D-2840-CA16-E3EF048D88D2}"/>
              </a:ext>
            </a:extLst>
          </p:cNvPr>
          <p:cNvSpPr txBox="1"/>
          <p:nvPr/>
        </p:nvSpPr>
        <p:spPr>
          <a:xfrm>
            <a:off x="984349" y="4595556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La libreria/cartella/documento ottiene permessi propri, separati dal sito padre; vanno gestiti manualmente.</a:t>
            </a:r>
            <a:endParaRPr lang="it-IT" dirty="0"/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EA398BF3-2EB2-A993-B7C7-35C288D67901}"/>
              </a:ext>
            </a:extLst>
          </p:cNvPr>
          <p:cNvSpPr txBox="1"/>
          <p:nvPr/>
        </p:nvSpPr>
        <p:spPr>
          <a:xfrm>
            <a:off x="985818" y="5556558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Tenere traccia delle versioni dei documenti, permettendo ripristini e controllo delle modifiche.</a:t>
            </a:r>
            <a:endParaRPr lang="it-IT" dirty="0"/>
          </a:p>
        </p:txBody>
      </p: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5D5910F5-FE0F-49DC-8DFD-90B997D0C60D}"/>
              </a:ext>
            </a:extLst>
          </p:cNvPr>
          <p:cNvSpPr txBox="1"/>
          <p:nvPr/>
        </p:nvSpPr>
        <p:spPr>
          <a:xfrm>
            <a:off x="6707257" y="1707809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Quando serve collaborazione in tempo reale, gestione di campi strutturati, permessi, automazioni e integrazione con SharePoint/Power </a:t>
            </a:r>
            <a:r>
              <a:rPr lang="it-IT" sz="800" dirty="0" err="1">
                <a:solidFill>
                  <a:srgbClr val="323130"/>
                </a:solidFill>
                <a:latin typeface="Montserrat" pitchFamily="34" charset="0"/>
              </a:rPr>
              <a:t>Automate</a:t>
            </a:r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.</a:t>
            </a: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13E09FEC-95CC-9EA4-8899-100810FD2387}"/>
              </a:ext>
            </a:extLst>
          </p:cNvPr>
          <p:cNvSpPr txBox="1"/>
          <p:nvPr/>
        </p:nvSpPr>
        <p:spPr>
          <a:xfrm>
            <a:off x="6707257" y="3648784"/>
            <a:ext cx="4435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Nella libreria “Documenti” del Team SharePoint, nella cartella del relativo canale.</a:t>
            </a:r>
            <a:endParaRPr lang="it-IT" dirty="0"/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BFCD43A0-1B18-67EA-4652-45CE8F088F99}"/>
              </a:ext>
            </a:extLst>
          </p:cNvPr>
          <p:cNvSpPr txBox="1"/>
          <p:nvPr/>
        </p:nvSpPr>
        <p:spPr>
          <a:xfrm>
            <a:off x="6704131" y="5577283"/>
            <a:ext cx="4435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Concedere l’accesso al livello più alto possibile e creare eccezioni solo quando strettamente necessario.</a:t>
            </a:r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656D84F1-EE1A-8C2B-3EED-199A6AB43BCD}"/>
              </a:ext>
            </a:extLst>
          </p:cNvPr>
          <p:cNvSpPr/>
          <p:nvPr/>
        </p:nvSpPr>
        <p:spPr>
          <a:xfrm>
            <a:off x="8855049" y="6074244"/>
            <a:ext cx="2885846" cy="733349"/>
          </a:xfrm>
          <a:prstGeom prst="roundRect">
            <a:avLst>
              <a:gd name="adj" fmla="val 48580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78D4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8" name="Image 11" descr="preencoded.png">
            <a:extLst>
              <a:ext uri="{FF2B5EF4-FFF2-40B4-BE49-F238E27FC236}">
                <a16:creationId xmlns:a16="http://schemas.microsoft.com/office/drawing/2014/main" id="{CE10635E-E7FC-B0C0-47A2-D0B4AA96AC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140342" y="6325704"/>
            <a:ext cx="286207" cy="228600"/>
          </a:xfrm>
          <a:prstGeom prst="rect">
            <a:avLst/>
          </a:prstGeom>
        </p:spPr>
      </p:pic>
      <p:sp>
        <p:nvSpPr>
          <p:cNvPr id="109" name="Text 81">
            <a:extLst>
              <a:ext uri="{FF2B5EF4-FFF2-40B4-BE49-F238E27FC236}">
                <a16:creationId xmlns:a16="http://schemas.microsoft.com/office/drawing/2014/main" id="{A2ED29EB-1FA9-A1CF-31FE-28500DD7F773}"/>
              </a:ext>
            </a:extLst>
          </p:cNvPr>
          <p:cNvSpPr txBox="1"/>
          <p:nvPr/>
        </p:nvSpPr>
        <p:spPr>
          <a:xfrm>
            <a:off x="9569195" y="6217805"/>
            <a:ext cx="21543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Pronti a rispondere?</a:t>
            </a:r>
            <a:endParaRPr lang="en-US" sz="1300" dirty="0"/>
          </a:p>
        </p:txBody>
      </p:sp>
      <p:sp>
        <p:nvSpPr>
          <p:cNvPr id="110" name="Text 82">
            <a:extLst>
              <a:ext uri="{FF2B5EF4-FFF2-40B4-BE49-F238E27FC236}">
                <a16:creationId xmlns:a16="http://schemas.microsoft.com/office/drawing/2014/main" id="{A00FE417-26BF-4BB8-D5D8-5CAF32D34580}"/>
              </a:ext>
            </a:extLst>
          </p:cNvPr>
          <p:cNvSpPr txBox="1"/>
          <p:nvPr/>
        </p:nvSpPr>
        <p:spPr>
          <a:xfrm>
            <a:off x="9569195" y="6469265"/>
            <a:ext cx="22448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Analizziamo le risposte insieme</a:t>
            </a:r>
            <a:endParaRPr lang="en-US" sz="1000" dirty="0"/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27F3809B-354D-9CCA-24C0-48890124058F}"/>
              </a:ext>
            </a:extLst>
          </p:cNvPr>
          <p:cNvSpPr txBox="1"/>
          <p:nvPr/>
        </p:nvSpPr>
        <p:spPr>
          <a:xfrm>
            <a:off x="6707257" y="4690208"/>
            <a:ext cx="4435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Hero, Notizie, Documenti, Link veloci, Agenda/Calendario, Attività, People, Elenchi.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0B393645-8FBE-06E9-AF68-DA0969EBF637}"/>
              </a:ext>
            </a:extLst>
          </p:cNvPr>
          <p:cNvSpPr txBox="1"/>
          <p:nvPr/>
        </p:nvSpPr>
        <p:spPr>
          <a:xfrm>
            <a:off x="6704131" y="2762566"/>
            <a:ext cx="44359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>
                <a:solidFill>
                  <a:srgbClr val="323130"/>
                </a:solidFill>
                <a:latin typeface="Montserrat" pitchFamily="34" charset="0"/>
              </a:rPr>
              <a:t>Nel OneDrive della persona che li invia, in una cartella dedicata alla chat.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99" grpId="0"/>
      <p:bldP spid="100" grpId="0"/>
      <p:bldP spid="101" grpId="0"/>
      <p:bldP spid="102" grpId="0"/>
      <p:bldP spid="104" grpId="0"/>
      <p:bldP spid="106" grpId="0"/>
      <p:bldP spid="93" grpId="0"/>
      <p:bldP spid="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096305" y="952805"/>
            <a:ext cx="6096305" cy="5905195"/>
          </a:xfrm>
          <a:custGeom>
            <a:avLst/>
            <a:gdLst/>
            <a:ahLst/>
            <a:cxnLst/>
            <a:rect l="l" t="t" r="r" b="b"/>
            <a:pathLst>
              <a:path w="6096305" h="5905195">
                <a:moveTo>
                  <a:pt x="1219261" y="0"/>
                </a:moveTo>
                <a:lnTo>
                  <a:pt x="6096305" y="0"/>
                </a:lnTo>
                <a:lnTo>
                  <a:pt x="6096305" y="5905195"/>
                </a:lnTo>
                <a:lnTo>
                  <a:pt x="0" y="5905195"/>
                </a:lnTo>
                <a:close/>
              </a:path>
            </a:pathLst>
          </a:custGeom>
          <a:solidFill>
            <a:srgbClr val="E6FFEC">
              <a:alpha val="3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3229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Riepilogo Modulo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38048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hai imparato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433865" y="276149"/>
            <a:ext cx="21909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9634118" y="381305"/>
            <a:ext cx="19019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938614" y="276149"/>
            <a:ext cx="154625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Competenze Acquisite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2304288"/>
            <a:ext cx="1800454" cy="362102"/>
          </a:xfrm>
          <a:prstGeom prst="roundRect">
            <a:avLst>
              <a:gd name="adj" fmla="val 132908"/>
            </a:avLst>
          </a:prstGeom>
          <a:solidFill>
            <a:srgbClr val="DFF6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923544" y="2304288"/>
            <a:ext cx="1520647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Obiettivi Raggiunti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" y="2852928"/>
            <a:ext cx="4562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Pronto per amministrare SharePoint.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" y="4415638"/>
            <a:ext cx="4496105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Hai acquisito le competenze fondamentali per creare, organizzare e gestire spazi di lavoro digitali moderni, migliorando la collaborazione del tuo team.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724205" y="2416759"/>
            <a:ext cx="123444" cy="13350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467198" y="1644091"/>
            <a:ext cx="2980944" cy="1447495"/>
          </a:xfrm>
          <a:prstGeom prst="roundRect">
            <a:avLst>
              <a:gd name="adj" fmla="val 4987"/>
            </a:avLst>
          </a:prstGeom>
          <a:solidFill>
            <a:srgbClr val="F0FDF4"/>
          </a:solidFill>
          <a:ln w="12700">
            <a:solidFill>
              <a:srgbClr val="107C1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5667451" y="1844345"/>
            <a:ext cx="304495" cy="30449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5734202" y="1920240"/>
            <a:ext cx="171907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115507" y="1844345"/>
            <a:ext cx="221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Siti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115507" y="2120494"/>
            <a:ext cx="22101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Team Site e Communication Site, comprendendo la differenza e quando usarli.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639251" y="1644091"/>
            <a:ext cx="2980944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8839505" y="1844345"/>
            <a:ext cx="304495" cy="30449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8906256" y="1920240"/>
            <a:ext cx="171907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86646" y="1844345"/>
            <a:ext cx="23536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Architettura Documentale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286646" y="2120494"/>
            <a:ext cx="22101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Sostituire le cartelle profonde con metadati, colonne personalizzate e viste dinamiche.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67198" y="3279038"/>
            <a:ext cx="2980944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5667451" y="3479292"/>
            <a:ext cx="304495" cy="30449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43346" y="3555187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115507" y="3479292"/>
            <a:ext cx="221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Pagine &amp; Webpart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115507" y="3755441"/>
            <a:ext cx="22101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Costruire pagine moderne e dashboard informative utilizzando webpart senza codice.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639251" y="3279038"/>
            <a:ext cx="2980944" cy="1447495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29"/>
          <p:cNvSpPr/>
          <p:nvPr/>
        </p:nvSpPr>
        <p:spPr>
          <a:xfrm>
            <a:off x="8839505" y="3479292"/>
            <a:ext cx="304495" cy="30449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8924544" y="3555187"/>
            <a:ext cx="133502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286646" y="3479292"/>
            <a:ext cx="221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&amp; Permessi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9286646" y="3755441"/>
            <a:ext cx="22101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Gestire accessi granulari, ereditarietà, gruppi e condivisione sicura.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467198" y="4913986"/>
            <a:ext cx="2980944" cy="12573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3"/>
          <p:cNvSpPr/>
          <p:nvPr/>
        </p:nvSpPr>
        <p:spPr>
          <a:xfrm>
            <a:off x="5667451" y="5114239"/>
            <a:ext cx="304495" cy="30449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5724144" y="5190134"/>
            <a:ext cx="190195" cy="15270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115507" y="5114239"/>
            <a:ext cx="221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 M365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6115507" y="5390388"/>
            <a:ext cx="22101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Integrare SharePoint con Teams, usare il co-authoring e sincronizzare con OneDrive.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8639251" y="4913986"/>
            <a:ext cx="2980944" cy="1257300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7" name="Shape 37"/>
          <p:cNvSpPr/>
          <p:nvPr/>
        </p:nvSpPr>
        <p:spPr>
          <a:xfrm>
            <a:off x="8839505" y="5114239"/>
            <a:ext cx="304495" cy="30449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915400" y="5190134"/>
            <a:ext cx="152705" cy="1527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286646" y="5114239"/>
            <a:ext cx="221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Dati Strutturati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9286646" y="5390388"/>
            <a:ext cx="22101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Utilizzare le Liste per gestire processi, inventari e form di inserimento dati.</a:t>
            </a:r>
            <a:endParaRPr lang="en-US" sz="1000" dirty="0"/>
          </a:p>
        </p:txBody>
      </p:sp>
      <p:pic>
        <p:nvPicPr>
          <p:cNvPr id="52" name="Immagine 51">
            <a:extLst>
              <a:ext uri="{FF2B5EF4-FFF2-40B4-BE49-F238E27FC236}">
                <a16:creationId xmlns:a16="http://schemas.microsoft.com/office/drawing/2014/main" id="{927687CC-56C5-BE0E-243A-F891DF41FC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594025">
            <a:off x="547256" y="5144657"/>
            <a:ext cx="1339919" cy="1397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76402"/>
            <a:ext cx="2857500" cy="2857500"/>
          </a:xfrm>
          <a:prstGeom prst="ellipse">
            <a:avLst/>
          </a:prstGeom>
          <a:solidFill>
            <a:srgbClr val="E6F2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-476402" y="4953305"/>
            <a:ext cx="2381098" cy="2381098"/>
          </a:xfrm>
          <a:prstGeom prst="ellipse">
            <a:avLst/>
          </a:prstGeom>
          <a:solidFill>
            <a:srgbClr val="FDECE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-57607" y="6473038"/>
            <a:ext cx="12306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Grazie per l'attenzione! • Corso Amministrazione SharePoint Online &amp; M365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571500" y="152705"/>
            <a:ext cx="4457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del Modulo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81305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Chiusura e Prossimi Passi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191902" y="276149"/>
            <a:ext cx="14383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391242" y="381305"/>
            <a:ext cx="133502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639044" y="276149"/>
            <a:ext cx="848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Completato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" y="1775765"/>
            <a:ext cx="5286146" cy="2143354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71500" y="1775765"/>
            <a:ext cx="47549" cy="2143354"/>
          </a:xfrm>
          <a:prstGeom prst="roundRect">
            <a:avLst>
              <a:gd name="adj" fmla="val 102564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1038758" y="2013509"/>
            <a:ext cx="4696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Concetti Chiave Acquisiti 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2060143"/>
            <a:ext cx="181051" cy="18105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81151" y="2430475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Creazione e gestione Siti e Librerie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477110"/>
            <a:ext cx="123444" cy="1234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81151" y="2743200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Strutturazione dati con Liste e Metadati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789834"/>
            <a:ext cx="123444" cy="1234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1151" y="3055925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Gestione Permessi e Sicurezza</a:t>
            </a:r>
            <a:endParaRPr lang="en-US" sz="1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3102559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81151" y="3367735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Integrazione Teams e OneDrive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3414370"/>
            <a:ext cx="123444" cy="1234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71500" y="4204411"/>
            <a:ext cx="5286146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0"/>
          <p:cNvSpPr/>
          <p:nvPr/>
        </p:nvSpPr>
        <p:spPr>
          <a:xfrm>
            <a:off x="571500" y="4204411"/>
            <a:ext cx="47549" cy="1837944"/>
          </a:xfrm>
          <a:prstGeom prst="roundRect">
            <a:avLst>
              <a:gd name="adj" fmla="val 119569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1"/>
          <p:cNvSpPr txBox="1"/>
          <p:nvPr/>
        </p:nvSpPr>
        <p:spPr>
          <a:xfrm>
            <a:off x="1038758" y="4442155"/>
            <a:ext cx="4696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Nel Prossimo Modulo... </a:t>
            </a:r>
            <a:endParaRPr lang="en-US" sz="14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488790"/>
            <a:ext cx="181051" cy="181051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20470" y="4868265"/>
            <a:ext cx="4772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Automazione: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Power Automate &amp; Workflow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857707" y="4905756"/>
            <a:ext cx="105156" cy="1234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24128" y="5161106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Avanzata: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Compliance &amp; DLP</a:t>
            </a:r>
            <a:endParaRPr lang="en-US" sz="11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5218481"/>
            <a:ext cx="123444" cy="12344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34187" y="5475720"/>
            <a:ext cx="4743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Practices: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Governance M365</a:t>
            </a:r>
            <a:endParaRPr lang="en-US" sz="11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 t="-2012" b="-2012"/>
          <a:stretch/>
        </p:blipFill>
        <p:spPr>
          <a:xfrm>
            <a:off x="857707" y="5531206"/>
            <a:ext cx="133502" cy="123444"/>
          </a:xfrm>
          <a:prstGeom prst="rect">
            <a:avLst/>
          </a:prstGeom>
        </p:spPr>
      </p:pic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5" b="-5"/>
          <a:stretch/>
        </p:blipFill>
        <p:spPr>
          <a:xfrm>
            <a:off x="6334049" y="1724558"/>
            <a:ext cx="5286146" cy="4360774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11153851" y="1924812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26"/>
          <p:cNvSpPr/>
          <p:nvPr/>
        </p:nvSpPr>
        <p:spPr>
          <a:xfrm>
            <a:off x="11259007" y="1924812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27"/>
          <p:cNvSpPr/>
          <p:nvPr/>
        </p:nvSpPr>
        <p:spPr>
          <a:xfrm>
            <a:off x="11363249" y="1924812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28"/>
          <p:cNvSpPr/>
          <p:nvPr/>
        </p:nvSpPr>
        <p:spPr>
          <a:xfrm>
            <a:off x="11153851" y="202996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29"/>
          <p:cNvSpPr/>
          <p:nvPr/>
        </p:nvSpPr>
        <p:spPr>
          <a:xfrm>
            <a:off x="11259007" y="202996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0"/>
          <p:cNvSpPr/>
          <p:nvPr/>
        </p:nvSpPr>
        <p:spPr>
          <a:xfrm>
            <a:off x="11363249" y="202996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1"/>
          <p:cNvSpPr/>
          <p:nvPr/>
        </p:nvSpPr>
        <p:spPr>
          <a:xfrm>
            <a:off x="11153851" y="2134210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2"/>
          <p:cNvSpPr/>
          <p:nvPr/>
        </p:nvSpPr>
        <p:spPr>
          <a:xfrm>
            <a:off x="11259007" y="2134210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3"/>
          <p:cNvSpPr/>
          <p:nvPr/>
        </p:nvSpPr>
        <p:spPr>
          <a:xfrm>
            <a:off x="11363249" y="2134210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34"/>
          <p:cNvSpPr/>
          <p:nvPr/>
        </p:nvSpPr>
        <p:spPr>
          <a:xfrm>
            <a:off x="8406079" y="2115007"/>
            <a:ext cx="1143000" cy="11430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rcRect l="-36" r="-36"/>
          <a:stretch/>
        </p:blipFill>
        <p:spPr>
          <a:xfrm>
            <a:off x="8501177" y="2306117"/>
            <a:ext cx="952805" cy="7616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969910" y="3449117"/>
            <a:ext cx="202082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Domande?</a:t>
            </a:r>
            <a:endParaRPr lang="en-US" sz="2600" dirty="0"/>
          </a:p>
        </p:txBody>
      </p:sp>
      <p:sp>
        <p:nvSpPr>
          <p:cNvPr id="50" name="Text 36"/>
          <p:cNvSpPr txBox="1"/>
          <p:nvPr/>
        </p:nvSpPr>
        <p:spPr>
          <a:xfrm>
            <a:off x="6687007" y="4047134"/>
            <a:ext cx="45820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Apriamo il confronto! Dubbi, curiosità o scenari specifici che vorreste approfondire.</a:t>
            </a:r>
            <a:endParaRPr lang="en-US" sz="1300" dirty="0"/>
          </a:p>
        </p:txBody>
      </p:sp>
      <p:sp>
        <p:nvSpPr>
          <p:cNvPr id="51" name="Shape 37"/>
          <p:cNvSpPr/>
          <p:nvPr/>
        </p:nvSpPr>
        <p:spPr>
          <a:xfrm>
            <a:off x="7200900" y="4836262"/>
            <a:ext cx="2029054" cy="362102"/>
          </a:xfrm>
          <a:prstGeom prst="roundRect">
            <a:avLst>
              <a:gd name="adj" fmla="val 132908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 txBox="1"/>
          <p:nvPr/>
        </p:nvSpPr>
        <p:spPr>
          <a:xfrm>
            <a:off x="7207758" y="4833518"/>
            <a:ext cx="2105863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Condivisione Esperienze</a:t>
            </a:r>
            <a:endParaRPr lang="en-US" sz="10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/>
        </p:blipFill>
        <p:spPr>
          <a:xfrm>
            <a:off x="7353605" y="4947818"/>
            <a:ext cx="123444" cy="133502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9371686" y="4836262"/>
            <a:ext cx="1390802" cy="362102"/>
          </a:xfrm>
          <a:prstGeom prst="roundRect">
            <a:avLst>
              <a:gd name="adj" fmla="val 132908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0"/>
          <p:cNvSpPr txBox="1"/>
          <p:nvPr/>
        </p:nvSpPr>
        <p:spPr>
          <a:xfrm>
            <a:off x="9382201" y="4836262"/>
            <a:ext cx="144841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Consigli Pratici</a:t>
            </a:r>
            <a:endParaRPr lang="en-US" sz="10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9523476" y="4947818"/>
            <a:ext cx="105156" cy="133502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8214970" y="5336438"/>
            <a:ext cx="1533449" cy="362102"/>
          </a:xfrm>
          <a:prstGeom prst="roundRect">
            <a:avLst>
              <a:gd name="adj" fmla="val 132908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42"/>
          <p:cNvSpPr txBox="1"/>
          <p:nvPr/>
        </p:nvSpPr>
        <p:spPr>
          <a:xfrm>
            <a:off x="8227211" y="5336438"/>
            <a:ext cx="159562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Troubleshooting</a:t>
            </a:r>
            <a:endParaRPr lang="en-US" sz="100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67674" y="5448910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1618</Words>
  <Application>Microsoft Office PowerPoint</Application>
  <PresentationFormat>Widescreen</PresentationFormat>
  <Paragraphs>273</Paragraphs>
  <Slides>16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Montserrat</vt:lpstr>
      <vt:lpstr>Open Sans</vt:lpstr>
      <vt:lpstr>ui-monospace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Matteo Novembre</cp:lastModifiedBy>
  <cp:revision>8</cp:revision>
  <dcterms:created xsi:type="dcterms:W3CDTF">2026-02-01T17:24:01Z</dcterms:created>
  <dcterms:modified xsi:type="dcterms:W3CDTF">2026-04-03T13:41:05Z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2026-02-01T20:49:02Z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547d04f4-d34f-4caa-a446-cd19c8041478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  <property fmtid="{D5CDD505-2E9C-101B-9397-08002B2CF9AE}" pid="10" name="MSIP_Label_defa4170-0d19-0005-0004-bc88714345d2_Enabled">
    <vt:lpwstr>true</vt:lpwstr>
  </property>
  <property fmtid="{D5CDD505-2E9C-101B-9397-08002B2CF9AE}" pid="11" name="MSIP_Label_defa4170-0d19-0005-0004-bc88714345d2_SetDate">
    <vt:lpwstr>2026-04-03T13:24:25Z</vt:lpwstr>
  </property>
  <property fmtid="{D5CDD505-2E9C-101B-9397-08002B2CF9AE}" pid="12" name="MSIP_Label_defa4170-0d19-0005-0004-bc88714345d2_Method">
    <vt:lpwstr>Standard</vt:lpwstr>
  </property>
  <property fmtid="{D5CDD505-2E9C-101B-9397-08002B2CF9AE}" pid="13" name="MSIP_Label_defa4170-0d19-0005-0004-bc88714345d2_Name">
    <vt:lpwstr>defa4170-0d19-0005-0004-bc88714345d2</vt:lpwstr>
  </property>
  <property fmtid="{D5CDD505-2E9C-101B-9397-08002B2CF9AE}" pid="14" name="MSIP_Label_defa4170-0d19-0005-0004-bc88714345d2_SiteId">
    <vt:lpwstr>d02caafd-d7d6-4ef9-970b-9350c6790fba</vt:lpwstr>
  </property>
  <property fmtid="{D5CDD505-2E9C-101B-9397-08002B2CF9AE}" pid="15" name="MSIP_Label_defa4170-0d19-0005-0004-bc88714345d2_ActionId">
    <vt:lpwstr>af28f22d-29b0-4281-bc91-a7f8cec49bcc</vt:lpwstr>
  </property>
  <property fmtid="{D5CDD505-2E9C-101B-9397-08002B2CF9AE}" pid="16" name="MSIP_Label_defa4170-0d19-0005-0004-bc88714345d2_ContentBits">
    <vt:lpwstr>0</vt:lpwstr>
  </property>
  <property fmtid="{D5CDD505-2E9C-101B-9397-08002B2CF9AE}" pid="17" name="MSIP_Label_defa4170-0d19-0005-0004-bc88714345d2_Tag">
    <vt:lpwstr>10, 3, 0, 1</vt:lpwstr>
  </property>
</Properties>
</file>