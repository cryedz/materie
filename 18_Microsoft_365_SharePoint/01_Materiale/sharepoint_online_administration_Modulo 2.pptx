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338" r:id="rId2"/>
    <p:sldId id="271" r:id="rId3"/>
    <p:sldId id="265" r:id="rId4"/>
    <p:sldId id="266" r:id="rId5"/>
    <p:sldId id="267" r:id="rId6"/>
    <p:sldId id="268" r:id="rId7"/>
    <p:sldId id="269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40" r:id="rId37"/>
    <p:sldId id="341" r:id="rId38"/>
    <p:sldId id="342" r:id="rId39"/>
    <p:sldId id="300" r:id="rId40"/>
    <p:sldId id="301" r:id="rId41"/>
    <p:sldId id="302" r:id="rId42"/>
    <p:sldId id="303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38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7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vembre Matteo" userId="437dbab0-cd7d-4665-9647-10d1fd490981" providerId="ADAL" clId="{91B3E30A-C5F4-46D0-B01E-FB65EC075246}"/>
    <pc:docChg chg="addSld delSld modSld sldOrd">
      <pc:chgData name="Novembre Matteo" userId="437dbab0-cd7d-4665-9647-10d1fd490981" providerId="ADAL" clId="{91B3E30A-C5F4-46D0-B01E-FB65EC075246}" dt="2026-04-01T08:46:20.132" v="174" actId="47"/>
      <pc:docMkLst>
        <pc:docMk/>
      </pc:docMkLst>
      <pc:sldChg chg="del">
        <pc:chgData name="Novembre Matteo" userId="437dbab0-cd7d-4665-9647-10d1fd490981" providerId="ADAL" clId="{91B3E30A-C5F4-46D0-B01E-FB65EC075246}" dt="2026-03-26T14:15:42.161" v="149" actId="47"/>
        <pc:sldMkLst>
          <pc:docMk/>
          <pc:sldMk cId="0" sldId="256"/>
        </pc:sldMkLst>
      </pc:sldChg>
      <pc:sldChg chg="del">
        <pc:chgData name="Novembre Matteo" userId="437dbab0-cd7d-4665-9647-10d1fd490981" providerId="ADAL" clId="{91B3E30A-C5F4-46D0-B01E-FB65EC075246}" dt="2026-03-26T14:15:42.623" v="150" actId="47"/>
        <pc:sldMkLst>
          <pc:docMk/>
          <pc:sldMk cId="0" sldId="257"/>
        </pc:sldMkLst>
      </pc:sldChg>
      <pc:sldChg chg="del">
        <pc:chgData name="Novembre Matteo" userId="437dbab0-cd7d-4665-9647-10d1fd490981" providerId="ADAL" clId="{91B3E30A-C5F4-46D0-B01E-FB65EC075246}" dt="2026-03-26T14:15:42.855" v="151" actId="47"/>
        <pc:sldMkLst>
          <pc:docMk/>
          <pc:sldMk cId="0" sldId="258"/>
        </pc:sldMkLst>
      </pc:sldChg>
      <pc:sldChg chg="del">
        <pc:chgData name="Novembre Matteo" userId="437dbab0-cd7d-4665-9647-10d1fd490981" providerId="ADAL" clId="{91B3E30A-C5F4-46D0-B01E-FB65EC075246}" dt="2026-03-26T14:15:43.080" v="152" actId="47"/>
        <pc:sldMkLst>
          <pc:docMk/>
          <pc:sldMk cId="0" sldId="259"/>
        </pc:sldMkLst>
      </pc:sldChg>
      <pc:sldChg chg="modSp del mod">
        <pc:chgData name="Novembre Matteo" userId="437dbab0-cd7d-4665-9647-10d1fd490981" providerId="ADAL" clId="{91B3E30A-C5F4-46D0-B01E-FB65EC075246}" dt="2026-03-26T14:15:43.813" v="153" actId="47"/>
        <pc:sldMkLst>
          <pc:docMk/>
          <pc:sldMk cId="0" sldId="260"/>
        </pc:sldMkLst>
      </pc:sldChg>
      <pc:sldChg chg="del">
        <pc:chgData name="Novembre Matteo" userId="437dbab0-cd7d-4665-9647-10d1fd490981" providerId="ADAL" clId="{91B3E30A-C5F4-46D0-B01E-FB65EC075246}" dt="2026-03-26T14:15:44.506" v="154" actId="47"/>
        <pc:sldMkLst>
          <pc:docMk/>
          <pc:sldMk cId="0" sldId="261"/>
        </pc:sldMkLst>
      </pc:sldChg>
      <pc:sldChg chg="modSp del mod">
        <pc:chgData name="Novembre Matteo" userId="437dbab0-cd7d-4665-9647-10d1fd490981" providerId="ADAL" clId="{91B3E30A-C5F4-46D0-B01E-FB65EC075246}" dt="2026-03-26T14:15:44.937" v="155" actId="47"/>
        <pc:sldMkLst>
          <pc:docMk/>
          <pc:sldMk cId="0" sldId="262"/>
        </pc:sldMkLst>
      </pc:sldChg>
      <pc:sldChg chg="del">
        <pc:chgData name="Novembre Matteo" userId="437dbab0-cd7d-4665-9647-10d1fd490981" providerId="ADAL" clId="{91B3E30A-C5F4-46D0-B01E-FB65EC075246}" dt="2026-03-26T14:15:45.455" v="156" actId="47"/>
        <pc:sldMkLst>
          <pc:docMk/>
          <pc:sldMk cId="0" sldId="263"/>
        </pc:sldMkLst>
      </pc:sldChg>
      <pc:sldChg chg="del">
        <pc:chgData name="Novembre Matteo" userId="437dbab0-cd7d-4665-9647-10d1fd490981" providerId="ADAL" clId="{91B3E30A-C5F4-46D0-B01E-FB65EC075246}" dt="2026-03-26T14:15:46.927" v="158" actId="47"/>
        <pc:sldMkLst>
          <pc:docMk/>
          <pc:sldMk cId="0" sldId="264"/>
        </pc:sldMkLst>
      </pc:sldChg>
      <pc:sldChg chg="mod modShow">
        <pc:chgData name="Novembre Matteo" userId="437dbab0-cd7d-4665-9647-10d1fd490981" providerId="ADAL" clId="{91B3E30A-C5F4-46D0-B01E-FB65EC075246}" dt="2026-03-27T08:38:46.112" v="162" actId="729"/>
        <pc:sldMkLst>
          <pc:docMk/>
          <pc:sldMk cId="0" sldId="267"/>
        </pc:sldMkLst>
      </pc:sldChg>
      <pc:sldChg chg="modSp del mod">
        <pc:chgData name="Novembre Matteo" userId="437dbab0-cd7d-4665-9647-10d1fd490981" providerId="ADAL" clId="{91B3E30A-C5F4-46D0-B01E-FB65EC075246}" dt="2026-03-26T14:15:49.476" v="159" actId="47"/>
        <pc:sldMkLst>
          <pc:docMk/>
          <pc:sldMk cId="0" sldId="270"/>
        </pc:sldMkLst>
      </pc:sldChg>
      <pc:sldChg chg="ord">
        <pc:chgData name="Novembre Matteo" userId="437dbab0-cd7d-4665-9647-10d1fd490981" providerId="ADAL" clId="{91B3E30A-C5F4-46D0-B01E-FB65EC075246}" dt="2026-03-26T14:15:56.862" v="161"/>
        <pc:sldMkLst>
          <pc:docMk/>
          <pc:sldMk cId="0" sldId="271"/>
        </pc:sldMkLst>
      </pc:sldChg>
      <pc:sldChg chg="modSp mod">
        <pc:chgData name="Novembre Matteo" userId="437dbab0-cd7d-4665-9647-10d1fd490981" providerId="ADAL" clId="{91B3E30A-C5F4-46D0-B01E-FB65EC075246}" dt="2026-03-02T08:50:11.910" v="61" actId="1076"/>
        <pc:sldMkLst>
          <pc:docMk/>
          <pc:sldMk cId="0" sldId="272"/>
        </pc:sldMkLst>
        <pc:spChg chg="mod">
          <ac:chgData name="Novembre Matteo" userId="437dbab0-cd7d-4665-9647-10d1fd490981" providerId="ADAL" clId="{91B3E30A-C5F4-46D0-B01E-FB65EC075246}" dt="2026-03-02T08:50:05.686" v="60" actId="14100"/>
          <ac:spMkLst>
            <pc:docMk/>
            <pc:sldMk cId="0" sldId="272"/>
            <ac:spMk id="4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46.078" v="56" actId="1076"/>
          <ac:spMkLst>
            <pc:docMk/>
            <pc:sldMk cId="0" sldId="272"/>
            <ac:spMk id="10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46.078" v="56" actId="1076"/>
          <ac:spMkLst>
            <pc:docMk/>
            <pc:sldMk cId="0" sldId="272"/>
            <ac:spMk id="11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46.078" v="56" actId="1076"/>
          <ac:spMkLst>
            <pc:docMk/>
            <pc:sldMk cId="0" sldId="272"/>
            <ac:spMk id="13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46.078" v="56" actId="1076"/>
          <ac:spMkLst>
            <pc:docMk/>
            <pc:sldMk cId="0" sldId="272"/>
            <ac:spMk id="14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50.429" v="57" actId="1076"/>
          <ac:spMkLst>
            <pc:docMk/>
            <pc:sldMk cId="0" sldId="272"/>
            <ac:spMk id="15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50.429" v="57" actId="1076"/>
          <ac:spMkLst>
            <pc:docMk/>
            <pc:sldMk cId="0" sldId="272"/>
            <ac:spMk id="16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50.429" v="57" actId="1076"/>
          <ac:spMkLst>
            <pc:docMk/>
            <pc:sldMk cId="0" sldId="272"/>
            <ac:spMk id="18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50.429" v="57" actId="1076"/>
          <ac:spMkLst>
            <pc:docMk/>
            <pc:sldMk cId="0" sldId="272"/>
            <ac:spMk id="19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54.789" v="58" actId="1076"/>
          <ac:spMkLst>
            <pc:docMk/>
            <pc:sldMk cId="0" sldId="272"/>
            <ac:spMk id="20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54.789" v="58" actId="1076"/>
          <ac:spMkLst>
            <pc:docMk/>
            <pc:sldMk cId="0" sldId="272"/>
            <ac:spMk id="21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54.789" v="58" actId="1076"/>
          <ac:spMkLst>
            <pc:docMk/>
            <pc:sldMk cId="0" sldId="272"/>
            <ac:spMk id="23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54.789" v="58" actId="1076"/>
          <ac:spMkLst>
            <pc:docMk/>
            <pc:sldMk cId="0" sldId="272"/>
            <ac:spMk id="24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0:11.910" v="61" actId="1076"/>
          <ac:spMkLst>
            <pc:docMk/>
            <pc:sldMk cId="0" sldId="272"/>
            <ac:spMk id="25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59.342" v="59" actId="1076"/>
          <ac:spMkLst>
            <pc:docMk/>
            <pc:sldMk cId="0" sldId="272"/>
            <ac:spMk id="26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59.342" v="59" actId="1076"/>
          <ac:spMkLst>
            <pc:docMk/>
            <pc:sldMk cId="0" sldId="272"/>
            <ac:spMk id="28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49:59.342" v="59" actId="1076"/>
          <ac:spMkLst>
            <pc:docMk/>
            <pc:sldMk cId="0" sldId="272"/>
            <ac:spMk id="29" creationId="{00000000-0000-0000-0000-000000000000}"/>
          </ac:spMkLst>
        </pc:spChg>
        <pc:picChg chg="mod">
          <ac:chgData name="Novembre Matteo" userId="437dbab0-cd7d-4665-9647-10d1fd490981" providerId="ADAL" clId="{91B3E30A-C5F4-46D0-B01E-FB65EC075246}" dt="2026-03-02T08:49:46.078" v="56" actId="1076"/>
          <ac:picMkLst>
            <pc:docMk/>
            <pc:sldMk cId="0" sldId="272"/>
            <ac:picMk id="12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3-02T08:49:50.429" v="57" actId="1076"/>
          <ac:picMkLst>
            <pc:docMk/>
            <pc:sldMk cId="0" sldId="272"/>
            <ac:picMk id="17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3-02T08:49:54.789" v="58" actId="1076"/>
          <ac:picMkLst>
            <pc:docMk/>
            <pc:sldMk cId="0" sldId="272"/>
            <ac:picMk id="22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3-02T08:49:59.342" v="59" actId="1076"/>
          <ac:picMkLst>
            <pc:docMk/>
            <pc:sldMk cId="0" sldId="272"/>
            <ac:picMk id="27" creationId="{00000000-0000-0000-0000-000000000000}"/>
          </ac:picMkLst>
        </pc:picChg>
      </pc:sldChg>
      <pc:sldChg chg="modSp mod">
        <pc:chgData name="Novembre Matteo" userId="437dbab0-cd7d-4665-9647-10d1fd490981" providerId="ADAL" clId="{91B3E30A-C5F4-46D0-B01E-FB65EC075246}" dt="2026-03-02T08:51:35.446" v="66" actId="1076"/>
        <pc:sldMkLst>
          <pc:docMk/>
          <pc:sldMk cId="0" sldId="285"/>
        </pc:sldMkLst>
        <pc:spChg chg="mod">
          <ac:chgData name="Novembre Matteo" userId="437dbab0-cd7d-4665-9647-10d1fd490981" providerId="ADAL" clId="{91B3E30A-C5F4-46D0-B01E-FB65EC075246}" dt="2026-03-02T08:51:24.510" v="64" actId="14100"/>
          <ac:spMkLst>
            <pc:docMk/>
            <pc:sldMk cId="0" sldId="285"/>
            <ac:spMk id="4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20.704" v="63" actId="1076"/>
          <ac:spMkLst>
            <pc:docMk/>
            <pc:sldMk cId="0" sldId="285"/>
            <ac:spMk id="5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20.704" v="63" actId="1076"/>
          <ac:spMkLst>
            <pc:docMk/>
            <pc:sldMk cId="0" sldId="285"/>
            <ac:spMk id="6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20.704" v="63" actId="1076"/>
          <ac:spMkLst>
            <pc:docMk/>
            <pc:sldMk cId="0" sldId="285"/>
            <ac:spMk id="7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20.704" v="63" actId="1076"/>
          <ac:spMkLst>
            <pc:docMk/>
            <pc:sldMk cId="0" sldId="285"/>
            <ac:spMk id="8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20.704" v="63" actId="1076"/>
          <ac:spMkLst>
            <pc:docMk/>
            <pc:sldMk cId="0" sldId="285"/>
            <ac:spMk id="16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20.704" v="63" actId="1076"/>
          <ac:spMkLst>
            <pc:docMk/>
            <pc:sldMk cId="0" sldId="285"/>
            <ac:spMk id="21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20.704" v="63" actId="1076"/>
          <ac:spMkLst>
            <pc:docMk/>
            <pc:sldMk cId="0" sldId="285"/>
            <ac:spMk id="22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29.741" v="65" actId="1076"/>
          <ac:spMkLst>
            <pc:docMk/>
            <pc:sldMk cId="0" sldId="285"/>
            <ac:spMk id="26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29.741" v="65" actId="1076"/>
          <ac:spMkLst>
            <pc:docMk/>
            <pc:sldMk cId="0" sldId="285"/>
            <ac:spMk id="27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20.704" v="63" actId="1076"/>
          <ac:spMkLst>
            <pc:docMk/>
            <pc:sldMk cId="0" sldId="285"/>
            <ac:spMk id="29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20.704" v="63" actId="1076"/>
          <ac:spMkLst>
            <pc:docMk/>
            <pc:sldMk cId="0" sldId="285"/>
            <ac:spMk id="34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35.446" v="66" actId="1076"/>
          <ac:spMkLst>
            <pc:docMk/>
            <pc:sldMk cId="0" sldId="285"/>
            <ac:spMk id="50" creationId="{00000000-0000-0000-0000-000000000000}"/>
          </ac:spMkLst>
        </pc:spChg>
        <pc:spChg chg="mod">
          <ac:chgData name="Novembre Matteo" userId="437dbab0-cd7d-4665-9647-10d1fd490981" providerId="ADAL" clId="{91B3E30A-C5F4-46D0-B01E-FB65EC075246}" dt="2026-03-02T08:51:35.446" v="66" actId="1076"/>
          <ac:spMkLst>
            <pc:docMk/>
            <pc:sldMk cId="0" sldId="285"/>
            <ac:spMk id="51" creationId="{00000000-0000-0000-0000-000000000000}"/>
          </ac:spMkLst>
        </pc:spChg>
        <pc:picChg chg="mod">
          <ac:chgData name="Novembre Matteo" userId="437dbab0-cd7d-4665-9647-10d1fd490981" providerId="ADAL" clId="{91B3E30A-C5F4-46D0-B01E-FB65EC075246}" dt="2026-03-02T08:51:29.741" v="65" actId="1076"/>
          <ac:picMkLst>
            <pc:docMk/>
            <pc:sldMk cId="0" sldId="285"/>
            <ac:picMk id="28" creationId="{00000000-0000-0000-0000-000000000000}"/>
          </ac:picMkLst>
        </pc:picChg>
        <pc:picChg chg="mod">
          <ac:chgData name="Novembre Matteo" userId="437dbab0-cd7d-4665-9647-10d1fd490981" providerId="ADAL" clId="{91B3E30A-C5F4-46D0-B01E-FB65EC075246}" dt="2026-03-02T08:51:35.446" v="66" actId="1076"/>
          <ac:picMkLst>
            <pc:docMk/>
            <pc:sldMk cId="0" sldId="285"/>
            <ac:picMk id="52" creationId="{00000000-0000-0000-0000-000000000000}"/>
          </ac:picMkLst>
        </pc:picChg>
      </pc:sldChg>
      <pc:sldChg chg="modSp mod">
        <pc:chgData name="Novembre Matteo" userId="437dbab0-cd7d-4665-9647-10d1fd490981" providerId="ADAL" clId="{91B3E30A-C5F4-46D0-B01E-FB65EC075246}" dt="2026-02-16T10:22:39.882" v="2" actId="1076"/>
        <pc:sldMkLst>
          <pc:docMk/>
          <pc:sldMk cId="0" sldId="290"/>
        </pc:sldMkLst>
      </pc:sldChg>
      <pc:sldChg chg="del">
        <pc:chgData name="Novembre Matteo" userId="437dbab0-cd7d-4665-9647-10d1fd490981" providerId="ADAL" clId="{91B3E30A-C5F4-46D0-B01E-FB65EC075246}" dt="2026-04-01T08:46:07.545" v="163" actId="47"/>
        <pc:sldMkLst>
          <pc:docMk/>
          <pc:sldMk cId="0" sldId="304"/>
        </pc:sldMkLst>
      </pc:sldChg>
      <pc:sldChg chg="del">
        <pc:chgData name="Novembre Matteo" userId="437dbab0-cd7d-4665-9647-10d1fd490981" providerId="ADAL" clId="{91B3E30A-C5F4-46D0-B01E-FB65EC075246}" dt="2026-04-01T08:46:08.260" v="164" actId="47"/>
        <pc:sldMkLst>
          <pc:docMk/>
          <pc:sldMk cId="0" sldId="305"/>
        </pc:sldMkLst>
      </pc:sldChg>
      <pc:sldChg chg="del">
        <pc:chgData name="Novembre Matteo" userId="437dbab0-cd7d-4665-9647-10d1fd490981" providerId="ADAL" clId="{91B3E30A-C5F4-46D0-B01E-FB65EC075246}" dt="2026-04-01T08:46:08.967" v="165" actId="47"/>
        <pc:sldMkLst>
          <pc:docMk/>
          <pc:sldMk cId="0" sldId="306"/>
        </pc:sldMkLst>
      </pc:sldChg>
      <pc:sldChg chg="del">
        <pc:chgData name="Novembre Matteo" userId="437dbab0-cd7d-4665-9647-10d1fd490981" providerId="ADAL" clId="{91B3E30A-C5F4-46D0-B01E-FB65EC075246}" dt="2026-04-01T08:46:09.767" v="166" actId="47"/>
        <pc:sldMkLst>
          <pc:docMk/>
          <pc:sldMk cId="0" sldId="307"/>
        </pc:sldMkLst>
      </pc:sldChg>
      <pc:sldChg chg="del">
        <pc:chgData name="Novembre Matteo" userId="437dbab0-cd7d-4665-9647-10d1fd490981" providerId="ADAL" clId="{91B3E30A-C5F4-46D0-B01E-FB65EC075246}" dt="2026-04-01T08:46:10.589" v="167" actId="47"/>
        <pc:sldMkLst>
          <pc:docMk/>
          <pc:sldMk cId="0" sldId="308"/>
        </pc:sldMkLst>
      </pc:sldChg>
      <pc:sldChg chg="del">
        <pc:chgData name="Novembre Matteo" userId="437dbab0-cd7d-4665-9647-10d1fd490981" providerId="ADAL" clId="{91B3E30A-C5F4-46D0-B01E-FB65EC075246}" dt="2026-04-01T08:46:15.213" v="168" actId="47"/>
        <pc:sldMkLst>
          <pc:docMk/>
          <pc:sldMk cId="0" sldId="309"/>
        </pc:sldMkLst>
      </pc:sldChg>
      <pc:sldChg chg="del">
        <pc:chgData name="Novembre Matteo" userId="437dbab0-cd7d-4665-9647-10d1fd490981" providerId="ADAL" clId="{91B3E30A-C5F4-46D0-B01E-FB65EC075246}" dt="2026-04-01T08:46:16.817" v="169" actId="47"/>
        <pc:sldMkLst>
          <pc:docMk/>
          <pc:sldMk cId="0" sldId="310"/>
        </pc:sldMkLst>
      </pc:sldChg>
      <pc:sldChg chg="del">
        <pc:chgData name="Novembre Matteo" userId="437dbab0-cd7d-4665-9647-10d1fd490981" providerId="ADAL" clId="{91B3E30A-C5F4-46D0-B01E-FB65EC075246}" dt="2026-04-01T08:46:17.415" v="170" actId="47"/>
        <pc:sldMkLst>
          <pc:docMk/>
          <pc:sldMk cId="0" sldId="311"/>
        </pc:sldMkLst>
      </pc:sldChg>
      <pc:sldChg chg="del">
        <pc:chgData name="Novembre Matteo" userId="437dbab0-cd7d-4665-9647-10d1fd490981" providerId="ADAL" clId="{91B3E30A-C5F4-46D0-B01E-FB65EC075246}" dt="2026-04-01T08:46:17.945" v="171" actId="47"/>
        <pc:sldMkLst>
          <pc:docMk/>
          <pc:sldMk cId="0" sldId="312"/>
        </pc:sldMkLst>
      </pc:sldChg>
      <pc:sldChg chg="del">
        <pc:chgData name="Novembre Matteo" userId="437dbab0-cd7d-4665-9647-10d1fd490981" providerId="ADAL" clId="{91B3E30A-C5F4-46D0-B01E-FB65EC075246}" dt="2026-04-01T08:46:18.713" v="172" actId="47"/>
        <pc:sldMkLst>
          <pc:docMk/>
          <pc:sldMk cId="0" sldId="313"/>
        </pc:sldMkLst>
      </pc:sldChg>
      <pc:sldChg chg="del">
        <pc:chgData name="Novembre Matteo" userId="437dbab0-cd7d-4665-9647-10d1fd490981" providerId="ADAL" clId="{91B3E30A-C5F4-46D0-B01E-FB65EC075246}" dt="2026-04-01T08:46:19.379" v="173" actId="47"/>
        <pc:sldMkLst>
          <pc:docMk/>
          <pc:sldMk cId="0" sldId="314"/>
        </pc:sldMkLst>
      </pc:sldChg>
      <pc:sldChg chg="del">
        <pc:chgData name="Novembre Matteo" userId="437dbab0-cd7d-4665-9647-10d1fd490981" providerId="ADAL" clId="{91B3E30A-C5F4-46D0-B01E-FB65EC075246}" dt="2026-04-01T08:46:20.132" v="174" actId="47"/>
        <pc:sldMkLst>
          <pc:docMk/>
          <pc:sldMk cId="0" sldId="315"/>
        </pc:sldMkLst>
      </pc:sldChg>
      <pc:sldChg chg="modSp add mod">
        <pc:chgData name="Novembre Matteo" userId="437dbab0-cd7d-4665-9647-10d1fd490981" providerId="ADAL" clId="{91B3E30A-C5F4-46D0-B01E-FB65EC075246}" dt="2026-03-26T14:15:38.601" v="148" actId="20577"/>
        <pc:sldMkLst>
          <pc:docMk/>
          <pc:sldMk cId="348954085" sldId="338"/>
        </pc:sldMkLst>
        <pc:graphicFrameChg chg="modGraphic">
          <ac:chgData name="Novembre Matteo" userId="437dbab0-cd7d-4665-9647-10d1fd490981" providerId="ADAL" clId="{91B3E30A-C5F4-46D0-B01E-FB65EC075246}" dt="2026-03-26T14:15:38.601" v="148" actId="20577"/>
          <ac:graphicFrameMkLst>
            <pc:docMk/>
            <pc:sldMk cId="348954085" sldId="338"/>
            <ac:graphicFrameMk id="5" creationId="{52A369BA-F177-BE2A-86F7-3CE0AB26EBE9}"/>
          </ac:graphicFrameMkLst>
        </pc:graphicFrameChg>
      </pc:sldChg>
      <pc:sldChg chg="del">
        <pc:chgData name="Novembre Matteo" userId="437dbab0-cd7d-4665-9647-10d1fd490981" providerId="ADAL" clId="{91B3E30A-C5F4-46D0-B01E-FB65EC075246}" dt="2026-03-26T14:15:46.174" v="157" actId="47"/>
        <pc:sldMkLst>
          <pc:docMk/>
          <pc:sldMk cId="0" sldId="339"/>
        </pc:sldMkLst>
      </pc:sldChg>
    </pc:docChg>
  </pc:docChgLst>
  <pc:docChgLst>
    <pc:chgData name="Novembre Matteo" userId="437dbab0-cd7d-4665-9647-10d1fd490981" providerId="ADAL" clId="{32D87564-5860-4D0F-8588-6C5265CF8554}"/>
    <pc:docChg chg="modSld">
      <pc:chgData name="Novembre Matteo" userId="437dbab0-cd7d-4665-9647-10d1fd490981" providerId="ADAL" clId="{32D87564-5860-4D0F-8588-6C5265CF8554}" dt="2026-02-02T10:17:45.862" v="22" actId="20577"/>
      <pc:docMkLst>
        <pc:docMk/>
      </pc:docMkLst>
      <pc:sldChg chg="addSp modSp mod">
        <pc:chgData name="Novembre Matteo" userId="437dbab0-cd7d-4665-9647-10d1fd490981" providerId="ADAL" clId="{32D87564-5860-4D0F-8588-6C5265CF8554}" dt="2026-02-02T10:17:45.862" v="22" actId="20577"/>
        <pc:sldMkLst>
          <pc:docMk/>
          <pc:sldMk cId="0" sldId="2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3199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97223CB-80F4-5A2B-FBCF-8F0577C1D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75C71-6E8F-4A48-9A75-977949D9268F}" type="datetimeFigureOut">
              <a:rPr lang="it-IT" smtClean="0"/>
              <a:t>01/04/2026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016CAB44-9033-D4FC-C269-4E25F067A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634E491-4E22-916B-0A57-2EFE961FB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33793B-E73B-47CB-B846-DB6D9D48C53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1808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png"/><Relationship Id="rId7" Type="http://schemas.openxmlformats.org/officeDocument/2006/relationships/image" Target="../media/image22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25.png"/><Relationship Id="rId5" Type="http://schemas.openxmlformats.org/officeDocument/2006/relationships/image" Target="../media/image21.png"/><Relationship Id="rId10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png"/><Relationship Id="rId7" Type="http://schemas.openxmlformats.org/officeDocument/2006/relationships/image" Target="../media/image26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png"/><Relationship Id="rId7" Type="http://schemas.openxmlformats.org/officeDocument/2006/relationships/image" Target="../media/image31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33.png"/><Relationship Id="rId5" Type="http://schemas.openxmlformats.org/officeDocument/2006/relationships/image" Target="../media/image30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31.png"/><Relationship Id="rId5" Type="http://schemas.openxmlformats.org/officeDocument/2006/relationships/image" Target="../media/image36.png"/><Relationship Id="rId10" Type="http://schemas.openxmlformats.org/officeDocument/2006/relationships/image" Target="../media/image16.png"/><Relationship Id="rId4" Type="http://schemas.openxmlformats.org/officeDocument/2006/relationships/image" Target="../media/image35.png"/><Relationship Id="rId9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5" Type="http://schemas.openxmlformats.org/officeDocument/2006/relationships/image" Target="../media/image52.png"/><Relationship Id="rId10" Type="http://schemas.openxmlformats.org/officeDocument/2006/relationships/image" Target="../media/image47.png"/><Relationship Id="rId19" Type="http://schemas.openxmlformats.org/officeDocument/2006/relationships/image" Target="../media/image56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59.png"/><Relationship Id="rId5" Type="http://schemas.openxmlformats.org/officeDocument/2006/relationships/image" Target="../media/image57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5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png"/><Relationship Id="rId18" Type="http://schemas.openxmlformats.org/officeDocument/2006/relationships/image" Target="../media/image114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17" Type="http://schemas.openxmlformats.org/officeDocument/2006/relationships/image" Target="../media/image113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5" Type="http://schemas.openxmlformats.org/officeDocument/2006/relationships/image" Target="../media/image101.png"/><Relationship Id="rId15" Type="http://schemas.openxmlformats.org/officeDocument/2006/relationships/image" Target="../media/image111.pn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Relationship Id="rId14" Type="http://schemas.openxmlformats.org/officeDocument/2006/relationships/image" Target="../media/image11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5.png"/><Relationship Id="rId7" Type="http://schemas.openxmlformats.org/officeDocument/2006/relationships/image" Target="../media/image1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3" Type="http://schemas.openxmlformats.org/officeDocument/2006/relationships/image" Target="../media/image120.png"/><Relationship Id="rId7" Type="http://schemas.openxmlformats.org/officeDocument/2006/relationships/image" Target="../media/image1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5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5" Type="http://schemas.openxmlformats.org/officeDocument/2006/relationships/image" Target="../media/image137.png"/><Relationship Id="rId15" Type="http://schemas.openxmlformats.org/officeDocument/2006/relationships/image" Target="../media/image100.png"/><Relationship Id="rId10" Type="http://schemas.openxmlformats.org/officeDocument/2006/relationships/image" Target="../media/image142.png"/><Relationship Id="rId4" Type="http://schemas.openxmlformats.org/officeDocument/2006/relationships/image" Target="../media/image136.png"/><Relationship Id="rId9" Type="http://schemas.openxmlformats.org/officeDocument/2006/relationships/image" Target="../media/image141.png"/><Relationship Id="rId14" Type="http://schemas.openxmlformats.org/officeDocument/2006/relationships/image" Target="../media/image14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3" Type="http://schemas.openxmlformats.org/officeDocument/2006/relationships/image" Target="../media/image147.png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0.png"/><Relationship Id="rId11" Type="http://schemas.openxmlformats.org/officeDocument/2006/relationships/image" Target="../media/image155.png"/><Relationship Id="rId5" Type="http://schemas.openxmlformats.org/officeDocument/2006/relationships/image" Target="../media/image149.png"/><Relationship Id="rId10" Type="http://schemas.openxmlformats.org/officeDocument/2006/relationships/image" Target="../media/image154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3" Type="http://schemas.openxmlformats.org/officeDocument/2006/relationships/image" Target="../media/image156.png"/><Relationship Id="rId7" Type="http://schemas.openxmlformats.org/officeDocument/2006/relationships/image" Target="../media/image16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png"/><Relationship Id="rId7" Type="http://schemas.openxmlformats.org/officeDocument/2006/relationships/image" Target="../media/image163.png"/><Relationship Id="rId12" Type="http://schemas.openxmlformats.org/officeDocument/2006/relationships/image" Target="../media/image16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165.png"/><Relationship Id="rId5" Type="http://schemas.openxmlformats.org/officeDocument/2006/relationships/image" Target="../media/image162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6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17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3" Type="http://schemas.openxmlformats.org/officeDocument/2006/relationships/image" Target="../media/image171.png"/><Relationship Id="rId7" Type="http://schemas.openxmlformats.org/officeDocument/2006/relationships/image" Target="../media/image17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4" Type="http://schemas.openxmlformats.org/officeDocument/2006/relationships/image" Target="../media/image17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1.png"/><Relationship Id="rId7" Type="http://schemas.openxmlformats.org/officeDocument/2006/relationships/image" Target="../media/image178.png"/><Relationship Id="rId12" Type="http://schemas.openxmlformats.org/officeDocument/2006/relationships/image" Target="../media/image18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180.png"/><Relationship Id="rId5" Type="http://schemas.openxmlformats.org/officeDocument/2006/relationships/image" Target="../media/image22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3" Type="http://schemas.openxmlformats.org/officeDocument/2006/relationships/image" Target="../media/image184.png"/><Relationship Id="rId7" Type="http://schemas.openxmlformats.org/officeDocument/2006/relationships/image" Target="../media/image18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7.png"/><Relationship Id="rId5" Type="http://schemas.openxmlformats.org/officeDocument/2006/relationships/image" Target="../media/image186.png"/><Relationship Id="rId4" Type="http://schemas.openxmlformats.org/officeDocument/2006/relationships/image" Target="../media/image185.png"/><Relationship Id="rId9" Type="http://schemas.openxmlformats.org/officeDocument/2006/relationships/image" Target="../media/image19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13" Type="http://schemas.openxmlformats.org/officeDocument/2006/relationships/image" Target="../media/image201.png"/><Relationship Id="rId18" Type="http://schemas.openxmlformats.org/officeDocument/2006/relationships/image" Target="../media/image206.png"/><Relationship Id="rId3" Type="http://schemas.openxmlformats.org/officeDocument/2006/relationships/image" Target="../media/image191.png"/><Relationship Id="rId7" Type="http://schemas.openxmlformats.org/officeDocument/2006/relationships/image" Target="../media/image195.png"/><Relationship Id="rId12" Type="http://schemas.openxmlformats.org/officeDocument/2006/relationships/image" Target="../media/image200.png"/><Relationship Id="rId17" Type="http://schemas.openxmlformats.org/officeDocument/2006/relationships/image" Target="../media/image205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204.png"/><Relationship Id="rId20" Type="http://schemas.openxmlformats.org/officeDocument/2006/relationships/image" Target="../media/image2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4.png"/><Relationship Id="rId11" Type="http://schemas.openxmlformats.org/officeDocument/2006/relationships/image" Target="../media/image199.png"/><Relationship Id="rId5" Type="http://schemas.openxmlformats.org/officeDocument/2006/relationships/image" Target="../media/image193.png"/><Relationship Id="rId15" Type="http://schemas.openxmlformats.org/officeDocument/2006/relationships/image" Target="../media/image203.png"/><Relationship Id="rId10" Type="http://schemas.openxmlformats.org/officeDocument/2006/relationships/image" Target="../media/image198.png"/><Relationship Id="rId19" Type="http://schemas.openxmlformats.org/officeDocument/2006/relationships/image" Target="../media/image207.png"/><Relationship Id="rId4" Type="http://schemas.openxmlformats.org/officeDocument/2006/relationships/image" Target="../media/image192.png"/><Relationship Id="rId9" Type="http://schemas.openxmlformats.org/officeDocument/2006/relationships/image" Target="../media/image197.png"/><Relationship Id="rId14" Type="http://schemas.openxmlformats.org/officeDocument/2006/relationships/image" Target="../media/image20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13" Type="http://schemas.openxmlformats.org/officeDocument/2006/relationships/image" Target="../media/image213.png"/><Relationship Id="rId18" Type="http://schemas.openxmlformats.org/officeDocument/2006/relationships/image" Target="../media/image218.png"/><Relationship Id="rId3" Type="http://schemas.openxmlformats.org/officeDocument/2006/relationships/image" Target="../media/image99.png"/><Relationship Id="rId7" Type="http://schemas.openxmlformats.org/officeDocument/2006/relationships/image" Target="../media/image210.png"/><Relationship Id="rId12" Type="http://schemas.openxmlformats.org/officeDocument/2006/relationships/image" Target="../media/image212.png"/><Relationship Id="rId17" Type="http://schemas.openxmlformats.org/officeDocument/2006/relationships/image" Target="../media/image217.pn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2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11" Type="http://schemas.openxmlformats.org/officeDocument/2006/relationships/image" Target="../media/image110.png"/><Relationship Id="rId5" Type="http://schemas.openxmlformats.org/officeDocument/2006/relationships/image" Target="../media/image106.png"/><Relationship Id="rId15" Type="http://schemas.openxmlformats.org/officeDocument/2006/relationships/image" Target="../media/image215.png"/><Relationship Id="rId10" Type="http://schemas.openxmlformats.org/officeDocument/2006/relationships/image" Target="../media/image109.png"/><Relationship Id="rId4" Type="http://schemas.openxmlformats.org/officeDocument/2006/relationships/image" Target="../media/image209.png"/><Relationship Id="rId9" Type="http://schemas.openxmlformats.org/officeDocument/2006/relationships/image" Target="../media/image105.png"/><Relationship Id="rId14" Type="http://schemas.openxmlformats.org/officeDocument/2006/relationships/image" Target="../media/image214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13" Type="http://schemas.openxmlformats.org/officeDocument/2006/relationships/image" Target="../media/image228.png"/><Relationship Id="rId18" Type="http://schemas.openxmlformats.org/officeDocument/2006/relationships/image" Target="../media/image233.png"/><Relationship Id="rId3" Type="http://schemas.openxmlformats.org/officeDocument/2006/relationships/image" Target="../media/image190.png"/><Relationship Id="rId7" Type="http://schemas.openxmlformats.org/officeDocument/2006/relationships/image" Target="../media/image222.png"/><Relationship Id="rId12" Type="http://schemas.openxmlformats.org/officeDocument/2006/relationships/image" Target="../media/image227.png"/><Relationship Id="rId17" Type="http://schemas.openxmlformats.org/officeDocument/2006/relationships/image" Target="../media/image232.pn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23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1.png"/><Relationship Id="rId11" Type="http://schemas.openxmlformats.org/officeDocument/2006/relationships/image" Target="../media/image226.png"/><Relationship Id="rId5" Type="http://schemas.openxmlformats.org/officeDocument/2006/relationships/image" Target="../media/image220.png"/><Relationship Id="rId15" Type="http://schemas.openxmlformats.org/officeDocument/2006/relationships/image" Target="../media/image230.png"/><Relationship Id="rId10" Type="http://schemas.openxmlformats.org/officeDocument/2006/relationships/image" Target="../media/image225.png"/><Relationship Id="rId19" Type="http://schemas.openxmlformats.org/officeDocument/2006/relationships/image" Target="../media/image234.png"/><Relationship Id="rId4" Type="http://schemas.openxmlformats.org/officeDocument/2006/relationships/image" Target="../media/image219.png"/><Relationship Id="rId9" Type="http://schemas.openxmlformats.org/officeDocument/2006/relationships/image" Target="../media/image224.png"/><Relationship Id="rId14" Type="http://schemas.openxmlformats.org/officeDocument/2006/relationships/image" Target="../media/image2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23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8.png"/><Relationship Id="rId5" Type="http://schemas.openxmlformats.org/officeDocument/2006/relationships/image" Target="../media/image239.png"/><Relationship Id="rId4" Type="http://schemas.openxmlformats.org/officeDocument/2006/relationships/image" Target="../media/image5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7" Type="http://schemas.openxmlformats.org/officeDocument/2006/relationships/image" Target="../media/image238.png"/><Relationship Id="rId2" Type="http://schemas.openxmlformats.org/officeDocument/2006/relationships/image" Target="../media/image2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220.png"/><Relationship Id="rId4" Type="http://schemas.openxmlformats.org/officeDocument/2006/relationships/image" Target="../media/image22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8.png"/><Relationship Id="rId7" Type="http://schemas.openxmlformats.org/officeDocument/2006/relationships/image" Target="../media/image24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2.png"/><Relationship Id="rId5" Type="http://schemas.openxmlformats.org/officeDocument/2006/relationships/image" Target="../media/image241.png"/><Relationship Id="rId4" Type="http://schemas.openxmlformats.org/officeDocument/2006/relationships/image" Target="../media/image23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5.png"/><Relationship Id="rId5" Type="http://schemas.openxmlformats.org/officeDocument/2006/relationships/image" Target="../media/image240.png"/><Relationship Id="rId4" Type="http://schemas.openxmlformats.org/officeDocument/2006/relationships/image" Target="../media/image244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0.png"/><Relationship Id="rId3" Type="http://schemas.openxmlformats.org/officeDocument/2006/relationships/image" Target="../media/image246.png"/><Relationship Id="rId7" Type="http://schemas.openxmlformats.org/officeDocument/2006/relationships/image" Target="../media/image24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8.png"/><Relationship Id="rId5" Type="http://schemas.openxmlformats.org/officeDocument/2006/relationships/image" Target="../media/image247.png"/><Relationship Id="rId4" Type="http://schemas.openxmlformats.org/officeDocument/2006/relationships/image" Target="../media/image29.png"/><Relationship Id="rId9" Type="http://schemas.openxmlformats.org/officeDocument/2006/relationships/image" Target="../media/image25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2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 di testo 2">
            <a:extLst>
              <a:ext uri="{FF2B5EF4-FFF2-40B4-BE49-F238E27FC236}">
                <a16:creationId xmlns:a16="http://schemas.microsoft.com/office/drawing/2014/main" id="{CD60F39F-0697-9306-59C2-050A0C81BE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1998" y="4170460"/>
            <a:ext cx="3552190" cy="276999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endParaRPr lang="it-IT" sz="1200" dirty="0">
              <a:effectLst/>
              <a:latin typeface="Century Gothic" panose="020B0502020202020204" pitchFamily="3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BF763079-289E-A93C-EB1E-BF051687E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1641" y="5200651"/>
            <a:ext cx="1248709" cy="684776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F49E2D39-027D-DC94-5F6C-D70263747F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" t="-111" r="-9" b="-111"/>
          <a:stretch>
            <a:fillRect/>
          </a:stretch>
        </p:blipFill>
        <p:spPr bwMode="auto">
          <a:xfrm>
            <a:off x="1842450" y="412572"/>
            <a:ext cx="8507093" cy="72608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pic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52A369BA-F177-BE2A-86F7-3CE0AB26E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9788178"/>
              </p:ext>
            </p:extLst>
          </p:nvPr>
        </p:nvGraphicFramePr>
        <p:xfrm>
          <a:off x="1316052" y="2281726"/>
          <a:ext cx="9178183" cy="22731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09610">
                  <a:extLst>
                    <a:ext uri="{9D8B030D-6E8A-4147-A177-3AD203B41FA5}">
                      <a16:colId xmlns:a16="http://schemas.microsoft.com/office/drawing/2014/main" val="265635030"/>
                    </a:ext>
                  </a:extLst>
                </a:gridCol>
                <a:gridCol w="6368573">
                  <a:extLst>
                    <a:ext uri="{9D8B030D-6E8A-4147-A177-3AD203B41FA5}">
                      <a16:colId xmlns:a16="http://schemas.microsoft.com/office/drawing/2014/main" val="1002503838"/>
                    </a:ext>
                  </a:extLst>
                </a:gridCol>
              </a:tblGrid>
              <a:tr h="779032">
                <a:tc>
                  <a:txBody>
                    <a:bodyPr/>
                    <a:lstStyle/>
                    <a:p>
                      <a:pPr algn="l"/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DOCENTE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b="1" kern="1200" dirty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NOVEMBRE Matteo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100898"/>
                  </a:ext>
                </a:extLst>
              </a:tr>
              <a:tr h="779032">
                <a:tc>
                  <a:txBody>
                    <a:bodyPr/>
                    <a:lstStyle/>
                    <a:p>
                      <a:pPr algn="l"/>
                      <a:r>
                        <a:rPr lang="it-IT" sz="1800" b="1" dirty="0">
                          <a:solidFill>
                            <a:sysClr val="windowText" lastClr="000000"/>
                          </a:solidFill>
                        </a:rPr>
                        <a:t>UNITA’ FORMATIVA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Microsoft 365 e </a:t>
                      </a:r>
                      <a:r>
                        <a:rPr lang="it-IT" sz="1800" dirty="0" err="1">
                          <a:solidFill>
                            <a:sysClr val="windowText" lastClr="000000"/>
                          </a:solidFill>
                        </a:rPr>
                        <a:t>Sharepoint</a:t>
                      </a:r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3056960"/>
                  </a:ext>
                </a:extLst>
              </a:tr>
              <a:tr h="715116">
                <a:tc>
                  <a:txBody>
                    <a:bodyPr/>
                    <a:lstStyle/>
                    <a:p>
                      <a:pPr algn="l"/>
                      <a:r>
                        <a:rPr lang="it-IT" sz="1800" b="1" dirty="0">
                          <a:solidFill>
                            <a:sysClr val="windowText" lastClr="000000"/>
                          </a:solidFill>
                        </a:rPr>
                        <a:t>ARGOMENTO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sz="1800" dirty="0" err="1">
                          <a:solidFill>
                            <a:sysClr val="windowText" lastClr="000000"/>
                          </a:solidFill>
                        </a:rPr>
                        <a:t>Sharepoint</a:t>
                      </a:r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: </a:t>
                      </a:r>
                      <a:r>
                        <a:rPr lang="it-IT" sz="1800" dirty="0" err="1">
                          <a:solidFill>
                            <a:sysClr val="windowText" lastClr="000000"/>
                          </a:solidFill>
                        </a:rPr>
                        <a:t>Document</a:t>
                      </a:r>
                      <a:r>
                        <a:rPr lang="it-IT" sz="1800" dirty="0">
                          <a:solidFill>
                            <a:sysClr val="windowText" lastClr="000000"/>
                          </a:solidFill>
                        </a:rPr>
                        <a:t> Library, Liste, Permessi e Integrazioni con Teams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271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954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 txBox="1"/>
          <p:nvPr/>
        </p:nvSpPr>
        <p:spPr>
          <a:xfrm>
            <a:off x="571500" y="152705"/>
            <a:ext cx="4696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 continuare a studiare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381305"/>
            <a:ext cx="55056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Risorse e Approfondimenti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10532974" y="286207"/>
            <a:ext cx="1095451" cy="342900"/>
          </a:xfrm>
          <a:prstGeom prst="roundRect">
            <a:avLst>
              <a:gd name="adj" fmla="val 2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84764" y="381305"/>
            <a:ext cx="152705" cy="15270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913364" y="286207"/>
            <a:ext cx="6199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Link utili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1500" y="1333195"/>
            <a:ext cx="533369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571500" y="1333195"/>
            <a:ext cx="47549" cy="1561795"/>
          </a:xfrm>
          <a:prstGeom prst="roundRect">
            <a:avLst>
              <a:gd name="adj" fmla="val 14071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809244" y="1825142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90" r="-90"/>
          <a:stretch/>
        </p:blipFill>
        <p:spPr>
          <a:xfrm>
            <a:off x="905256" y="1958645"/>
            <a:ext cx="381305" cy="3044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571854" y="1747418"/>
            <a:ext cx="4258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Microsoft Learn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571854" y="2069287"/>
            <a:ext cx="4219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Percorsi di apprendimento guidati gratuiti su SharePoint, Teams e OneDrive per ogni livello.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286500" y="1333195"/>
            <a:ext cx="533369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6286500" y="1333195"/>
            <a:ext cx="47549" cy="1561795"/>
          </a:xfrm>
          <a:prstGeom prst="roundRect">
            <a:avLst>
              <a:gd name="adj" fmla="val 14071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5"/>
          <p:cNvSpPr/>
          <p:nvPr/>
        </p:nvSpPr>
        <p:spPr>
          <a:xfrm>
            <a:off x="6524244" y="1825142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6FF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l="-50" r="-50"/>
          <a:stretch/>
        </p:blipFill>
        <p:spPr>
          <a:xfrm>
            <a:off x="6696151" y="1958645"/>
            <a:ext cx="228600" cy="30449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286854" y="1747418"/>
            <a:ext cx="4258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Documentazione Ufficiale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7286854" y="2069287"/>
            <a:ext cx="4219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Guide tecniche dettagliate su governance, permessi, sicurezza e configurazione avanzata.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571500" y="3127248"/>
            <a:ext cx="533369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19"/>
          <p:cNvSpPr/>
          <p:nvPr/>
        </p:nvSpPr>
        <p:spPr>
          <a:xfrm>
            <a:off x="571500" y="3127248"/>
            <a:ext cx="47549" cy="1561795"/>
          </a:xfrm>
          <a:prstGeom prst="roundRect">
            <a:avLst>
              <a:gd name="adj" fmla="val 14071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0"/>
          <p:cNvSpPr/>
          <p:nvPr/>
        </p:nvSpPr>
        <p:spPr>
          <a:xfrm>
            <a:off x="809244" y="3619195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l="-90" r="-90"/>
          <a:stretch/>
        </p:blipFill>
        <p:spPr>
          <a:xfrm>
            <a:off x="905256" y="3752698"/>
            <a:ext cx="381305" cy="30449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571854" y="3541471"/>
            <a:ext cx="4258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Community PnP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1571854" y="3863340"/>
            <a:ext cx="4219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Esempi di codice, webpart open-source e best practices dalla community Patterns &amp; Practices.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6286500" y="3127248"/>
            <a:ext cx="533369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4"/>
          <p:cNvSpPr/>
          <p:nvPr/>
        </p:nvSpPr>
        <p:spPr>
          <a:xfrm>
            <a:off x="6286500" y="3127248"/>
            <a:ext cx="47549" cy="1561795"/>
          </a:xfrm>
          <a:prstGeom prst="roundRect">
            <a:avLst>
              <a:gd name="adj" fmla="val 14071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5"/>
          <p:cNvSpPr/>
          <p:nvPr/>
        </p:nvSpPr>
        <p:spPr>
          <a:xfrm>
            <a:off x="6524244" y="3619195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3E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 l="-50" r="-50"/>
          <a:stretch/>
        </p:blipFill>
        <p:spPr>
          <a:xfrm>
            <a:off x="6638544" y="3752698"/>
            <a:ext cx="342900" cy="30449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286854" y="3541471"/>
            <a:ext cx="4258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 Tutorial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7286854" y="3863340"/>
            <a:ext cx="4219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Canale YouTube Microsoft 365 e sessioni registrate dalle conferenze Ignite e Build.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571500" y="4921301"/>
            <a:ext cx="533369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6" name="Shape 29"/>
          <p:cNvSpPr/>
          <p:nvPr/>
        </p:nvSpPr>
        <p:spPr>
          <a:xfrm>
            <a:off x="571500" y="4921301"/>
            <a:ext cx="47549" cy="1561795"/>
          </a:xfrm>
          <a:prstGeom prst="roundRect">
            <a:avLst>
              <a:gd name="adj" fmla="val 14071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30"/>
          <p:cNvSpPr/>
          <p:nvPr/>
        </p:nvSpPr>
        <p:spPr>
          <a:xfrm>
            <a:off x="809244" y="5413248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6FFE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42746" y="5546750"/>
            <a:ext cx="304495" cy="304495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571854" y="5335524"/>
            <a:ext cx="4258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Strumenti PnP</a:t>
            </a:r>
            <a:endParaRPr lang="en-US" sz="1400" dirty="0"/>
          </a:p>
        </p:txBody>
      </p:sp>
      <p:sp>
        <p:nvSpPr>
          <p:cNvPr id="40" name="Text 32"/>
          <p:cNvSpPr txBox="1"/>
          <p:nvPr/>
        </p:nvSpPr>
        <p:spPr>
          <a:xfrm>
            <a:off x="1571854" y="5657393"/>
            <a:ext cx="4219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Risorse pratiche come l'Adoption Kit e script di automazione per amministratori.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6286500" y="4921301"/>
            <a:ext cx="5333695" cy="1561795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/>
          <a:effectLst>
            <a:outerShdw blurRad="762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2" name="Shape 34"/>
          <p:cNvSpPr/>
          <p:nvPr/>
        </p:nvSpPr>
        <p:spPr>
          <a:xfrm>
            <a:off x="6286500" y="4921301"/>
            <a:ext cx="47549" cy="1561795"/>
          </a:xfrm>
          <a:prstGeom prst="roundRect">
            <a:avLst>
              <a:gd name="adj" fmla="val 140712"/>
            </a:avLst>
          </a:prstGeom>
          <a:solidFill>
            <a:srgbClr val="000000">
              <a:alpha val="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Shape 35"/>
          <p:cNvSpPr/>
          <p:nvPr/>
        </p:nvSpPr>
        <p:spPr>
          <a:xfrm>
            <a:off x="6524244" y="5413248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6E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rcRect l="-50" r="-50"/>
          <a:stretch/>
        </p:blipFill>
        <p:spPr>
          <a:xfrm>
            <a:off x="6638544" y="5546750"/>
            <a:ext cx="342900" cy="304495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7286854" y="5335524"/>
            <a:ext cx="42583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Roadmap M365</a:t>
            </a:r>
            <a:endParaRPr lang="en-US" sz="1400" dirty="0"/>
          </a:p>
        </p:txBody>
      </p:sp>
      <p:sp>
        <p:nvSpPr>
          <p:cNvPr id="46" name="Text 37"/>
          <p:cNvSpPr txBox="1"/>
          <p:nvPr/>
        </p:nvSpPr>
        <p:spPr>
          <a:xfrm>
            <a:off x="7286854" y="5657393"/>
            <a:ext cx="4219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Resta aggiornato sulle nuove funzionalità in arrivo e sugli sviluppi futuri della piattaforma.</a:t>
            </a:r>
            <a:endParaRPr lang="en-US" sz="1100" dirty="0"/>
          </a:p>
        </p:txBody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0">
            <a:alphaModFix amt="20000"/>
          </a:blip>
          <a:srcRect l="-57" r="-57"/>
          <a:stretch/>
        </p:blipFill>
        <p:spPr>
          <a:xfrm>
            <a:off x="11487607" y="6172200"/>
            <a:ext cx="400507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438705" y="1524305"/>
            <a:ext cx="219456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5486400" y="1524305"/>
            <a:ext cx="219456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8534095" y="1524305"/>
            <a:ext cx="219456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3812134"/>
            <a:ext cx="2438705" cy="1762049"/>
          </a:xfrm>
          <a:prstGeom prst="roundRect">
            <a:avLst>
              <a:gd name="adj" fmla="val 336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5"/>
          <p:cNvSpPr txBox="1"/>
          <p:nvPr/>
        </p:nvSpPr>
        <p:spPr>
          <a:xfrm>
            <a:off x="720547" y="4003243"/>
            <a:ext cx="213969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 Libreria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724205" y="4349801"/>
            <a:ext cx="2134210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Crea una nuova Libreria Documenti nel sito e nominala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"Materiali di Progetto"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Questa sarà la base per l'esercizio. 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5238" y="2431390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86991" y="246979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8"/>
          <p:cNvSpPr txBox="1"/>
          <p:nvPr/>
        </p:nvSpPr>
        <p:spPr>
          <a:xfrm>
            <a:off x="1948586" y="246979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19733" y="2735885"/>
            <a:ext cx="533095" cy="5330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44545" y="3812134"/>
            <a:ext cx="2438705" cy="17145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0"/>
          <p:cNvSpPr txBox="1"/>
          <p:nvPr/>
        </p:nvSpPr>
        <p:spPr>
          <a:xfrm>
            <a:off x="3593592" y="4003243"/>
            <a:ext cx="213969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Aggiungi Colonne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3596335" y="4349801"/>
            <a:ext cx="2134210" cy="991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Configura le colonne personalizzate: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Cliente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(Scelta),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Progetto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(Testo),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Stato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(Scelta) e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Scadenza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(Data). </a:t>
            </a:r>
            <a:endParaRPr lang="en-US" sz="10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8282" y="2431390"/>
            <a:ext cx="114300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59122" y="246979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3"/>
          <p:cNvSpPr txBox="1"/>
          <p:nvPr/>
        </p:nvSpPr>
        <p:spPr>
          <a:xfrm>
            <a:off x="4821631" y="246979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92778" y="2735885"/>
            <a:ext cx="533095" cy="53309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316675" y="3812134"/>
            <a:ext cx="2438705" cy="1762049"/>
          </a:xfrm>
          <a:prstGeom prst="roundRect">
            <a:avLst>
              <a:gd name="adj" fmla="val 336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15"/>
          <p:cNvSpPr txBox="1"/>
          <p:nvPr/>
        </p:nvSpPr>
        <p:spPr>
          <a:xfrm>
            <a:off x="6466637" y="4003243"/>
            <a:ext cx="213969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Carica &amp; Tagga</a:t>
            </a:r>
            <a:endParaRPr lang="en-US" sz="1300" dirty="0"/>
          </a:p>
        </p:txBody>
      </p:sp>
      <p:sp>
        <p:nvSpPr>
          <p:cNvPr id="25" name="Text 16"/>
          <p:cNvSpPr txBox="1"/>
          <p:nvPr/>
        </p:nvSpPr>
        <p:spPr>
          <a:xfrm>
            <a:off x="6469380" y="4349801"/>
            <a:ext cx="2134210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Carica 3-5 file di prova. Seleziona ogni file e compila i campi dei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metadati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appena creati tramite il pannello dettagli. </a:t>
            </a:r>
            <a:endParaRPr lang="en-US" sz="10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0413" y="2431390"/>
            <a:ext cx="1143000" cy="11430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732166" y="246979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18"/>
          <p:cNvSpPr txBox="1"/>
          <p:nvPr/>
        </p:nvSpPr>
        <p:spPr>
          <a:xfrm>
            <a:off x="7693762" y="246979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265822" y="2735885"/>
            <a:ext cx="533095" cy="5330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189720" y="3812134"/>
            <a:ext cx="2438705" cy="1762049"/>
          </a:xfrm>
          <a:prstGeom prst="roundRect">
            <a:avLst>
              <a:gd name="adj" fmla="val 336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0"/>
          <p:cNvSpPr txBox="1"/>
          <p:nvPr/>
        </p:nvSpPr>
        <p:spPr>
          <a:xfrm>
            <a:off x="9338767" y="4003243"/>
            <a:ext cx="213969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 Viste</a:t>
            </a:r>
            <a:endParaRPr lang="en-US" sz="1300" dirty="0"/>
          </a:p>
        </p:txBody>
      </p:sp>
      <p:sp>
        <p:nvSpPr>
          <p:cNvPr id="32" name="Text 21"/>
          <p:cNvSpPr txBox="1"/>
          <p:nvPr/>
        </p:nvSpPr>
        <p:spPr>
          <a:xfrm>
            <a:off x="9341510" y="4349801"/>
            <a:ext cx="2134210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Salva una nuova vista personalizzata che mostri solo i file con </a:t>
            </a:r>
            <a:r>
              <a:rPr lang="en-US" sz="1000" i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"Stato = In corso"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 raggruppa visualmente per </a:t>
            </a:r>
            <a:r>
              <a:rPr lang="en-US" sz="1000" i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Cliente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</a:t>
            </a:r>
            <a:endParaRPr lang="en-US" sz="10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33458" y="2431390"/>
            <a:ext cx="1143000" cy="11430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605211" y="2469794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Text 23"/>
          <p:cNvSpPr txBox="1"/>
          <p:nvPr/>
        </p:nvSpPr>
        <p:spPr>
          <a:xfrm>
            <a:off x="10566806" y="2469794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137953" y="2735885"/>
            <a:ext cx="533095" cy="5330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26"/>
          <p:cNvSpPr txBox="1"/>
          <p:nvPr/>
        </p:nvSpPr>
        <p:spPr>
          <a:xfrm>
            <a:off x="571500" y="171907"/>
            <a:ext cx="63916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Esercitazione Pratica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571500" y="400507"/>
            <a:ext cx="69631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Esercitazione Guidata 2: Libreria &amp; Metadati</a:t>
            </a:r>
            <a:endParaRPr lang="en-US" sz="2200" dirty="0"/>
          </a:p>
        </p:txBody>
      </p:sp>
      <p:sp>
        <p:nvSpPr>
          <p:cNvPr id="41" name="Shape 28"/>
          <p:cNvSpPr/>
          <p:nvPr/>
        </p:nvSpPr>
        <p:spPr>
          <a:xfrm>
            <a:off x="9248242" y="276149"/>
            <a:ext cx="2381098" cy="362102"/>
          </a:xfrm>
          <a:prstGeom prst="roundRect">
            <a:avLst>
              <a:gd name="adj" fmla="val 5316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448495" y="381305"/>
            <a:ext cx="152705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9715500" y="276149"/>
            <a:ext cx="17830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65F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 stimato: 20 Minuti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BF3E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438705" y="1524305"/>
            <a:ext cx="219456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5486400" y="1524305"/>
            <a:ext cx="219456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8534095" y="1524305"/>
            <a:ext cx="219456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3635654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5"/>
          <p:cNvSpPr txBox="1"/>
          <p:nvPr/>
        </p:nvSpPr>
        <p:spPr>
          <a:xfrm>
            <a:off x="720547" y="382585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Creazione Lista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24205" y="4196182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 una nuova lista vuota denominata "Richieste IT" per gestire i ticket di supporto interni.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5238" y="2254910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86991" y="229240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8"/>
          <p:cNvSpPr txBox="1"/>
          <p:nvPr/>
        </p:nvSpPr>
        <p:spPr>
          <a:xfrm>
            <a:off x="1948586" y="229240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19733" y="2559406"/>
            <a:ext cx="533095" cy="5330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44545" y="3635654"/>
            <a:ext cx="2438705" cy="2115007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0"/>
          <p:cNvSpPr txBox="1"/>
          <p:nvPr/>
        </p:nvSpPr>
        <p:spPr>
          <a:xfrm>
            <a:off x="3596335" y="3825850"/>
            <a:ext cx="21342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Configurazione Colonne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3596335" y="447050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Aggiungi le colonne: Titolo (testo), Priorità (scelta), Richiedente (persona), Scadenza (data) e Stato (scelta).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8282" y="2254910"/>
            <a:ext cx="114300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59122" y="229240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3"/>
          <p:cNvSpPr txBox="1"/>
          <p:nvPr/>
        </p:nvSpPr>
        <p:spPr>
          <a:xfrm>
            <a:off x="4821631" y="229240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92778" y="2559406"/>
            <a:ext cx="533095" cy="53309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316675" y="3635654"/>
            <a:ext cx="2438705" cy="1895551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15"/>
          <p:cNvSpPr txBox="1"/>
          <p:nvPr/>
        </p:nvSpPr>
        <p:spPr>
          <a:xfrm>
            <a:off x="6469380" y="3825850"/>
            <a:ext cx="21342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Personalizzazione Form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6469380" y="4470502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 il modulo di inserimento: riordina i campi in modo logico e imposta quelli obbligatori.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0413" y="2254910"/>
            <a:ext cx="1143000" cy="11430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732166" y="229240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18"/>
          <p:cNvSpPr txBox="1"/>
          <p:nvPr/>
        </p:nvSpPr>
        <p:spPr>
          <a:xfrm>
            <a:off x="7693762" y="229240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265822" y="2559406"/>
            <a:ext cx="533095" cy="5330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189720" y="363565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0"/>
          <p:cNvSpPr txBox="1"/>
          <p:nvPr/>
        </p:nvSpPr>
        <p:spPr>
          <a:xfrm>
            <a:off x="9184234" y="3825850"/>
            <a:ext cx="24487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Attivazione Notifiche</a:t>
            </a:r>
            <a:endParaRPr lang="en-US" sz="1400" dirty="0"/>
          </a:p>
        </p:txBody>
      </p:sp>
      <p:sp>
        <p:nvSpPr>
          <p:cNvPr id="32" name="Text 21"/>
          <p:cNvSpPr txBox="1"/>
          <p:nvPr/>
        </p:nvSpPr>
        <p:spPr>
          <a:xfrm>
            <a:off x="9341510" y="419618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Imposta avvisi automatici (Alert Me) per ricevere notifiche quando viene creato un nuovo elemento o modificato.</a:t>
            </a:r>
            <a:endParaRPr lang="en-US" sz="11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33458" y="2254910"/>
            <a:ext cx="1143000" cy="11430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605211" y="229240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Text 23"/>
          <p:cNvSpPr txBox="1"/>
          <p:nvPr/>
        </p:nvSpPr>
        <p:spPr>
          <a:xfrm>
            <a:off x="10566806" y="229240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 t="-12" b="-12"/>
          <a:stretch/>
        </p:blipFill>
        <p:spPr>
          <a:xfrm>
            <a:off x="10171786" y="2559406"/>
            <a:ext cx="466344" cy="5330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26"/>
          <p:cNvSpPr txBox="1"/>
          <p:nvPr/>
        </p:nvSpPr>
        <p:spPr>
          <a:xfrm>
            <a:off x="571500" y="152705"/>
            <a:ext cx="49816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05966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Esercitazione Guidata 3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571500" y="381305"/>
            <a:ext cx="635599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Creare una Lista di Richieste</a:t>
            </a:r>
            <a:endParaRPr lang="en-US" sz="2700" dirty="0"/>
          </a:p>
        </p:txBody>
      </p:sp>
      <p:sp>
        <p:nvSpPr>
          <p:cNvPr id="41" name="Shape 28"/>
          <p:cNvSpPr/>
          <p:nvPr/>
        </p:nvSpPr>
        <p:spPr>
          <a:xfrm>
            <a:off x="9421978" y="276149"/>
            <a:ext cx="2200046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22231" y="381305"/>
            <a:ext cx="152705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9889236" y="276149"/>
            <a:ext cx="159562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 Stimato: 15 min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438705" y="1524305"/>
            <a:ext cx="219456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5486400" y="1524305"/>
            <a:ext cx="219456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8534095" y="1524305"/>
            <a:ext cx="219456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377281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5"/>
          <p:cNvSpPr txBox="1"/>
          <p:nvPr/>
        </p:nvSpPr>
        <p:spPr>
          <a:xfrm>
            <a:off x="72054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Layout Pagina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24205" y="433334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 una nuova pagina e imposta un layout a due colonne per organizzare i contenuti in modo strutturato.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5238" y="2392070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86991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8"/>
          <p:cNvSpPr txBox="1"/>
          <p:nvPr/>
        </p:nvSpPr>
        <p:spPr>
          <a:xfrm>
            <a:off x="1948586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19733" y="2696566"/>
            <a:ext cx="533095" cy="5330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44545" y="377281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0"/>
          <p:cNvSpPr txBox="1"/>
          <p:nvPr/>
        </p:nvSpPr>
        <p:spPr>
          <a:xfrm>
            <a:off x="3593592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Webpart Base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3596335" y="433334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Aggiungi le webpart essenziali: un blocco di Testo introduttivo, Link Rapidi per risorse utili e Notizie in evidenza.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8282" y="2392070"/>
            <a:ext cx="114300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59122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3"/>
          <p:cNvSpPr txBox="1"/>
          <p:nvPr/>
        </p:nvSpPr>
        <p:spPr>
          <a:xfrm>
            <a:off x="4821631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 l="-10" r="-10"/>
          <a:stretch/>
        </p:blipFill>
        <p:spPr>
          <a:xfrm>
            <a:off x="4359859" y="2696566"/>
            <a:ext cx="599846" cy="53309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316675" y="3772814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15"/>
          <p:cNvSpPr txBox="1"/>
          <p:nvPr/>
        </p:nvSpPr>
        <p:spPr>
          <a:xfrm>
            <a:off x="646663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Contenuti Dinamici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6469380" y="4333342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Inserisci una webpart Libreria Documenti o Lista e configura una vista filtrata per mostrare solo i dati rilevanti.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0413" y="2392070"/>
            <a:ext cx="1143000" cy="11430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732166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18"/>
          <p:cNvSpPr txBox="1"/>
          <p:nvPr/>
        </p:nvSpPr>
        <p:spPr>
          <a:xfrm>
            <a:off x="7693762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265822" y="2696566"/>
            <a:ext cx="533095" cy="5330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189720" y="3772814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0"/>
          <p:cNvSpPr txBox="1"/>
          <p:nvPr/>
        </p:nvSpPr>
        <p:spPr>
          <a:xfrm>
            <a:off x="933876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Pubblicazione</a:t>
            </a:r>
            <a:endParaRPr lang="en-US" sz="1400" dirty="0"/>
          </a:p>
        </p:txBody>
      </p:sp>
      <p:sp>
        <p:nvSpPr>
          <p:cNvPr id="32" name="Text 21"/>
          <p:cNvSpPr txBox="1"/>
          <p:nvPr/>
        </p:nvSpPr>
        <p:spPr>
          <a:xfrm>
            <a:off x="9341510" y="4333342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Salva la bozza, clicca su Pubblica per renderla visibile al team e usa la funzione Condividi per inviare il link.</a:t>
            </a:r>
            <a:endParaRPr lang="en-US" sz="11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33458" y="2392070"/>
            <a:ext cx="1143000" cy="11430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605211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Text 23"/>
          <p:cNvSpPr txBox="1"/>
          <p:nvPr/>
        </p:nvSpPr>
        <p:spPr>
          <a:xfrm>
            <a:off x="10566806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137953" y="2696566"/>
            <a:ext cx="533095" cy="5330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26"/>
          <p:cNvSpPr txBox="1"/>
          <p:nvPr/>
        </p:nvSpPr>
        <p:spPr>
          <a:xfrm>
            <a:off x="571500" y="152705"/>
            <a:ext cx="76297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Esercitazione Pratica Guidata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571500" y="381305"/>
            <a:ext cx="912022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Esercitazione 4: Creare una Pagina Moderna</a:t>
            </a:r>
            <a:endParaRPr lang="en-US" sz="2700" dirty="0"/>
          </a:p>
        </p:txBody>
      </p:sp>
      <p:sp>
        <p:nvSpPr>
          <p:cNvPr id="41" name="Shape 28"/>
          <p:cNvSpPr/>
          <p:nvPr/>
        </p:nvSpPr>
        <p:spPr>
          <a:xfrm>
            <a:off x="9441180" y="276149"/>
            <a:ext cx="2180844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rcRect t="-43" b="-43"/>
          <a:stretch/>
        </p:blipFill>
        <p:spPr>
          <a:xfrm>
            <a:off x="9641434" y="381305"/>
            <a:ext cx="133502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9889236" y="276149"/>
            <a:ext cx="159562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 Stimato: 15 min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438705" y="1524305"/>
            <a:ext cx="219456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5486400" y="1524305"/>
            <a:ext cx="219456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8534095" y="1524305"/>
            <a:ext cx="219456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363565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5"/>
          <p:cNvSpPr txBox="1"/>
          <p:nvPr/>
        </p:nvSpPr>
        <p:spPr>
          <a:xfrm>
            <a:off x="615391" y="3825850"/>
            <a:ext cx="235000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 Contenuti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24205" y="419618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Individua le cartelle o le librerie specifiche che contengono dati sensibili e richiedono protezione o restrizioni di accesso speciali.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5238" y="2254910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86991" y="229240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8"/>
          <p:cNvSpPr txBox="1"/>
          <p:nvPr/>
        </p:nvSpPr>
        <p:spPr>
          <a:xfrm>
            <a:off x="1948586" y="229240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19733" y="2559406"/>
            <a:ext cx="533095" cy="5330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44545" y="363565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0"/>
          <p:cNvSpPr txBox="1"/>
          <p:nvPr/>
        </p:nvSpPr>
        <p:spPr>
          <a:xfrm>
            <a:off x="3593592" y="382585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Gestione Gruppi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3596335" y="419618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Utilizza i gruppi standard (Visitatori, Membri, Proprietari) per mappare i livelli di accesso: Lettura, Modifica, Controllo completo.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8282" y="2254910"/>
            <a:ext cx="114300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59122" y="229240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3"/>
          <p:cNvSpPr txBox="1"/>
          <p:nvPr/>
        </p:nvSpPr>
        <p:spPr>
          <a:xfrm>
            <a:off x="4821631" y="229240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 l="-17" r="-17"/>
          <a:stretch/>
        </p:blipFill>
        <p:spPr>
          <a:xfrm>
            <a:off x="4326026" y="2559406"/>
            <a:ext cx="666598" cy="53309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316675" y="3635654"/>
            <a:ext cx="2438705" cy="2115007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15"/>
          <p:cNvSpPr txBox="1"/>
          <p:nvPr/>
        </p:nvSpPr>
        <p:spPr>
          <a:xfrm>
            <a:off x="6469380" y="3825850"/>
            <a:ext cx="21342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Interrompi Ereditarietà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6469380" y="447050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Nelle impostazioni avanzate dei permessi, interrompi l'ereditarietà dal sito padre solo per gli elementi che necessitano eccezioni.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0413" y="2254910"/>
            <a:ext cx="1143000" cy="11430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732166" y="229240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18"/>
          <p:cNvSpPr txBox="1"/>
          <p:nvPr/>
        </p:nvSpPr>
        <p:spPr>
          <a:xfrm>
            <a:off x="7693762" y="229240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 l="-17" r="-17"/>
          <a:stretch/>
        </p:blipFill>
        <p:spPr>
          <a:xfrm>
            <a:off x="7199071" y="2559406"/>
            <a:ext cx="666598" cy="5330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189720" y="363565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0"/>
          <p:cNvSpPr txBox="1"/>
          <p:nvPr/>
        </p:nvSpPr>
        <p:spPr>
          <a:xfrm>
            <a:off x="9338767" y="382585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 Accesso</a:t>
            </a:r>
            <a:endParaRPr lang="en-US" sz="1400" dirty="0"/>
          </a:p>
        </p:txBody>
      </p:sp>
      <p:sp>
        <p:nvSpPr>
          <p:cNvPr id="32" name="Text 21"/>
          <p:cNvSpPr txBox="1"/>
          <p:nvPr/>
        </p:nvSpPr>
        <p:spPr>
          <a:xfrm>
            <a:off x="9341510" y="419618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 la funzione "Controlla autorizzazioni" o accedi con un utente di test per garantire il rispetto del principio del privilegio minimo.</a:t>
            </a:r>
            <a:endParaRPr lang="en-US" sz="11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33458" y="2254910"/>
            <a:ext cx="1143000" cy="11430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605211" y="229240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Text 23"/>
          <p:cNvSpPr txBox="1"/>
          <p:nvPr/>
        </p:nvSpPr>
        <p:spPr>
          <a:xfrm>
            <a:off x="10566806" y="229240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 l="-17" r="-17"/>
          <a:stretch/>
        </p:blipFill>
        <p:spPr>
          <a:xfrm>
            <a:off x="10071202" y="2559406"/>
            <a:ext cx="666598" cy="5330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26"/>
          <p:cNvSpPr txBox="1"/>
          <p:nvPr/>
        </p:nvSpPr>
        <p:spPr>
          <a:xfrm>
            <a:off x="571500" y="152705"/>
            <a:ext cx="53538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Esercitazione Guidata 5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571500" y="381305"/>
            <a:ext cx="635599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Configurare Permessi e Gruppi</a:t>
            </a:r>
            <a:endParaRPr lang="en-US" sz="2700" dirty="0"/>
          </a:p>
        </p:txBody>
      </p:sp>
      <p:sp>
        <p:nvSpPr>
          <p:cNvPr id="41" name="Shape 28"/>
          <p:cNvSpPr/>
          <p:nvPr/>
        </p:nvSpPr>
        <p:spPr>
          <a:xfrm>
            <a:off x="9240926" y="276149"/>
            <a:ext cx="2381098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441180" y="381305"/>
            <a:ext cx="152705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9708185" y="276149"/>
            <a:ext cx="178308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 Stimato: 15 Minuti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438705" y="1524305"/>
            <a:ext cx="219456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5486400" y="1524305"/>
            <a:ext cx="219456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8534095" y="1524305"/>
            <a:ext cx="219456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3664001"/>
            <a:ext cx="2438705" cy="205740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5"/>
          <p:cNvSpPr txBox="1"/>
          <p:nvPr/>
        </p:nvSpPr>
        <p:spPr>
          <a:xfrm>
            <a:off x="720547" y="38551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Apri/Crea Team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24205" y="4224528"/>
            <a:ext cx="2134210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Apri Microsoft Teams e seleziona un Team esistente o creane uno nuovo assicurandoti che sia collegato al tuo sito SharePoint.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5238" y="2283257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86991" y="2321662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8"/>
          <p:cNvSpPr txBox="1"/>
          <p:nvPr/>
        </p:nvSpPr>
        <p:spPr>
          <a:xfrm>
            <a:off x="1948586" y="2321662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 t="-12" b="-12"/>
          <a:stretch/>
        </p:blipFill>
        <p:spPr>
          <a:xfrm>
            <a:off x="1553566" y="2587752"/>
            <a:ext cx="466344" cy="5330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44545" y="3664001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0"/>
          <p:cNvSpPr txBox="1"/>
          <p:nvPr/>
        </p:nvSpPr>
        <p:spPr>
          <a:xfrm>
            <a:off x="3593592" y="38551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Aggiungi Scheda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3596335" y="4224528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Nel canale Generale, clicca su "+" e aggiungi una scheda "Document Library" (SharePoint). Seleziona la libreria del sito.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8282" y="2283257"/>
            <a:ext cx="114300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59122" y="2321662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3"/>
          <p:cNvSpPr txBox="1"/>
          <p:nvPr/>
        </p:nvSpPr>
        <p:spPr>
          <a:xfrm>
            <a:off x="4821631" y="2321662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92778" y="2587752"/>
            <a:ext cx="533095" cy="53309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316675" y="3664001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15"/>
          <p:cNvSpPr txBox="1"/>
          <p:nvPr/>
        </p:nvSpPr>
        <p:spPr>
          <a:xfrm>
            <a:off x="6466637" y="38551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Sposta File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6469380" y="4224528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Prendi un file dalla tua chat privata o OneDrive e spostalo (o copialo) nella scheda File del canale appena configurato.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0413" y="2283257"/>
            <a:ext cx="1143000" cy="11430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732166" y="2321662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18"/>
          <p:cNvSpPr txBox="1"/>
          <p:nvPr/>
        </p:nvSpPr>
        <p:spPr>
          <a:xfrm>
            <a:off x="7693762" y="2321662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265822" y="2587752"/>
            <a:ext cx="533095" cy="5330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189720" y="3664001"/>
            <a:ext cx="2438705" cy="2057400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0"/>
          <p:cNvSpPr txBox="1"/>
          <p:nvPr/>
        </p:nvSpPr>
        <p:spPr>
          <a:xfrm>
            <a:off x="9338767" y="38551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 &amp; Test</a:t>
            </a:r>
            <a:endParaRPr lang="en-US" sz="1400" dirty="0"/>
          </a:p>
        </p:txBody>
      </p:sp>
      <p:sp>
        <p:nvSpPr>
          <p:cNvPr id="32" name="Text 21"/>
          <p:cNvSpPr txBox="1"/>
          <p:nvPr/>
        </p:nvSpPr>
        <p:spPr>
          <a:xfrm>
            <a:off x="9341510" y="4224528"/>
            <a:ext cx="2134210" cy="130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Apri il file contemporaneamente con un collega per testare il co-authoring in tempo reale e controlla la cronologia versioni.</a:t>
            </a:r>
            <a:endParaRPr lang="en-US" sz="11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33458" y="2283257"/>
            <a:ext cx="1143000" cy="11430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605211" y="2321662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Text 23"/>
          <p:cNvSpPr txBox="1"/>
          <p:nvPr/>
        </p:nvSpPr>
        <p:spPr>
          <a:xfrm>
            <a:off x="10566806" y="2321662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 l="-17" r="-17"/>
          <a:stretch/>
        </p:blipFill>
        <p:spPr>
          <a:xfrm>
            <a:off x="10071202" y="2587752"/>
            <a:ext cx="666598" cy="5330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6264A7"/>
          </a:solidFill>
          <a:ln w="12700">
            <a:solidFill>
              <a:srgbClr val="6264A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26"/>
          <p:cNvSpPr txBox="1"/>
          <p:nvPr/>
        </p:nvSpPr>
        <p:spPr>
          <a:xfrm>
            <a:off x="571500" y="152705"/>
            <a:ext cx="52011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ESERCITAZIONE GUIDATA 6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571500" y="381305"/>
            <a:ext cx="61438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Collegare SharePoint a Teams</a:t>
            </a:r>
            <a:endParaRPr lang="en-US" sz="2700" dirty="0"/>
          </a:p>
        </p:txBody>
      </p:sp>
      <p:sp>
        <p:nvSpPr>
          <p:cNvPr id="41" name="Shape 28"/>
          <p:cNvSpPr/>
          <p:nvPr/>
        </p:nvSpPr>
        <p:spPr>
          <a:xfrm>
            <a:off x="9429293" y="276149"/>
            <a:ext cx="2200046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629546" y="381305"/>
            <a:ext cx="152705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9895637" y="276149"/>
            <a:ext cx="159562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Tempo stimato: 15 min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47395"/>
            <a:ext cx="12191695" cy="621060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028700"/>
            <a:ext cx="4972507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61695" y="1218895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857707" y="1343254"/>
            <a:ext cx="286207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29207" y="1218895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Area Centralizzata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429207" y="1517904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Unico punto di accesso per tutti i file del team, accessibile da ovunque e da qualsiasi dispositivo.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" y="2167824"/>
            <a:ext cx="4972507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761695" y="2358933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6054" y="2482377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29207" y="2358933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Versioni Automatiche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429207" y="2657942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Cronologia completa delle modifiche. Ripristina versioni precedenti senza sovrascrivere o perdere dati.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52297" y="3312807"/>
            <a:ext cx="4972507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742492" y="3503002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880567" y="3627360"/>
            <a:ext cx="200254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10004" y="3503002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Permessi Granulari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410004" y="3802011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Controlla chi può vedere o modificare. Gestisci accessi a livello di libreria, cartella o singolo file.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71500" y="4438954"/>
            <a:ext cx="4972507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761695" y="4630064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6054" y="4753508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29207" y="4630064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Filtri e Viste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1429207" y="4929073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Organizza i dati con metadati personalizzati e crea viste dinamiche (es. "Per Cliente", "In Scadenza").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71499" y="5657849"/>
            <a:ext cx="4972507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0"/>
          <p:cNvSpPr/>
          <p:nvPr/>
        </p:nvSpPr>
        <p:spPr>
          <a:xfrm>
            <a:off x="761695" y="5916342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857707" y="6039786"/>
            <a:ext cx="286207" cy="2286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429207" y="5916342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Sync OneDrive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1429207" y="6215351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Sincronizza i file sul PC per lavorare offline. Le modifiche si aggiornano automaticamente online.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639105" y="2563063"/>
            <a:ext cx="1904695" cy="1904695"/>
          </a:xfrm>
          <a:prstGeom prst="roundRect">
            <a:avLst>
              <a:gd name="adj" fmla="val 4801"/>
            </a:avLst>
          </a:prstGeom>
          <a:solidFill>
            <a:srgbClr val="FFEBD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4"/>
          <p:cNvSpPr/>
          <p:nvPr/>
        </p:nvSpPr>
        <p:spPr>
          <a:xfrm>
            <a:off x="9239098" y="3477463"/>
            <a:ext cx="2857500" cy="2857500"/>
          </a:xfrm>
          <a:prstGeom prst="ellipse">
            <a:avLst/>
          </a:prstGeom>
          <a:solidFill>
            <a:srgbClr val="CFE6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Shape 25"/>
          <p:cNvSpPr/>
          <p:nvPr/>
        </p:nvSpPr>
        <p:spPr>
          <a:xfrm>
            <a:off x="0" y="0"/>
            <a:ext cx="12191695" cy="6473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3" name="Shape 26"/>
          <p:cNvSpPr/>
          <p:nvPr/>
        </p:nvSpPr>
        <p:spPr>
          <a:xfrm>
            <a:off x="0" y="60899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27"/>
          <p:cNvSpPr txBox="1"/>
          <p:nvPr/>
        </p:nvSpPr>
        <p:spPr>
          <a:xfrm>
            <a:off x="571500" y="0"/>
            <a:ext cx="34390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Cuore della Collaborazione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571500" y="228600"/>
            <a:ext cx="40178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Libreria Documenti</a:t>
            </a:r>
            <a:endParaRPr lang="en-US" sz="2700" dirty="0"/>
          </a:p>
        </p:txBody>
      </p:sp>
      <p:sp>
        <p:nvSpPr>
          <p:cNvPr id="36" name="Shape 29"/>
          <p:cNvSpPr/>
          <p:nvPr/>
        </p:nvSpPr>
        <p:spPr>
          <a:xfrm>
            <a:off x="10077602" y="123444"/>
            <a:ext cx="1543507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rcRect l="-33" r="-33"/>
          <a:stretch/>
        </p:blipFill>
        <p:spPr>
          <a:xfrm>
            <a:off x="10277856" y="228600"/>
            <a:ext cx="171907" cy="152705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0563149" y="123444"/>
            <a:ext cx="9144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File</a:t>
            </a:r>
            <a:endParaRPr lang="en-US" sz="1000" dirty="0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rcRect t="-6" b="-6"/>
          <a:stretch/>
        </p:blipFill>
        <p:spPr>
          <a:xfrm>
            <a:off x="5924398" y="2848356"/>
            <a:ext cx="5695798" cy="3010205"/>
          </a:xfrm>
          <a:prstGeom prst="rect">
            <a:avLst/>
          </a:prstGeom>
        </p:spPr>
      </p:pic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rcRect t="-80" b="-80"/>
          <a:stretch/>
        </p:blipFill>
        <p:spPr>
          <a:xfrm>
            <a:off x="6029554" y="2953512"/>
            <a:ext cx="5486400" cy="286207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6172200" y="3048610"/>
            <a:ext cx="95098" cy="9509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32"/>
          <p:cNvSpPr/>
          <p:nvPr/>
        </p:nvSpPr>
        <p:spPr>
          <a:xfrm>
            <a:off x="6324905" y="3048610"/>
            <a:ext cx="95098" cy="9509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Shape 33"/>
          <p:cNvSpPr/>
          <p:nvPr/>
        </p:nvSpPr>
        <p:spPr>
          <a:xfrm>
            <a:off x="6476695" y="3048610"/>
            <a:ext cx="95098" cy="95098"/>
          </a:xfrm>
          <a:prstGeom prst="ellipse">
            <a:avLst/>
          </a:prstGeom>
          <a:solidFill>
            <a:srgbClr val="28C9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Shape 34"/>
          <p:cNvSpPr/>
          <p:nvPr/>
        </p:nvSpPr>
        <p:spPr>
          <a:xfrm>
            <a:off x="6029554" y="3286354"/>
            <a:ext cx="5486400" cy="2467051"/>
          </a:xfrm>
          <a:prstGeom prst="roundRect">
            <a:avLst>
              <a:gd name="adj" fmla="val 57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Shape 35"/>
          <p:cNvSpPr/>
          <p:nvPr/>
        </p:nvSpPr>
        <p:spPr>
          <a:xfrm>
            <a:off x="6038698" y="3296412"/>
            <a:ext cx="5467198" cy="428854"/>
          </a:xfrm>
          <a:prstGeom prst="roundRect">
            <a:avLst>
              <a:gd name="adj" fmla="val 18953"/>
            </a:avLst>
          </a:prstGeom>
          <a:solidFill>
            <a:srgbClr val="F9FAF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6" name="Shape 36"/>
          <p:cNvSpPr/>
          <p:nvPr/>
        </p:nvSpPr>
        <p:spPr>
          <a:xfrm>
            <a:off x="6038698" y="3716122"/>
            <a:ext cx="5467198" cy="9144"/>
          </a:xfrm>
          <a:prstGeom prst="roundRect">
            <a:avLst>
              <a:gd name="adj" fmla="val 888889"/>
            </a:avLst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37"/>
          <p:cNvSpPr txBox="1"/>
          <p:nvPr/>
        </p:nvSpPr>
        <p:spPr>
          <a:xfrm>
            <a:off x="6305702" y="3410712"/>
            <a:ext cx="50474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Nuovo</a:t>
            </a:r>
            <a:endParaRPr lang="en-US" sz="1000" dirty="0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1"/>
          <a:srcRect t="-1100" b="-1100"/>
          <a:stretch/>
        </p:blipFill>
        <p:spPr>
          <a:xfrm>
            <a:off x="6152998" y="3439058"/>
            <a:ext cx="114300" cy="133502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7052767" y="3410712"/>
            <a:ext cx="48554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Carica</a:t>
            </a:r>
            <a:endParaRPr lang="en-US" sz="1000" dirty="0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880860" y="3439058"/>
            <a:ext cx="133502" cy="133502"/>
          </a:xfrm>
          <a:prstGeom prst="rect">
            <a:avLst/>
          </a:prstGeom>
        </p:spPr>
      </p:pic>
      <p:sp>
        <p:nvSpPr>
          <p:cNvPr id="51" name="Text 39"/>
          <p:cNvSpPr txBox="1"/>
          <p:nvPr/>
        </p:nvSpPr>
        <p:spPr>
          <a:xfrm>
            <a:off x="7776972" y="3410712"/>
            <a:ext cx="6382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Modifica</a:t>
            </a:r>
            <a:endParaRPr lang="en-US" sz="1000" dirty="0"/>
          </a:p>
        </p:txBody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7605065" y="3439058"/>
            <a:ext cx="133502" cy="133502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8635594" y="3410712"/>
            <a:ext cx="6766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Condividi</a:t>
            </a:r>
            <a:endParaRPr lang="en-US" sz="1000" dirty="0"/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14"/>
          <a:srcRect t="-1100" b="-1100"/>
          <a:stretch/>
        </p:blipFill>
        <p:spPr>
          <a:xfrm>
            <a:off x="8482889" y="3439058"/>
            <a:ext cx="114300" cy="133502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10336378" y="3410712"/>
            <a:ext cx="124175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CA3A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Tutti i documenti</a:t>
            </a:r>
            <a:endParaRPr lang="en-US" sz="1000" dirty="0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0168128" y="3436315"/>
            <a:ext cx="133502" cy="133502"/>
          </a:xfrm>
          <a:prstGeom prst="rect">
            <a:avLst/>
          </a:prstGeom>
        </p:spPr>
      </p:pic>
      <p:sp>
        <p:nvSpPr>
          <p:cNvPr id="57" name="Shape 42"/>
          <p:cNvSpPr/>
          <p:nvPr/>
        </p:nvSpPr>
        <p:spPr>
          <a:xfrm>
            <a:off x="6038698" y="4030675"/>
            <a:ext cx="5467198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8" name="Text 43"/>
          <p:cNvSpPr txBox="1"/>
          <p:nvPr/>
        </p:nvSpPr>
        <p:spPr>
          <a:xfrm>
            <a:off x="6191402" y="3801161"/>
            <a:ext cx="268467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Nome</a:t>
            </a:r>
            <a:endParaRPr lang="en-US" sz="900" dirty="0"/>
          </a:p>
        </p:txBody>
      </p:sp>
      <p:sp>
        <p:nvSpPr>
          <p:cNvPr id="59" name="Text 44"/>
          <p:cNvSpPr txBox="1"/>
          <p:nvPr/>
        </p:nvSpPr>
        <p:spPr>
          <a:xfrm>
            <a:off x="8772754" y="3801161"/>
            <a:ext cx="1371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Modificato</a:t>
            </a:r>
            <a:endParaRPr lang="en-US" sz="900" dirty="0"/>
          </a:p>
        </p:txBody>
      </p:sp>
      <p:sp>
        <p:nvSpPr>
          <p:cNvPr id="60" name="Text 45"/>
          <p:cNvSpPr txBox="1"/>
          <p:nvPr/>
        </p:nvSpPr>
        <p:spPr>
          <a:xfrm>
            <a:off x="10062972" y="3801161"/>
            <a:ext cx="1371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Modificato da</a:t>
            </a:r>
            <a:endParaRPr lang="en-US" sz="900" dirty="0"/>
          </a:p>
        </p:txBody>
      </p:sp>
      <p:sp>
        <p:nvSpPr>
          <p:cNvPr id="61" name="Shape 46"/>
          <p:cNvSpPr/>
          <p:nvPr/>
        </p:nvSpPr>
        <p:spPr>
          <a:xfrm>
            <a:off x="6038698" y="4458614"/>
            <a:ext cx="54671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2" name="Image 13" descr="preencoded.png"/>
          <p:cNvPicPr>
            <a:picLocks noChangeAspect="1"/>
          </p:cNvPicPr>
          <p:nvPr/>
        </p:nvPicPr>
        <p:blipFill>
          <a:blip r:embed="rId16"/>
          <a:srcRect l="-1773" r="-1773"/>
          <a:stretch/>
        </p:blipFill>
        <p:spPr>
          <a:xfrm>
            <a:off x="6191402" y="4163263"/>
            <a:ext cx="133502" cy="171907"/>
          </a:xfrm>
          <a:prstGeom prst="rect">
            <a:avLst/>
          </a:prstGeom>
        </p:spPr>
      </p:pic>
      <p:sp>
        <p:nvSpPr>
          <p:cNvPr id="63" name="Text 47"/>
          <p:cNvSpPr txBox="1"/>
          <p:nvPr/>
        </p:nvSpPr>
        <p:spPr>
          <a:xfrm>
            <a:off x="6439205" y="4153205"/>
            <a:ext cx="23207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Proposta Commerciale Q1.docx</a:t>
            </a:r>
            <a:endParaRPr lang="en-US" sz="1000" dirty="0"/>
          </a:p>
        </p:txBody>
      </p:sp>
      <p:sp>
        <p:nvSpPr>
          <p:cNvPr id="64" name="Text 48"/>
          <p:cNvSpPr txBox="1"/>
          <p:nvPr/>
        </p:nvSpPr>
        <p:spPr>
          <a:xfrm>
            <a:off x="8772754" y="4172407"/>
            <a:ext cx="1371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 min fa</a:t>
            </a:r>
            <a:endParaRPr lang="en-US" sz="900" dirty="0"/>
          </a:p>
        </p:txBody>
      </p:sp>
      <p:sp>
        <p:nvSpPr>
          <p:cNvPr id="65" name="Shape 49"/>
          <p:cNvSpPr/>
          <p:nvPr/>
        </p:nvSpPr>
        <p:spPr>
          <a:xfrm>
            <a:off x="10062972" y="4153205"/>
            <a:ext cx="190195" cy="1901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6" name="Text 50"/>
          <p:cNvSpPr txBox="1"/>
          <p:nvPr/>
        </p:nvSpPr>
        <p:spPr>
          <a:xfrm>
            <a:off x="10025482" y="4153205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</a:t>
            </a:r>
            <a:endParaRPr lang="en-US" sz="900" dirty="0"/>
          </a:p>
        </p:txBody>
      </p:sp>
      <p:sp>
        <p:nvSpPr>
          <p:cNvPr id="67" name="Shape 51"/>
          <p:cNvSpPr/>
          <p:nvPr/>
        </p:nvSpPr>
        <p:spPr>
          <a:xfrm>
            <a:off x="6038698" y="4887468"/>
            <a:ext cx="54671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8" name="Image 14" descr="preencoded.png"/>
          <p:cNvPicPr>
            <a:picLocks noChangeAspect="1"/>
          </p:cNvPicPr>
          <p:nvPr/>
        </p:nvPicPr>
        <p:blipFill>
          <a:blip r:embed="rId17"/>
          <a:srcRect l="-1773" r="-1773"/>
          <a:stretch/>
        </p:blipFill>
        <p:spPr>
          <a:xfrm>
            <a:off x="6191402" y="4591202"/>
            <a:ext cx="133502" cy="171907"/>
          </a:xfrm>
          <a:prstGeom prst="rect">
            <a:avLst/>
          </a:prstGeom>
        </p:spPr>
      </p:pic>
      <p:sp>
        <p:nvSpPr>
          <p:cNvPr id="69" name="Text 52"/>
          <p:cNvSpPr txBox="1"/>
          <p:nvPr/>
        </p:nvSpPr>
        <p:spPr>
          <a:xfrm>
            <a:off x="6439205" y="4582058"/>
            <a:ext cx="128107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Budget 2024.xlsx</a:t>
            </a:r>
            <a:endParaRPr lang="en-US" sz="1000" dirty="0"/>
          </a:p>
        </p:txBody>
      </p:sp>
      <p:sp>
        <p:nvSpPr>
          <p:cNvPr id="70" name="Text 53"/>
          <p:cNvSpPr txBox="1"/>
          <p:nvPr/>
        </p:nvSpPr>
        <p:spPr>
          <a:xfrm>
            <a:off x="8772754" y="4601261"/>
            <a:ext cx="1371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Ieri</a:t>
            </a:r>
            <a:endParaRPr lang="en-US" sz="900" dirty="0"/>
          </a:p>
        </p:txBody>
      </p:sp>
      <p:sp>
        <p:nvSpPr>
          <p:cNvPr id="71" name="Shape 54"/>
          <p:cNvSpPr/>
          <p:nvPr/>
        </p:nvSpPr>
        <p:spPr>
          <a:xfrm>
            <a:off x="10062972" y="4582058"/>
            <a:ext cx="190195" cy="190195"/>
          </a:xfrm>
          <a:prstGeom prst="ellipse">
            <a:avLst/>
          </a:prstGeom>
          <a:solidFill>
            <a:srgbClr val="FCE7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2" name="Text 55"/>
          <p:cNvSpPr txBox="1"/>
          <p:nvPr/>
        </p:nvSpPr>
        <p:spPr>
          <a:xfrm>
            <a:off x="10025482" y="4582058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B277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</a:t>
            </a:r>
            <a:endParaRPr lang="en-US" sz="900" dirty="0"/>
          </a:p>
        </p:txBody>
      </p:sp>
      <p:sp>
        <p:nvSpPr>
          <p:cNvPr id="73" name="Shape 56"/>
          <p:cNvSpPr/>
          <p:nvPr/>
        </p:nvSpPr>
        <p:spPr>
          <a:xfrm>
            <a:off x="6038698" y="5316322"/>
            <a:ext cx="5467198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4" name="Image 15" descr="preencoded.png"/>
          <p:cNvPicPr>
            <a:picLocks noChangeAspect="1"/>
          </p:cNvPicPr>
          <p:nvPr/>
        </p:nvPicPr>
        <p:blipFill>
          <a:blip r:embed="rId18"/>
          <a:srcRect l="-1773" r="-1773"/>
          <a:stretch/>
        </p:blipFill>
        <p:spPr>
          <a:xfrm>
            <a:off x="6191402" y="5020056"/>
            <a:ext cx="133502" cy="171907"/>
          </a:xfrm>
          <a:prstGeom prst="rect">
            <a:avLst/>
          </a:prstGeom>
        </p:spPr>
      </p:pic>
      <p:sp>
        <p:nvSpPr>
          <p:cNvPr id="75" name="Text 57"/>
          <p:cNvSpPr txBox="1"/>
          <p:nvPr/>
        </p:nvSpPr>
        <p:spPr>
          <a:xfrm>
            <a:off x="6439205" y="5010912"/>
            <a:ext cx="15535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Kickoff Meeting.pptx</a:t>
            </a:r>
            <a:endParaRPr lang="en-US" sz="1000" dirty="0"/>
          </a:p>
        </p:txBody>
      </p:sp>
      <p:sp>
        <p:nvSpPr>
          <p:cNvPr id="76" name="Text 58"/>
          <p:cNvSpPr txBox="1"/>
          <p:nvPr/>
        </p:nvSpPr>
        <p:spPr>
          <a:xfrm>
            <a:off x="8772754" y="5030114"/>
            <a:ext cx="1371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giorni fa</a:t>
            </a:r>
            <a:endParaRPr lang="en-US" sz="900" dirty="0"/>
          </a:p>
        </p:txBody>
      </p:sp>
      <p:sp>
        <p:nvSpPr>
          <p:cNvPr id="77" name="Shape 59"/>
          <p:cNvSpPr/>
          <p:nvPr/>
        </p:nvSpPr>
        <p:spPr>
          <a:xfrm>
            <a:off x="10062972" y="5010912"/>
            <a:ext cx="190195" cy="190195"/>
          </a:xfrm>
          <a:prstGeom prst="ellipse">
            <a:avLst/>
          </a:prstGeom>
          <a:solidFill>
            <a:srgbClr val="EDE9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8" name="Text 60"/>
          <p:cNvSpPr txBox="1"/>
          <p:nvPr/>
        </p:nvSpPr>
        <p:spPr>
          <a:xfrm>
            <a:off x="10025482" y="5010912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3AE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</a:t>
            </a:r>
            <a:endParaRPr lang="en-US" sz="900" dirty="0"/>
          </a:p>
        </p:txBody>
      </p:sp>
      <p:pic>
        <p:nvPicPr>
          <p:cNvPr id="79" name="Image 1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191402" y="5448910"/>
            <a:ext cx="171907" cy="171907"/>
          </a:xfrm>
          <a:prstGeom prst="rect">
            <a:avLst/>
          </a:prstGeom>
        </p:spPr>
      </p:pic>
      <p:sp>
        <p:nvSpPr>
          <p:cNvPr id="80" name="Text 61"/>
          <p:cNvSpPr txBox="1"/>
          <p:nvPr/>
        </p:nvSpPr>
        <p:spPr>
          <a:xfrm>
            <a:off x="6476695" y="5439766"/>
            <a:ext cx="102047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Archivio 2023</a:t>
            </a:r>
            <a:endParaRPr lang="en-US" sz="1000" dirty="0"/>
          </a:p>
        </p:txBody>
      </p:sp>
      <p:sp>
        <p:nvSpPr>
          <p:cNvPr id="81" name="Text 62"/>
          <p:cNvSpPr txBox="1"/>
          <p:nvPr/>
        </p:nvSpPr>
        <p:spPr>
          <a:xfrm>
            <a:off x="8772754" y="5458054"/>
            <a:ext cx="1371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Ottobre</a:t>
            </a:r>
            <a:endParaRPr lang="en-US" sz="900" dirty="0"/>
          </a:p>
        </p:txBody>
      </p:sp>
      <p:sp>
        <p:nvSpPr>
          <p:cNvPr id="82" name="Shape 63"/>
          <p:cNvSpPr/>
          <p:nvPr/>
        </p:nvSpPr>
        <p:spPr>
          <a:xfrm>
            <a:off x="10062972" y="5439766"/>
            <a:ext cx="190195" cy="1901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3" name="Text 64"/>
          <p:cNvSpPr txBox="1"/>
          <p:nvPr/>
        </p:nvSpPr>
        <p:spPr>
          <a:xfrm>
            <a:off x="10025482" y="5439766"/>
            <a:ext cx="267005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438705" y="1524305"/>
            <a:ext cx="219456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5486400" y="1524305"/>
            <a:ext cx="219456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8534095" y="1524305"/>
            <a:ext cx="219456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3635654"/>
            <a:ext cx="2438705" cy="2115007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5"/>
          <p:cNvSpPr txBox="1"/>
          <p:nvPr/>
        </p:nvSpPr>
        <p:spPr>
          <a:xfrm>
            <a:off x="724205" y="3825850"/>
            <a:ext cx="21342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Caricamento &amp; Creazione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24205" y="447050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Trascina i file dal desktop (Drag &amp; Drop) o crea nuovi documenti Word/Excel/PPT direttamente online nel browser.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5238" y="2254910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86991" y="229240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8"/>
          <p:cNvSpPr txBox="1"/>
          <p:nvPr/>
        </p:nvSpPr>
        <p:spPr>
          <a:xfrm>
            <a:off x="1948586" y="229240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 l="-17" r="-17"/>
          <a:stretch/>
        </p:blipFill>
        <p:spPr>
          <a:xfrm>
            <a:off x="1453896" y="2559406"/>
            <a:ext cx="666598" cy="5330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44545" y="363565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0"/>
          <p:cNvSpPr txBox="1"/>
          <p:nvPr/>
        </p:nvSpPr>
        <p:spPr>
          <a:xfrm>
            <a:off x="3593592" y="382585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Organizzazione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3596335" y="419618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Assegna metadati (Cliente, Progetto, Tipo) invece di usare solo cartelle. Facilita il filtraggio e la ricerca successiva.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8282" y="2254910"/>
            <a:ext cx="114300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59122" y="229240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3"/>
          <p:cNvSpPr txBox="1"/>
          <p:nvPr/>
        </p:nvSpPr>
        <p:spPr>
          <a:xfrm>
            <a:off x="4821631" y="229240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92778" y="2559406"/>
            <a:ext cx="533095" cy="53309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316675" y="3635654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15"/>
          <p:cNvSpPr txBox="1"/>
          <p:nvPr/>
        </p:nvSpPr>
        <p:spPr>
          <a:xfrm>
            <a:off x="6466637" y="382585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Condivisione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6469380" y="4196182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Evita allegati email. Usa link sicuri con permessi specifici (sola lettura o modifica) per collaboratori interni o esterni.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0413" y="2254910"/>
            <a:ext cx="1143000" cy="11430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732166" y="229240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18"/>
          <p:cNvSpPr txBox="1"/>
          <p:nvPr/>
        </p:nvSpPr>
        <p:spPr>
          <a:xfrm>
            <a:off x="7693762" y="229240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 t="-12" b="-12"/>
          <a:stretch/>
        </p:blipFill>
        <p:spPr>
          <a:xfrm>
            <a:off x="7298741" y="2559406"/>
            <a:ext cx="466344" cy="5330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189720" y="363565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0"/>
          <p:cNvSpPr txBox="1"/>
          <p:nvPr/>
        </p:nvSpPr>
        <p:spPr>
          <a:xfrm>
            <a:off x="9338767" y="382585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Revisione</a:t>
            </a:r>
            <a:endParaRPr lang="en-US" sz="1400" dirty="0"/>
          </a:p>
        </p:txBody>
      </p:sp>
      <p:sp>
        <p:nvSpPr>
          <p:cNvPr id="32" name="Text 21"/>
          <p:cNvSpPr txBox="1"/>
          <p:nvPr/>
        </p:nvSpPr>
        <p:spPr>
          <a:xfrm>
            <a:off x="9341510" y="419618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Sfrutta la cronologia versioni per tracciare modifiche, aggiungi commenti in tempo reale e gestisci le approvazioni.</a:t>
            </a:r>
            <a:endParaRPr lang="en-US" sz="11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33458" y="2254910"/>
            <a:ext cx="1143000" cy="11430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605211" y="229240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Text 23"/>
          <p:cNvSpPr txBox="1"/>
          <p:nvPr/>
        </p:nvSpPr>
        <p:spPr>
          <a:xfrm>
            <a:off x="10566806" y="229240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 l="-86" r="-86"/>
          <a:stretch/>
        </p:blipFill>
        <p:spPr>
          <a:xfrm>
            <a:off x="10204704" y="2559406"/>
            <a:ext cx="400507" cy="5330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26"/>
          <p:cNvSpPr txBox="1"/>
          <p:nvPr/>
        </p:nvSpPr>
        <p:spPr>
          <a:xfrm>
            <a:off x="571500" y="152705"/>
            <a:ext cx="60871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Workflow Operativo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571500" y="381305"/>
            <a:ext cx="784463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File: Operazioni Principali</a:t>
            </a:r>
            <a:endParaRPr lang="en-US" sz="2700" dirty="0"/>
          </a:p>
        </p:txBody>
      </p:sp>
      <p:sp>
        <p:nvSpPr>
          <p:cNvPr id="41" name="Shape 28"/>
          <p:cNvSpPr/>
          <p:nvPr/>
        </p:nvSpPr>
        <p:spPr>
          <a:xfrm>
            <a:off x="9127541" y="276149"/>
            <a:ext cx="2495398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327794" y="381305"/>
            <a:ext cx="152705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9594799" y="276149"/>
            <a:ext cx="190195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Ciclo di Vita del Documento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FDE7E9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571500" y="152705"/>
            <a:ext cx="5125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DC26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Problemi Comuni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381305"/>
            <a:ext cx="656905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Limiti delle Cartelle Profonde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0421417" y="276149"/>
            <a:ext cx="1200607" cy="362102"/>
          </a:xfrm>
          <a:prstGeom prst="roundRect">
            <a:avLst>
              <a:gd name="adj" fmla="val 5316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21670" y="381305"/>
            <a:ext cx="152705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887761" y="276149"/>
            <a:ext cx="59070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91C1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Criticità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1500" y="1390802"/>
            <a:ext cx="6077102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571500" y="1390802"/>
            <a:ext cx="57607" cy="1114654"/>
          </a:xfrm>
          <a:prstGeom prst="roundRect">
            <a:avLst>
              <a:gd name="adj" fmla="val 108534"/>
            </a:avLst>
          </a:prstGeom>
          <a:solidFill>
            <a:srgbClr val="D13438"/>
          </a:solidFill>
          <a:ln w="12700">
            <a:solidFill>
              <a:srgbClr val="D134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866851" y="1580998"/>
            <a:ext cx="428854" cy="428854"/>
          </a:xfrm>
          <a:prstGeom prst="ellipse">
            <a:avLst/>
          </a:prstGeom>
          <a:solidFill>
            <a:srgbClr val="FDE7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90295" y="1705356"/>
            <a:ext cx="181051" cy="18105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485900" y="1580998"/>
            <a:ext cx="50392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Percorsi difficili da trovare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485900" y="1880006"/>
            <a:ext cx="50008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Nascondere i file in troppi livelli (sottocartelle) rende la navigazione frustrante e lenta. Gli utenti perdono tempo a cliccare.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571500" y="2695651"/>
            <a:ext cx="6077102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6"/>
          <p:cNvSpPr/>
          <p:nvPr/>
        </p:nvSpPr>
        <p:spPr>
          <a:xfrm>
            <a:off x="571500" y="2695651"/>
            <a:ext cx="57607" cy="1114654"/>
          </a:xfrm>
          <a:prstGeom prst="roundRect">
            <a:avLst>
              <a:gd name="adj" fmla="val 108534"/>
            </a:avLst>
          </a:prstGeom>
          <a:solidFill>
            <a:srgbClr val="D13438"/>
          </a:solidFill>
          <a:ln w="12700">
            <a:solidFill>
              <a:srgbClr val="D134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7"/>
          <p:cNvSpPr/>
          <p:nvPr/>
        </p:nvSpPr>
        <p:spPr>
          <a:xfrm>
            <a:off x="866851" y="2885846"/>
            <a:ext cx="428854" cy="428854"/>
          </a:xfrm>
          <a:prstGeom prst="ellipse">
            <a:avLst/>
          </a:prstGeom>
          <a:solidFill>
            <a:srgbClr val="FDE7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90295" y="3010205"/>
            <a:ext cx="181051" cy="181051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485900" y="2885846"/>
            <a:ext cx="50392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Strutture inconsistenti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1485900" y="3184855"/>
            <a:ext cx="50008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Ogni team organizza le cartelle in modo diverso. Ciò che è logico per uno, è caos per un altro.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71500" y="4000500"/>
            <a:ext cx="6077102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1"/>
          <p:cNvSpPr/>
          <p:nvPr/>
        </p:nvSpPr>
        <p:spPr>
          <a:xfrm>
            <a:off x="571500" y="4000500"/>
            <a:ext cx="57607" cy="1114654"/>
          </a:xfrm>
          <a:prstGeom prst="roundRect">
            <a:avLst>
              <a:gd name="adj" fmla="val 108534"/>
            </a:avLst>
          </a:prstGeom>
          <a:solidFill>
            <a:srgbClr val="D13438"/>
          </a:solidFill>
          <a:ln w="12700">
            <a:solidFill>
              <a:srgbClr val="D134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2"/>
          <p:cNvSpPr/>
          <p:nvPr/>
        </p:nvSpPr>
        <p:spPr>
          <a:xfrm>
            <a:off x="866851" y="4190695"/>
            <a:ext cx="428854" cy="428854"/>
          </a:xfrm>
          <a:prstGeom prst="ellipse">
            <a:avLst/>
          </a:prstGeom>
          <a:solidFill>
            <a:srgbClr val="FDE7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 l="-1403" r="-1403"/>
          <a:stretch/>
        </p:blipFill>
        <p:spPr>
          <a:xfrm>
            <a:off x="976579" y="4315054"/>
            <a:ext cx="209398" cy="181051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485900" y="4190695"/>
            <a:ext cx="50392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Mancanza di filtri intelligenti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1485900" y="4489704"/>
            <a:ext cx="50008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cartelle sono rigide. Non puoi filtrare per "Data" o "Cliente" se la struttura non lo prevede esplicitamente.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71500" y="5305349"/>
            <a:ext cx="6077102" cy="1114654"/>
          </a:xfrm>
          <a:prstGeom prst="roundRect">
            <a:avLst>
              <a:gd name="adj" fmla="val 5609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2" name="Shape 26"/>
          <p:cNvSpPr/>
          <p:nvPr/>
        </p:nvSpPr>
        <p:spPr>
          <a:xfrm>
            <a:off x="571500" y="5305349"/>
            <a:ext cx="57607" cy="1114654"/>
          </a:xfrm>
          <a:prstGeom prst="roundRect">
            <a:avLst>
              <a:gd name="adj" fmla="val 108534"/>
            </a:avLst>
          </a:prstGeom>
          <a:solidFill>
            <a:srgbClr val="D13438"/>
          </a:solidFill>
          <a:ln w="12700">
            <a:solidFill>
              <a:srgbClr val="D134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27"/>
          <p:cNvSpPr/>
          <p:nvPr/>
        </p:nvSpPr>
        <p:spPr>
          <a:xfrm>
            <a:off x="866851" y="5495544"/>
            <a:ext cx="428854" cy="428854"/>
          </a:xfrm>
          <a:prstGeom prst="ellipse">
            <a:avLst/>
          </a:prstGeom>
          <a:solidFill>
            <a:srgbClr val="FDE7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rcRect l="-7143" r="-7143"/>
          <a:stretch/>
        </p:blipFill>
        <p:spPr>
          <a:xfrm>
            <a:off x="990295" y="5619902"/>
            <a:ext cx="181051" cy="181051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485900" y="5495544"/>
            <a:ext cx="50392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Duplicati e Versioni Parallele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1485900" y="5795467"/>
            <a:ext cx="50008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 stesso file viene copiato in più cartelle (es. "Per Cliente" e "Per Anno"), creando confusione su quale sia l'ultima versione.</a:t>
            </a:r>
            <a:endParaRPr lang="en-US" sz="1100" dirty="0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rcRect l="-3" r="-3"/>
          <a:stretch/>
        </p:blipFill>
        <p:spPr>
          <a:xfrm>
            <a:off x="7125005" y="1619402"/>
            <a:ext cx="4496105" cy="4572000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7362749" y="1914754"/>
            <a:ext cx="4019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Struttura Tipica Inefficiente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7420356" y="5458054"/>
            <a:ext cx="3905402" cy="771754"/>
          </a:xfrm>
          <a:prstGeom prst="roundRect">
            <a:avLst>
              <a:gd name="adj" fmla="val 5851"/>
            </a:avLst>
          </a:prstGeom>
          <a:solidFill>
            <a:srgbClr val="F3F2F1"/>
          </a:solidFill>
          <a:ln w="12700">
            <a:solidFill>
              <a:srgbClr val="D1343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2"/>
          <p:cNvSpPr txBox="1"/>
          <p:nvPr/>
        </p:nvSpPr>
        <p:spPr>
          <a:xfrm>
            <a:off x="7524598" y="5966460"/>
            <a:ext cx="3810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ui-sans-serif" pitchFamily="34" charset="0"/>
                <a:ea typeface="ui-sans-serif" pitchFamily="34" charset="-122"/>
                <a:cs typeface="ui-sans-serif" pitchFamily="34" charset="-120"/>
              </a:rPr>
              <a:t>URL troppo lungo: rischio errore sincronizzazione</a:t>
            </a:r>
            <a:endParaRPr lang="en-US" sz="900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rcRect t="-524" b="-524"/>
          <a:stretch/>
        </p:blipFill>
        <p:spPr>
          <a:xfrm>
            <a:off x="7524598" y="5586984"/>
            <a:ext cx="152705" cy="123444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7763256" y="2295144"/>
            <a:ext cx="1904695" cy="381305"/>
          </a:xfrm>
          <a:prstGeom prst="roundRect">
            <a:avLst>
              <a:gd name="adj" fmla="val 35971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858354" y="2395728"/>
            <a:ext cx="181051" cy="181051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8134502" y="2295144"/>
            <a:ext cx="111465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Documenti 2024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7953451" y="2819095"/>
            <a:ext cx="1904695" cy="381305"/>
          </a:xfrm>
          <a:prstGeom prst="roundRect">
            <a:avLst>
              <a:gd name="adj" fmla="val 35971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048549" y="2919679"/>
            <a:ext cx="181051" cy="181051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8324698" y="2819095"/>
            <a:ext cx="11622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Amministrazione</a:t>
            </a:r>
            <a:endParaRPr lang="en-US" sz="1000" dirty="0"/>
          </a:p>
        </p:txBody>
      </p:sp>
      <p:sp>
        <p:nvSpPr>
          <p:cNvPr id="48" name="Shape 37"/>
          <p:cNvSpPr/>
          <p:nvPr/>
        </p:nvSpPr>
        <p:spPr>
          <a:xfrm>
            <a:off x="8143646" y="3343046"/>
            <a:ext cx="1904695" cy="381305"/>
          </a:xfrm>
          <a:prstGeom prst="roundRect">
            <a:avLst>
              <a:gd name="adj" fmla="val 35971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9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238744" y="3443630"/>
            <a:ext cx="181051" cy="181051"/>
          </a:xfrm>
          <a:prstGeom prst="rect">
            <a:avLst/>
          </a:prstGeom>
        </p:spPr>
      </p:pic>
      <p:sp>
        <p:nvSpPr>
          <p:cNvPr id="50" name="Text 38"/>
          <p:cNvSpPr txBox="1"/>
          <p:nvPr/>
        </p:nvSpPr>
        <p:spPr>
          <a:xfrm>
            <a:off x="8515807" y="3343046"/>
            <a:ext cx="5340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Fatture</a:t>
            </a:r>
            <a:endParaRPr lang="en-US" sz="1000" dirty="0"/>
          </a:p>
        </p:txBody>
      </p:sp>
      <p:sp>
        <p:nvSpPr>
          <p:cNvPr id="51" name="Shape 39"/>
          <p:cNvSpPr/>
          <p:nvPr/>
        </p:nvSpPr>
        <p:spPr>
          <a:xfrm>
            <a:off x="8334756" y="3866998"/>
            <a:ext cx="1904695" cy="381305"/>
          </a:xfrm>
          <a:prstGeom prst="roundRect">
            <a:avLst>
              <a:gd name="adj" fmla="val 35971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2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429854" y="3967582"/>
            <a:ext cx="181051" cy="181051"/>
          </a:xfrm>
          <a:prstGeom prst="rect">
            <a:avLst/>
          </a:prstGeom>
        </p:spPr>
      </p:pic>
      <p:sp>
        <p:nvSpPr>
          <p:cNvPr id="53" name="Text 40"/>
          <p:cNvSpPr txBox="1"/>
          <p:nvPr/>
        </p:nvSpPr>
        <p:spPr>
          <a:xfrm>
            <a:off x="8706002" y="3866998"/>
            <a:ext cx="8385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Q1_Gennaio</a:t>
            </a:r>
            <a:endParaRPr lang="en-US" sz="1000" dirty="0"/>
          </a:p>
        </p:txBody>
      </p:sp>
      <p:sp>
        <p:nvSpPr>
          <p:cNvPr id="54" name="Shape 41"/>
          <p:cNvSpPr/>
          <p:nvPr/>
        </p:nvSpPr>
        <p:spPr>
          <a:xfrm>
            <a:off x="8524951" y="4390949"/>
            <a:ext cx="1904695" cy="381305"/>
          </a:xfrm>
          <a:prstGeom prst="roundRect">
            <a:avLst>
              <a:gd name="adj" fmla="val 35971"/>
            </a:avLst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5" name="Image 11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620049" y="4490618"/>
            <a:ext cx="181051" cy="181051"/>
          </a:xfrm>
          <a:prstGeom prst="rect">
            <a:avLst/>
          </a:prstGeom>
        </p:spPr>
      </p:pic>
      <p:sp>
        <p:nvSpPr>
          <p:cNvPr id="56" name="Text 42"/>
          <p:cNvSpPr txBox="1"/>
          <p:nvPr/>
        </p:nvSpPr>
        <p:spPr>
          <a:xfrm>
            <a:off x="8896198" y="4390949"/>
            <a:ext cx="7342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Approvate</a:t>
            </a:r>
            <a:endParaRPr lang="en-US" sz="1000" dirty="0"/>
          </a:p>
        </p:txBody>
      </p:sp>
      <p:sp>
        <p:nvSpPr>
          <p:cNvPr id="57" name="Shape 43"/>
          <p:cNvSpPr/>
          <p:nvPr/>
        </p:nvSpPr>
        <p:spPr>
          <a:xfrm>
            <a:off x="8715146" y="4914900"/>
            <a:ext cx="2171700" cy="400507"/>
          </a:xfrm>
          <a:prstGeom prst="roundRect">
            <a:avLst>
              <a:gd name="adj" fmla="val 32616"/>
            </a:avLst>
          </a:prstGeom>
          <a:solidFill>
            <a:srgbClr val="F3F2F1"/>
          </a:solidFill>
          <a:ln w="12700">
            <a:solidFill>
              <a:srgbClr val="FCA5A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8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820302" y="5024628"/>
            <a:ext cx="181051" cy="181051"/>
          </a:xfrm>
          <a:prstGeom prst="rect">
            <a:avLst/>
          </a:prstGeom>
        </p:spPr>
      </p:pic>
      <p:sp>
        <p:nvSpPr>
          <p:cNvPr id="59" name="Text 44"/>
          <p:cNvSpPr txBox="1"/>
          <p:nvPr/>
        </p:nvSpPr>
        <p:spPr>
          <a:xfrm>
            <a:off x="9096451" y="4914900"/>
            <a:ext cx="1753819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Fattura_Finale_V2_REV.pdf</a:t>
            </a:r>
            <a:endParaRPr lang="en-US" sz="1000" dirty="0"/>
          </a:p>
        </p:txBody>
      </p:sp>
      <p:sp>
        <p:nvSpPr>
          <p:cNvPr id="60" name="Shape 45"/>
          <p:cNvSpPr/>
          <p:nvPr/>
        </p:nvSpPr>
        <p:spPr>
          <a:xfrm>
            <a:off x="10356494" y="1485900"/>
            <a:ext cx="1399946" cy="362102"/>
          </a:xfrm>
          <a:prstGeom prst="roundRect">
            <a:avLst>
              <a:gd name="adj" fmla="val 132908"/>
            </a:avLst>
          </a:prstGeom>
          <a:solidFill>
            <a:srgbClr val="D1343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1" name="Text 46"/>
          <p:cNvSpPr txBox="1"/>
          <p:nvPr/>
        </p:nvSpPr>
        <p:spPr>
          <a:xfrm>
            <a:off x="10741457" y="1485900"/>
            <a:ext cx="1072591" cy="3621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"Folder Hell"</a:t>
            </a:r>
            <a:endParaRPr lang="en-US" sz="1000" dirty="0"/>
          </a:p>
        </p:txBody>
      </p:sp>
      <p:pic>
        <p:nvPicPr>
          <p:cNvPr id="62" name="Image 13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0504627" y="1531620"/>
            <a:ext cx="171907" cy="1719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1362456"/>
            <a:ext cx="12191695" cy="5495544"/>
          </a:xfrm>
          <a:prstGeom prst="rect">
            <a:avLst/>
          </a:prstGeom>
          <a:solidFill>
            <a:srgbClr val="F0F6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382305" y="-66751"/>
            <a:ext cx="4762195" cy="4762195"/>
          </a:xfrm>
          <a:prstGeom prst="ellipse">
            <a:avLst/>
          </a:prstGeom>
          <a:solidFill>
            <a:srgbClr val="0078D4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-952805" y="4000500"/>
            <a:ext cx="4286707" cy="4286707"/>
          </a:xfrm>
          <a:prstGeom prst="ellipse">
            <a:avLst/>
          </a:prstGeom>
          <a:solidFill>
            <a:srgbClr val="0078D4">
              <a:alpha val="8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2438705" y="3560674"/>
            <a:ext cx="190195" cy="190195"/>
          </a:xfrm>
          <a:prstGeom prst="ellipse">
            <a:avLst/>
          </a:prstGeom>
          <a:solidFill>
            <a:srgbClr val="0078D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8391449" y="2461565"/>
            <a:ext cx="142646" cy="142646"/>
          </a:xfrm>
          <a:prstGeom prst="ellipse">
            <a:avLst/>
          </a:prstGeom>
          <a:solidFill>
            <a:srgbClr val="D83B01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761695" y="2156155"/>
            <a:ext cx="3409798" cy="1848002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761695" y="2156155"/>
            <a:ext cx="3409798" cy="47549"/>
          </a:xfrm>
          <a:prstGeom prst="roundRect">
            <a:avLst>
              <a:gd name="adj" fmla="val 118953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990295" y="239481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FF6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14654" y="2518258"/>
            <a:ext cx="209398" cy="20939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990295" y="2966314"/>
            <a:ext cx="30678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Filtri Avanzati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90295" y="3285439"/>
            <a:ext cx="302940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Trova rapidamente i documenti filtrando per proprietà specifiche come Cliente, Progetto o Stato, senza dover navigare nella struttura.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394606" y="2156155"/>
            <a:ext cx="3409798" cy="1848002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4394606" y="2156155"/>
            <a:ext cx="3409798" cy="47549"/>
          </a:xfrm>
          <a:prstGeom prst="roundRect">
            <a:avLst>
              <a:gd name="adj" fmla="val 118953"/>
            </a:avLst>
          </a:prstGeom>
          <a:solidFill>
            <a:srgbClr val="038387"/>
          </a:solidFill>
          <a:ln w="12700">
            <a:solidFill>
              <a:srgbClr val="03838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4623206" y="239481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6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l="-461" r="-461"/>
          <a:stretch/>
        </p:blipFill>
        <p:spPr>
          <a:xfrm>
            <a:off x="4732020" y="2518258"/>
            <a:ext cx="237744" cy="20939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4623206" y="2966314"/>
            <a:ext cx="30678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Viste Dinamiche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4623206" y="3285439"/>
            <a:ext cx="302940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Raggruppa e ordina i file al volo per qualsiasi metadato disponibile, creando viste personalizzate senza duplicare i contenuti.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8026603" y="2156155"/>
            <a:ext cx="3409798" cy="1848002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18"/>
          <p:cNvSpPr/>
          <p:nvPr/>
        </p:nvSpPr>
        <p:spPr>
          <a:xfrm>
            <a:off x="8026603" y="2156155"/>
            <a:ext cx="3409798" cy="47549"/>
          </a:xfrm>
          <a:prstGeom prst="roundRect">
            <a:avLst>
              <a:gd name="adj" fmla="val 118953"/>
            </a:avLst>
          </a:prstGeom>
          <a:solidFill>
            <a:srgbClr val="5C2D91"/>
          </a:solidFill>
          <a:ln w="12700">
            <a:solidFill>
              <a:srgbClr val="5C2D9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19"/>
          <p:cNvSpPr/>
          <p:nvPr/>
        </p:nvSpPr>
        <p:spPr>
          <a:xfrm>
            <a:off x="8255203" y="2394814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FEA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 t="-600" b="-600"/>
          <a:stretch/>
        </p:blipFill>
        <p:spPr>
          <a:xfrm>
            <a:off x="8393278" y="2518258"/>
            <a:ext cx="181051" cy="20939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255203" y="2966314"/>
            <a:ext cx="30678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Automazione Processi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8255203" y="3285439"/>
            <a:ext cx="302940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 metadati agiscono come trigger per Power Automate: modifica lo "Stato" per avviare un flusso di approvazione o inviare notifiche.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761695" y="4224528"/>
            <a:ext cx="3409798" cy="1848002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Shape 23"/>
          <p:cNvSpPr/>
          <p:nvPr/>
        </p:nvSpPr>
        <p:spPr>
          <a:xfrm>
            <a:off x="761695" y="4224528"/>
            <a:ext cx="3409798" cy="47549"/>
          </a:xfrm>
          <a:prstGeom prst="roundRect">
            <a:avLst>
              <a:gd name="adj" fmla="val 118953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4"/>
          <p:cNvSpPr/>
          <p:nvPr/>
        </p:nvSpPr>
        <p:spPr>
          <a:xfrm>
            <a:off x="990295" y="4462272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FDF3F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14654" y="4586630"/>
            <a:ext cx="209398" cy="209398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990295" y="5033772"/>
            <a:ext cx="30678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Struttura Semplificata</a:t>
            </a:r>
            <a:endParaRPr lang="en-US" sz="1200" dirty="0"/>
          </a:p>
        </p:txBody>
      </p:sp>
      <p:sp>
        <p:nvSpPr>
          <p:cNvPr id="32" name="Text 26"/>
          <p:cNvSpPr txBox="1"/>
          <p:nvPr/>
        </p:nvSpPr>
        <p:spPr>
          <a:xfrm>
            <a:off x="990295" y="5352898"/>
            <a:ext cx="302940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Elimina la necessità di strutture di cartelle profonde e nidificate. I file risiedono in un unico livello ma sono organizzati logicamente.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4394606" y="4224528"/>
            <a:ext cx="3409798" cy="1848002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Shape 28"/>
          <p:cNvSpPr/>
          <p:nvPr/>
        </p:nvSpPr>
        <p:spPr>
          <a:xfrm>
            <a:off x="4394606" y="4224528"/>
            <a:ext cx="3409798" cy="47549"/>
          </a:xfrm>
          <a:prstGeom prst="roundRect">
            <a:avLst>
              <a:gd name="adj" fmla="val 118953"/>
            </a:avLst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29"/>
          <p:cNvSpPr/>
          <p:nvPr/>
        </p:nvSpPr>
        <p:spPr>
          <a:xfrm>
            <a:off x="4623206" y="4462272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6F5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46650" y="4586630"/>
            <a:ext cx="209398" cy="209398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4623206" y="5033772"/>
            <a:ext cx="30678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Ricerca Potenziata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4623206" y="5352898"/>
            <a:ext cx="302940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Migliora drasticamente la precisione della ricerca globale, permettendo di trovare contenuti basati su attributi aziendali precisi.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8026603" y="4224528"/>
            <a:ext cx="3409798" cy="1848002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0" name="Shape 33"/>
          <p:cNvSpPr/>
          <p:nvPr/>
        </p:nvSpPr>
        <p:spPr>
          <a:xfrm>
            <a:off x="8026603" y="4224528"/>
            <a:ext cx="3409798" cy="47549"/>
          </a:xfrm>
          <a:prstGeom prst="roundRect">
            <a:avLst>
              <a:gd name="adj" fmla="val 118953"/>
            </a:avLst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Shape 34"/>
          <p:cNvSpPr/>
          <p:nvPr/>
        </p:nvSpPr>
        <p:spPr>
          <a:xfrm>
            <a:off x="8255203" y="4462272"/>
            <a:ext cx="457200" cy="457200"/>
          </a:xfrm>
          <a:prstGeom prst="roundRect">
            <a:avLst>
              <a:gd name="adj" fmla="val 41667"/>
            </a:avLst>
          </a:prstGeom>
          <a:solidFill>
            <a:srgbClr val="EE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rcRect t="-600" b="-600"/>
          <a:stretch/>
        </p:blipFill>
        <p:spPr>
          <a:xfrm>
            <a:off x="8393278" y="4586630"/>
            <a:ext cx="181051" cy="209398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8255203" y="5033772"/>
            <a:ext cx="306781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Efficienza Totale</a:t>
            </a:r>
            <a:endParaRPr lang="en-US" sz="1200" dirty="0"/>
          </a:p>
        </p:txBody>
      </p:sp>
      <p:sp>
        <p:nvSpPr>
          <p:cNvPr id="44" name="Text 36"/>
          <p:cNvSpPr txBox="1"/>
          <p:nvPr/>
        </p:nvSpPr>
        <p:spPr>
          <a:xfrm>
            <a:off x="8255203" y="5352898"/>
            <a:ext cx="3029407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Trasforma il caos dei file in un sistema strutturato, migliorando la reperibilità e riducendo gli errori di gestione quotidiana.</a:t>
            </a:r>
            <a:endParaRPr lang="en-US" sz="900" dirty="0"/>
          </a:p>
        </p:txBody>
      </p:sp>
      <p:sp>
        <p:nvSpPr>
          <p:cNvPr id="45" name="Shape 37"/>
          <p:cNvSpPr/>
          <p:nvPr/>
        </p:nvSpPr>
        <p:spPr>
          <a:xfrm>
            <a:off x="0" y="0"/>
            <a:ext cx="12191695" cy="136245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6" name="Shape 38"/>
          <p:cNvSpPr/>
          <p:nvPr/>
        </p:nvSpPr>
        <p:spPr>
          <a:xfrm>
            <a:off x="0" y="1324051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7" name="Text 39"/>
          <p:cNvSpPr txBox="1"/>
          <p:nvPr/>
        </p:nvSpPr>
        <p:spPr>
          <a:xfrm>
            <a:off x="571500" y="286207"/>
            <a:ext cx="4620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75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Organizzazione Intelligente</a:t>
            </a:r>
            <a:endParaRPr lang="en-US" sz="1200" dirty="0"/>
          </a:p>
        </p:txBody>
      </p:sp>
      <p:sp>
        <p:nvSpPr>
          <p:cNvPr id="48" name="Text 40"/>
          <p:cNvSpPr txBox="1"/>
          <p:nvPr/>
        </p:nvSpPr>
        <p:spPr>
          <a:xfrm>
            <a:off x="571500" y="562356"/>
            <a:ext cx="51517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5242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Vantaggi dei Metadati</a:t>
            </a:r>
            <a:endParaRPr lang="en-US" sz="3000" dirty="0"/>
          </a:p>
        </p:txBody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1334902" y="566928"/>
            <a:ext cx="286207" cy="28620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429207"/>
            <a:ext cx="3495751" cy="2333549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578047" y="1343254"/>
            <a:ext cx="571500" cy="571500"/>
          </a:xfrm>
          <a:prstGeom prst="ellipse">
            <a:avLst/>
          </a:prstGeom>
          <a:solidFill>
            <a:srgbClr val="0078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819302" y="1676095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817" b="-817"/>
          <a:stretch/>
        </p:blipFill>
        <p:spPr>
          <a:xfrm>
            <a:off x="985723" y="1824228"/>
            <a:ext cx="237744" cy="27614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80998" y="1676095"/>
            <a:ext cx="232806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580998" y="2027225"/>
            <a:ext cx="231526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 brevi descrizioni, titoli o codici. Può essere a riga singola (limitato) o multilinea (per note estese).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580998" y="2991002"/>
            <a:ext cx="1239012" cy="267005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Es: Titolo Progetto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49801" y="1429207"/>
            <a:ext cx="3495751" cy="2333549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7356348" y="1343254"/>
            <a:ext cx="571500" cy="571500"/>
          </a:xfrm>
          <a:prstGeom prst="ellipse">
            <a:avLst/>
          </a:prstGeom>
          <a:solidFill>
            <a:srgbClr val="FFB9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4597603" y="1676095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FF4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4822" y="1824228"/>
            <a:ext cx="276149" cy="27614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359298" y="1676095"/>
            <a:ext cx="232806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Scelta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359298" y="2027225"/>
            <a:ext cx="231526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Menu a tendina o pulsanti di opzione. Forza l'utente a scegliere valori predefiniti, garantendo coerenza.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5359298" y="2991002"/>
            <a:ext cx="1495958" cy="267005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Es: Stato (Bozza/Finale)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8128102" y="1429207"/>
            <a:ext cx="3495751" cy="2333549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6"/>
          <p:cNvSpPr/>
          <p:nvPr/>
        </p:nvSpPr>
        <p:spPr>
          <a:xfrm>
            <a:off x="11134649" y="1343254"/>
            <a:ext cx="571500" cy="571500"/>
          </a:xfrm>
          <a:prstGeom prst="ellipse">
            <a:avLst/>
          </a:prstGeom>
          <a:solidFill>
            <a:srgbClr val="107C1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7"/>
          <p:cNvSpPr/>
          <p:nvPr/>
        </p:nvSpPr>
        <p:spPr>
          <a:xfrm>
            <a:off x="8375904" y="1676095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t="-817" b="-817"/>
          <a:stretch/>
        </p:blipFill>
        <p:spPr>
          <a:xfrm>
            <a:off x="8542325" y="1824228"/>
            <a:ext cx="237744" cy="276149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137599" y="1676095"/>
            <a:ext cx="232806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e Ora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9137599" y="2027225"/>
            <a:ext cx="231526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Fondamentale per scadenze, eventi o tracciamento temporale. Supporta formati amichevoli.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9137599" y="2991002"/>
            <a:ext cx="1219810" cy="267005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Es: Data Scadenza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71500" y="4048049"/>
            <a:ext cx="3495751" cy="2333549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22"/>
          <p:cNvSpPr/>
          <p:nvPr/>
        </p:nvSpPr>
        <p:spPr>
          <a:xfrm>
            <a:off x="3578047" y="3962095"/>
            <a:ext cx="571500" cy="571500"/>
          </a:xfrm>
          <a:prstGeom prst="ellipse">
            <a:avLst/>
          </a:prstGeom>
          <a:solidFill>
            <a:srgbClr val="5C2D9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3"/>
          <p:cNvSpPr/>
          <p:nvPr/>
        </p:nvSpPr>
        <p:spPr>
          <a:xfrm>
            <a:off x="819302" y="4295851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3E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 l="-552" r="-552"/>
          <a:stretch/>
        </p:blipFill>
        <p:spPr>
          <a:xfrm>
            <a:off x="1000354" y="4443070"/>
            <a:ext cx="209398" cy="276149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580998" y="4295851"/>
            <a:ext cx="232806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Numero / Valuta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1580998" y="4646066"/>
            <a:ext cx="231526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 dati quantitativi. Permette calcoli matematici automatici, percentuali e formattazione monetaria.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1580998" y="5609844"/>
            <a:ext cx="972007" cy="267005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Es: Budget (€)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4349801" y="4048049"/>
            <a:ext cx="3495751" cy="2333549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Shape 28"/>
          <p:cNvSpPr/>
          <p:nvPr/>
        </p:nvSpPr>
        <p:spPr>
          <a:xfrm>
            <a:off x="7356348" y="3962095"/>
            <a:ext cx="571500" cy="571500"/>
          </a:xfrm>
          <a:prstGeom prst="ellipse">
            <a:avLst/>
          </a:prstGeom>
          <a:solidFill>
            <a:srgbClr val="D1343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29"/>
          <p:cNvSpPr/>
          <p:nvPr/>
        </p:nvSpPr>
        <p:spPr>
          <a:xfrm>
            <a:off x="4597603" y="4295851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FE6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rcRect t="-333" b="-333"/>
          <a:stretch/>
        </p:blipFill>
        <p:spPr>
          <a:xfrm>
            <a:off x="4711903" y="4443070"/>
            <a:ext cx="342900" cy="276149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5359298" y="4295851"/>
            <a:ext cx="232806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5359298" y="4646066"/>
            <a:ext cx="2315261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Collega i dati a utenti reali della directory. Utile per assegnare responsabilità e inviare notifiche.</a:t>
            </a:r>
            <a:endParaRPr lang="en-US" sz="1100" dirty="0"/>
          </a:p>
        </p:txBody>
      </p:sp>
      <p:sp>
        <p:nvSpPr>
          <p:cNvPr id="39" name="Text 32"/>
          <p:cNvSpPr txBox="1"/>
          <p:nvPr/>
        </p:nvSpPr>
        <p:spPr>
          <a:xfrm>
            <a:off x="5359298" y="5393131"/>
            <a:ext cx="1143000" cy="267005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Es: Responsabile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8128102" y="4048049"/>
            <a:ext cx="3495751" cy="2333549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1" name="Shape 34"/>
          <p:cNvSpPr/>
          <p:nvPr/>
        </p:nvSpPr>
        <p:spPr>
          <a:xfrm>
            <a:off x="11134649" y="3962095"/>
            <a:ext cx="571500" cy="571500"/>
          </a:xfrm>
          <a:prstGeom prst="ellipse">
            <a:avLst/>
          </a:prstGeom>
          <a:solidFill>
            <a:srgbClr val="32313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35"/>
          <p:cNvSpPr/>
          <p:nvPr/>
        </p:nvSpPr>
        <p:spPr>
          <a:xfrm>
            <a:off x="8375904" y="4295851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1DF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23122" y="4443070"/>
            <a:ext cx="276149" cy="276149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9137599" y="4295851"/>
            <a:ext cx="232806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Lookup</a:t>
            </a:r>
            <a:endParaRPr lang="en-US" sz="1400" dirty="0"/>
          </a:p>
        </p:txBody>
      </p:sp>
      <p:sp>
        <p:nvSpPr>
          <p:cNvPr id="45" name="Text 37"/>
          <p:cNvSpPr txBox="1"/>
          <p:nvPr/>
        </p:nvSpPr>
        <p:spPr>
          <a:xfrm>
            <a:off x="9137599" y="4646066"/>
            <a:ext cx="231526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 relazioni tra liste diverse. Recupera informazioni da un'altra lista "master" per evitare duplicati.</a:t>
            </a:r>
            <a:endParaRPr lang="en-US" sz="1100" dirty="0"/>
          </a:p>
        </p:txBody>
      </p:sp>
      <p:sp>
        <p:nvSpPr>
          <p:cNvPr id="46" name="Text 38"/>
          <p:cNvSpPr txBox="1"/>
          <p:nvPr/>
        </p:nvSpPr>
        <p:spPr>
          <a:xfrm>
            <a:off x="9137599" y="5609844"/>
            <a:ext cx="1664208" cy="267005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Es: Cliente (da Anagrafica)</a:t>
            </a:r>
            <a:endParaRPr lang="en-US" sz="900" dirty="0"/>
          </a:p>
        </p:txBody>
      </p:sp>
      <p:sp>
        <p:nvSpPr>
          <p:cNvPr id="47" name="Shape 39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8" name="Shape 40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1"/>
          <p:cNvSpPr txBox="1"/>
          <p:nvPr/>
        </p:nvSpPr>
        <p:spPr>
          <a:xfrm>
            <a:off x="571500" y="152705"/>
            <a:ext cx="4096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Metadati e Organizzazione</a:t>
            </a:r>
            <a:endParaRPr lang="en-US" sz="1000" dirty="0"/>
          </a:p>
        </p:txBody>
      </p:sp>
      <p:sp>
        <p:nvSpPr>
          <p:cNvPr id="50" name="Text 42"/>
          <p:cNvSpPr txBox="1"/>
          <p:nvPr/>
        </p:nvSpPr>
        <p:spPr>
          <a:xfrm>
            <a:off x="571500" y="381305"/>
            <a:ext cx="486826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Colonne Personalizzate</a:t>
            </a:r>
            <a:endParaRPr lang="en-US" sz="2700" dirty="0"/>
          </a:p>
        </p:txBody>
      </p:sp>
      <p:sp>
        <p:nvSpPr>
          <p:cNvPr id="51" name="Shape 43"/>
          <p:cNvSpPr/>
          <p:nvPr/>
        </p:nvSpPr>
        <p:spPr>
          <a:xfrm>
            <a:off x="9801454" y="276149"/>
            <a:ext cx="1819656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001707" y="381305"/>
            <a:ext cx="152705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10268712" y="276149"/>
            <a:ext cx="120975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Tipologie Comuni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2136953" y="1333195"/>
            <a:ext cx="79251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Stessi file, rappresentazioni diverse. Nessuna duplicazione, solo logica applicata.</a:t>
            </a:r>
            <a:endParaRPr lang="en-US" sz="1500" dirty="0"/>
          </a:p>
        </p:txBody>
      </p:sp>
      <p:sp>
        <p:nvSpPr>
          <p:cNvPr id="50" name="Shape 35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1" name="Shape 36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37"/>
          <p:cNvSpPr txBox="1"/>
          <p:nvPr/>
        </p:nvSpPr>
        <p:spPr>
          <a:xfrm>
            <a:off x="571500" y="152705"/>
            <a:ext cx="35533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Potenza dei Metadati</a:t>
            </a:r>
            <a:endParaRPr lang="en-US" sz="1000" dirty="0"/>
          </a:p>
        </p:txBody>
      </p:sp>
      <p:sp>
        <p:nvSpPr>
          <p:cNvPr id="53" name="Text 38"/>
          <p:cNvSpPr txBox="1"/>
          <p:nvPr/>
        </p:nvSpPr>
        <p:spPr>
          <a:xfrm>
            <a:off x="571500" y="381305"/>
            <a:ext cx="444307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Viste Personalizzate</a:t>
            </a:r>
            <a:endParaRPr lang="en-US" sz="2700" dirty="0"/>
          </a:p>
        </p:txBody>
      </p:sp>
      <p:sp>
        <p:nvSpPr>
          <p:cNvPr id="54" name="Shape 39"/>
          <p:cNvSpPr/>
          <p:nvPr/>
        </p:nvSpPr>
        <p:spPr>
          <a:xfrm>
            <a:off x="9255557" y="276149"/>
            <a:ext cx="2371954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3"/>
          <a:srcRect l="-33" r="-33"/>
          <a:stretch/>
        </p:blipFill>
        <p:spPr>
          <a:xfrm>
            <a:off x="9454896" y="381305"/>
            <a:ext cx="171907" cy="152705"/>
          </a:xfrm>
          <a:prstGeom prst="rect">
            <a:avLst/>
          </a:prstGeom>
        </p:spPr>
      </p:pic>
      <p:sp>
        <p:nvSpPr>
          <p:cNvPr id="56" name="Text 40"/>
          <p:cNvSpPr txBox="1"/>
          <p:nvPr/>
        </p:nvSpPr>
        <p:spPr>
          <a:xfrm>
            <a:off x="9741103" y="276149"/>
            <a:ext cx="1753819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Organizzazione Dinamica</a:t>
            </a:r>
            <a:endParaRPr lang="en-US" sz="1000" dirty="0"/>
          </a:p>
        </p:txBody>
      </p:sp>
      <p:pic>
        <p:nvPicPr>
          <p:cNvPr id="57" name="Immagine 56">
            <a:extLst>
              <a:ext uri="{FF2B5EF4-FFF2-40B4-BE49-F238E27FC236}">
                <a16:creationId xmlns:a16="http://schemas.microsoft.com/office/drawing/2014/main" id="{79573680-5A23-5B6A-A949-4622CE194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43" y="1954710"/>
            <a:ext cx="10962914" cy="43080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905902" y="3524098"/>
            <a:ext cx="4762195" cy="4762195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402" y="3581705"/>
            <a:ext cx="2800807" cy="2800807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8998" y="476402"/>
            <a:ext cx="2800807" cy="280080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78101" y="2034540"/>
            <a:ext cx="784463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Cosa permettono i metadati?</a:t>
            </a:r>
            <a:endParaRPr lang="en-US" sz="3600" dirty="0"/>
          </a:p>
        </p:txBody>
      </p:sp>
      <p:sp>
        <p:nvSpPr>
          <p:cNvPr id="9" name="Shape 5"/>
          <p:cNvSpPr/>
          <p:nvPr/>
        </p:nvSpPr>
        <p:spPr>
          <a:xfrm>
            <a:off x="5229454" y="1417320"/>
            <a:ext cx="1733702" cy="428854"/>
          </a:xfrm>
          <a:prstGeom prst="roundRect">
            <a:avLst>
              <a:gd name="adj" fmla="val 142146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 txBox="1"/>
          <p:nvPr/>
        </p:nvSpPr>
        <p:spPr>
          <a:xfrm>
            <a:off x="5194706" y="1417320"/>
            <a:ext cx="1803197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35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Quiz Time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1403" r="-1403"/>
          <a:stretch/>
        </p:blipFill>
        <p:spPr>
          <a:xfrm>
            <a:off x="5419649" y="1535278"/>
            <a:ext cx="209398" cy="181051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57707" y="3059582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8"/>
          <p:cNvSpPr/>
          <p:nvPr/>
        </p:nvSpPr>
        <p:spPr>
          <a:xfrm>
            <a:off x="2270455" y="3364078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9"/>
          <p:cNvSpPr txBox="1"/>
          <p:nvPr/>
        </p:nvSpPr>
        <p:spPr>
          <a:xfrm>
            <a:off x="2241194" y="3364078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028700" y="4030675"/>
            <a:ext cx="296265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Copiare automaticamente i file</a:t>
            </a:r>
            <a:endParaRPr lang="en-US" sz="15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11" r="-11"/>
          <a:stretch/>
        </p:blipFill>
        <p:spPr>
          <a:xfrm>
            <a:off x="4427525" y="3046954"/>
            <a:ext cx="3320046" cy="239372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544568" y="4019702"/>
            <a:ext cx="310530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Filtrare e organizzare i documenti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8033004" y="3059582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6"/>
          <p:cNvSpPr/>
          <p:nvPr/>
        </p:nvSpPr>
        <p:spPr>
          <a:xfrm>
            <a:off x="9445752" y="3364078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7"/>
          <p:cNvSpPr txBox="1"/>
          <p:nvPr/>
        </p:nvSpPr>
        <p:spPr>
          <a:xfrm>
            <a:off x="9417406" y="3364078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8297266" y="4030675"/>
            <a:ext cx="277703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Rendere i file più pesanti</a:t>
            </a:r>
            <a:endParaRPr lang="en-US" sz="1500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3A614023-45A1-21E9-ADA4-395A671D7539}"/>
              </a:ext>
            </a:extLst>
          </p:cNvPr>
          <p:cNvSpPr/>
          <p:nvPr/>
        </p:nvSpPr>
        <p:spPr>
          <a:xfrm>
            <a:off x="5857799" y="3369107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A53456E1-5E56-A646-8909-7858ACF81840}"/>
              </a:ext>
            </a:extLst>
          </p:cNvPr>
          <p:cNvSpPr txBox="1"/>
          <p:nvPr/>
        </p:nvSpPr>
        <p:spPr>
          <a:xfrm>
            <a:off x="5828538" y="3369107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1800" dirty="0"/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F34C550B-C8CD-7E32-3920-68C6D79B659E}"/>
              </a:ext>
            </a:extLst>
          </p:cNvPr>
          <p:cNvSpPr/>
          <p:nvPr/>
        </p:nvSpPr>
        <p:spPr>
          <a:xfrm>
            <a:off x="4427525" y="3059582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571500" y="152705"/>
            <a:ext cx="42958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Configurazione Avanzata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381305"/>
            <a:ext cx="508040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Impostazioni Importanti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625889" y="276149"/>
            <a:ext cx="2000707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9826142" y="381305"/>
            <a:ext cx="190195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130638" y="276149"/>
            <a:ext cx="13533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Libreria Documenti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1500" y="1098194"/>
            <a:ext cx="5695798" cy="5619902"/>
          </a:xfrm>
          <a:prstGeom prst="roundRect">
            <a:avLst>
              <a:gd name="adj" fmla="val 33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857707" y="2575865"/>
            <a:ext cx="51242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857707" y="1384402"/>
            <a:ext cx="381305" cy="381305"/>
          </a:xfrm>
          <a:prstGeom prst="ellipse">
            <a:avLst/>
          </a:prstGeom>
          <a:solidFill>
            <a:srgbClr val="E6F5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57377" y="1484071"/>
            <a:ext cx="181051" cy="18105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429207" y="1384402"/>
            <a:ext cx="46680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Versioning Attivo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429207" y="1683410"/>
            <a:ext cx="46296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Abilita sempre la cronologia delle versioni. Permette di recuperare file precedenti, vedere chi ha fatto modifiche e ripristinare in caso di errori o sovrascritture accidentali.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57707" y="4011473"/>
            <a:ext cx="51242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6"/>
          <p:cNvSpPr/>
          <p:nvPr/>
        </p:nvSpPr>
        <p:spPr>
          <a:xfrm>
            <a:off x="857707" y="2820010"/>
            <a:ext cx="381305" cy="381305"/>
          </a:xfrm>
          <a:prstGeom prst="ellipse">
            <a:avLst/>
          </a:prstGeom>
          <a:solidFill>
            <a:srgbClr val="FFF4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 t="-856" b="-856"/>
          <a:stretch/>
        </p:blipFill>
        <p:spPr>
          <a:xfrm>
            <a:off x="981151" y="2920594"/>
            <a:ext cx="133502" cy="18105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29207" y="2820010"/>
            <a:ext cx="46680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Colonne Obbligatorie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429207" y="3119933"/>
            <a:ext cx="46296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Rendi obbligatori i metadati critici (es. "Cliente" o "Stato"). Garantisce che nessun documento venga caricato senza le informazioni necessarie per la classificazione.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57707" y="5228539"/>
            <a:ext cx="51242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0"/>
          <p:cNvSpPr/>
          <p:nvPr/>
        </p:nvSpPr>
        <p:spPr>
          <a:xfrm>
            <a:off x="857707" y="4256532"/>
            <a:ext cx="381305" cy="381305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l="-1082" r="-1082"/>
          <a:stretch/>
        </p:blipFill>
        <p:spPr>
          <a:xfrm>
            <a:off x="966521" y="4357116"/>
            <a:ext cx="161849" cy="181051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29207" y="4256532"/>
            <a:ext cx="46680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Avvisi e Notifiche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1429207" y="4555541"/>
            <a:ext cx="46296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Configura "Avvisami" (Alerts) per ricevere notifiche email quando documenti importanti vengono modificati o eliminati da altri utenti.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857707" y="5476342"/>
            <a:ext cx="381305" cy="381305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 t="-856" b="-856"/>
          <a:stretch/>
        </p:blipFill>
        <p:spPr>
          <a:xfrm>
            <a:off x="981151" y="5576011"/>
            <a:ext cx="133502" cy="181051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429207" y="5476342"/>
            <a:ext cx="46680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Modelli Predefiniti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1429207" y="5775350"/>
            <a:ext cx="4629607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Carica template aziendali (es. carta intestata, moduli report) come modelli della libreria. Gli utenti creeranno nuovi file già formattati correttamente.</a:t>
            </a:r>
            <a:endParaRPr lang="en-US" sz="11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 l="-7" r="-7"/>
          <a:stretch/>
        </p:blipFill>
        <p:spPr>
          <a:xfrm>
            <a:off x="6991502" y="1524305"/>
            <a:ext cx="4286707" cy="4762195"/>
          </a:xfrm>
          <a:prstGeom prst="rect">
            <a:avLst/>
          </a:prstGeom>
        </p:spPr>
      </p:pic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>
            <a:alphaModFix amt="5000"/>
          </a:blip>
          <a:srcRect/>
          <a:stretch/>
        </p:blipFill>
        <p:spPr>
          <a:xfrm>
            <a:off x="10248595" y="5257800"/>
            <a:ext cx="1218895" cy="1218895"/>
          </a:xfrm>
          <a:prstGeom prst="rect">
            <a:avLst/>
          </a:prstGeom>
        </p:spPr>
      </p:pic>
      <p:pic>
        <p:nvPicPr>
          <p:cNvPr id="69" name="Immagine 68">
            <a:extLst>
              <a:ext uri="{FF2B5EF4-FFF2-40B4-BE49-F238E27FC236}">
                <a16:creationId xmlns:a16="http://schemas.microsoft.com/office/drawing/2014/main" id="{999CDAF8-97F0-4921-6B31-64A91D83A4E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91502" y="1250985"/>
            <a:ext cx="5200193" cy="53608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1" r="-1"/>
          <a:stretch/>
        </p:blipFill>
        <p:spPr>
          <a:xfrm>
            <a:off x="0" y="952805"/>
            <a:ext cx="12191695" cy="59051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 txBox="1"/>
          <p:nvPr/>
        </p:nvSpPr>
        <p:spPr>
          <a:xfrm>
            <a:off x="571500" y="152705"/>
            <a:ext cx="36484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Workflow di Modifica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381305"/>
            <a:ext cx="444307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Check-in / Check-out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9835286" y="276149"/>
            <a:ext cx="1790395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34626" y="381305"/>
            <a:ext cx="152705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301630" y="276149"/>
            <a:ext cx="11814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Flusso Operativo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5" r="-5"/>
          <a:stretch/>
        </p:blipFill>
        <p:spPr>
          <a:xfrm>
            <a:off x="857707" y="1815084"/>
            <a:ext cx="2857500" cy="286481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4205" y="1777594"/>
            <a:ext cx="362102" cy="286207"/>
          </a:xfrm>
          <a:prstGeom prst="rect">
            <a:avLst/>
          </a:prstGeom>
          <a:solidFill>
            <a:srgbClr val="323130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904695" y="2157984"/>
            <a:ext cx="761695" cy="761695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133295" y="2386584"/>
            <a:ext cx="304495" cy="304495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2428646" y="2681935"/>
            <a:ext cx="286207" cy="28620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 l="-2838" r="-2838"/>
          <a:stretch/>
        </p:blipFill>
        <p:spPr>
          <a:xfrm>
            <a:off x="2510028" y="2758745"/>
            <a:ext cx="123444" cy="13350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667866" y="3110789"/>
            <a:ext cx="123901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Check-out</a:t>
            </a:r>
            <a:endParaRPr lang="en-US" sz="1600" dirty="0"/>
          </a:p>
        </p:txBody>
      </p:sp>
      <p:sp>
        <p:nvSpPr>
          <p:cNvPr id="20" name="Text 12"/>
          <p:cNvSpPr txBox="1"/>
          <p:nvPr/>
        </p:nvSpPr>
        <p:spPr>
          <a:xfrm>
            <a:off x="1104595" y="3525926"/>
            <a:ext cx="23628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Blocco del file.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L'utente "prende in prestito" il documento. Nessun altro può modificarlo finché è in questo stato. </a:t>
            </a:r>
            <a:endParaRPr lang="en-US" sz="11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rcRect t="-400" b="-400"/>
          <a:stretch/>
        </p:blipFill>
        <p:spPr>
          <a:xfrm>
            <a:off x="3905402" y="3228746"/>
            <a:ext cx="571500" cy="38405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4362602" y="3247949"/>
            <a:ext cx="209398" cy="27432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0"/>
          <a:srcRect l="-5" r="-5"/>
          <a:stretch/>
        </p:blipFill>
        <p:spPr>
          <a:xfrm>
            <a:off x="4667098" y="1815084"/>
            <a:ext cx="2857500" cy="2864815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4533595" y="1777594"/>
            <a:ext cx="362102" cy="286207"/>
          </a:xfrm>
          <a:prstGeom prst="rect">
            <a:avLst/>
          </a:prstGeom>
          <a:solidFill>
            <a:srgbClr val="323130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715000" y="2157984"/>
            <a:ext cx="761695" cy="761695"/>
          </a:xfrm>
          <a:prstGeom prst="rect">
            <a:avLst/>
          </a:prstGeom>
        </p:spPr>
      </p:pic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943600" y="2386584"/>
            <a:ext cx="304495" cy="304495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5548579" y="3110789"/>
            <a:ext cx="10972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Modifica</a:t>
            </a:r>
            <a:endParaRPr lang="en-US" sz="1600" dirty="0"/>
          </a:p>
        </p:txBody>
      </p:sp>
      <p:sp>
        <p:nvSpPr>
          <p:cNvPr id="28" name="Text 16"/>
          <p:cNvSpPr txBox="1"/>
          <p:nvPr/>
        </p:nvSpPr>
        <p:spPr>
          <a:xfrm>
            <a:off x="4914900" y="3525926"/>
            <a:ext cx="23628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Lavoro in sicurezza.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L'autore apporta le modifiche necessarie senza il rischio di conflitti di salvataggio. </a:t>
            </a:r>
            <a:endParaRPr lang="en-US" sz="110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9"/>
          <a:srcRect t="-400" b="-400"/>
          <a:stretch/>
        </p:blipFill>
        <p:spPr>
          <a:xfrm>
            <a:off x="7715707" y="3228746"/>
            <a:ext cx="571500" cy="38405"/>
          </a:xfrm>
          <a:prstGeom prst="rect">
            <a:avLst/>
          </a:prstGeom>
        </p:spPr>
      </p:pic>
      <p:sp>
        <p:nvSpPr>
          <p:cNvPr id="30" name="Shape 17"/>
          <p:cNvSpPr/>
          <p:nvPr/>
        </p:nvSpPr>
        <p:spPr>
          <a:xfrm>
            <a:off x="8172907" y="3247949"/>
            <a:ext cx="209398" cy="27432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13"/>
          <a:srcRect l="-5" r="-5"/>
          <a:stretch/>
        </p:blipFill>
        <p:spPr>
          <a:xfrm>
            <a:off x="8477402" y="1815084"/>
            <a:ext cx="2857500" cy="2864815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8343900" y="1777594"/>
            <a:ext cx="362102" cy="286207"/>
          </a:xfrm>
          <a:prstGeom prst="rect">
            <a:avLst/>
          </a:prstGeom>
          <a:solidFill>
            <a:srgbClr val="323130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525305" y="2157984"/>
            <a:ext cx="761695" cy="761695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753905" y="2386584"/>
            <a:ext cx="304495" cy="304495"/>
          </a:xfrm>
          <a:prstGeom prst="rect">
            <a:avLst/>
          </a:prstGeom>
        </p:spPr>
      </p:pic>
      <p:sp>
        <p:nvSpPr>
          <p:cNvPr id="35" name="Shape 19"/>
          <p:cNvSpPr/>
          <p:nvPr/>
        </p:nvSpPr>
        <p:spPr>
          <a:xfrm>
            <a:off x="10049256" y="2681935"/>
            <a:ext cx="286207" cy="28620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16"/>
          <a:srcRect l="-2838" r="-2838"/>
          <a:stretch/>
        </p:blipFill>
        <p:spPr>
          <a:xfrm>
            <a:off x="10129723" y="2758745"/>
            <a:ext cx="123444" cy="133502"/>
          </a:xfrm>
          <a:prstGeom prst="rect">
            <a:avLst/>
          </a:prstGeom>
        </p:spPr>
      </p:pic>
      <p:sp>
        <p:nvSpPr>
          <p:cNvPr id="37" name="Text 20"/>
          <p:cNvSpPr txBox="1"/>
          <p:nvPr/>
        </p:nvSpPr>
        <p:spPr>
          <a:xfrm>
            <a:off x="9357055" y="3110789"/>
            <a:ext cx="109819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Check-in</a:t>
            </a:r>
            <a:endParaRPr lang="en-US" sz="1600" dirty="0"/>
          </a:p>
        </p:txBody>
      </p:sp>
      <p:sp>
        <p:nvSpPr>
          <p:cNvPr id="38" name="Text 21"/>
          <p:cNvSpPr txBox="1"/>
          <p:nvPr/>
        </p:nvSpPr>
        <p:spPr>
          <a:xfrm>
            <a:off x="8725205" y="3525926"/>
            <a:ext cx="23628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Pubblicazione.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 modifiche vengono salvate (nuova versione) e il file viene sbloccato per gli altri utenti. </a:t>
            </a:r>
            <a:endParaRPr lang="en-US" sz="1100" dirty="0"/>
          </a:p>
        </p:txBody>
      </p:sp>
      <p:pic>
        <p:nvPicPr>
          <p:cNvPr id="39" name="Image 15" descr="preencoded.png"/>
          <p:cNvPicPr>
            <a:picLocks noChangeAspect="1"/>
          </p:cNvPicPr>
          <p:nvPr/>
        </p:nvPicPr>
        <p:blipFill>
          <a:blip r:embed="rId17"/>
          <a:srcRect t="-18" b="-18"/>
          <a:stretch/>
        </p:blipFill>
        <p:spPr>
          <a:xfrm>
            <a:off x="1809598" y="5156302"/>
            <a:ext cx="8572500" cy="838505"/>
          </a:xfrm>
          <a:prstGeom prst="rect">
            <a:avLst/>
          </a:prstGeom>
        </p:spPr>
      </p:pic>
      <p:pic>
        <p:nvPicPr>
          <p:cNvPr id="40" name="Image 16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2152498" y="5423306"/>
            <a:ext cx="304495" cy="304495"/>
          </a:xfrm>
          <a:prstGeom prst="rect">
            <a:avLst/>
          </a:prstGeom>
        </p:spPr>
      </p:pic>
      <p:sp>
        <p:nvSpPr>
          <p:cNvPr id="41" name="Text 22"/>
          <p:cNvSpPr txBox="1"/>
          <p:nvPr/>
        </p:nvSpPr>
        <p:spPr>
          <a:xfrm>
            <a:off x="2648102" y="5347411"/>
            <a:ext cx="7525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05A9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Quando usarlo? Fondamentale per documenti critici o legali dove è necessario evitare sovrascritture accidentali o quando non è possibile il co-authoring simultaneo.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776326"/>
            <a:ext cx="12191695" cy="6086246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157630"/>
            <a:ext cx="4972507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61695" y="1347826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6054" y="147127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29207" y="1347826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Cerca Ovunque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429207" y="1646834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motore indicizza tutto: cerca per titolo del file, contenuto interno (full-text) o nome dell'autore.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" y="2487168"/>
            <a:ext cx="4972507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761695" y="2677363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6054" y="2801722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29207" y="2677363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Filtri e Refiners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429207" y="2977286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Affina i risultati usando filtri dinamici per metadati, data di modifica o tipo di file (Word, PDF, Excel).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1500" y="3816706"/>
            <a:ext cx="4972507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761695" y="4007815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871423" y="4131259"/>
            <a:ext cx="256946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29207" y="4007815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Risultati Ricchi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429207" y="4306824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Visualizza anteprime con le parole chiave evidenziate per capire subito il contesto senza aprire il file.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71500" y="5147158"/>
            <a:ext cx="4972507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761695" y="5337353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914400" y="5461711"/>
            <a:ext cx="171907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29207" y="5337353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Practice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1429207" y="5636362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 convenzioni di naming coerenti e tagga i file con metadati di qualità per risultati precisi.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 rot="20544293">
            <a:off x="5639105" y="1047902"/>
            <a:ext cx="1904695" cy="1904695"/>
          </a:xfrm>
          <a:prstGeom prst="roundRect">
            <a:avLst>
              <a:gd name="adj" fmla="val 4801"/>
            </a:avLst>
          </a:prstGeom>
          <a:solidFill>
            <a:srgbClr val="FFEBD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0"/>
          <p:cNvSpPr/>
          <p:nvPr/>
        </p:nvSpPr>
        <p:spPr>
          <a:xfrm>
            <a:off x="9239098" y="3919118"/>
            <a:ext cx="2857500" cy="2857500"/>
          </a:xfrm>
          <a:prstGeom prst="ellipse">
            <a:avLst/>
          </a:prstGeom>
          <a:solidFill>
            <a:srgbClr val="CFE6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1"/>
          <p:cNvSpPr/>
          <p:nvPr/>
        </p:nvSpPr>
        <p:spPr>
          <a:xfrm>
            <a:off x="0" y="0"/>
            <a:ext cx="12191695" cy="7808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Shape 22"/>
          <p:cNvSpPr/>
          <p:nvPr/>
        </p:nvSpPr>
        <p:spPr>
          <a:xfrm>
            <a:off x="0" y="742493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3"/>
          <p:cNvSpPr txBox="1"/>
          <p:nvPr/>
        </p:nvSpPr>
        <p:spPr>
          <a:xfrm>
            <a:off x="571500" y="64008"/>
            <a:ext cx="3048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Trova tutto all'istante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71500" y="292608"/>
            <a:ext cx="359267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Ricerca Avanzata</a:t>
            </a:r>
            <a:endParaRPr lang="en-US" sz="2700" dirty="0"/>
          </a:p>
        </p:txBody>
      </p:sp>
      <p:sp>
        <p:nvSpPr>
          <p:cNvPr id="31" name="Shape 25"/>
          <p:cNvSpPr/>
          <p:nvPr/>
        </p:nvSpPr>
        <p:spPr>
          <a:xfrm>
            <a:off x="9784994" y="188366"/>
            <a:ext cx="1837944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985248" y="292608"/>
            <a:ext cx="152705" cy="1527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252253" y="188366"/>
            <a:ext cx="122895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Motore di Ricerca</a:t>
            </a:r>
            <a:endParaRPr lang="en-US" sz="1000" dirty="0"/>
          </a:p>
        </p:txBody>
      </p:sp>
      <p:pic>
        <p:nvPicPr>
          <p:cNvPr id="67" name="Immagine 66">
            <a:extLst>
              <a:ext uri="{FF2B5EF4-FFF2-40B4-BE49-F238E27FC236}">
                <a16:creationId xmlns:a16="http://schemas.microsoft.com/office/drawing/2014/main" id="{61C83A50-BE83-52F7-1684-E5EB4ADB93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8514" y="788558"/>
            <a:ext cx="6678084" cy="602587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776326"/>
            <a:ext cx="12191695" cy="6086246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157630"/>
            <a:ext cx="4972507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61695" y="1347826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871423" y="1471270"/>
            <a:ext cx="256946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29207" y="1347826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Layout Responsive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429207" y="1646834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Struttura flessibile a sezioni e colonne che si adatta automaticamente a desktop, tablet e dispositivi mobili.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" y="2487168"/>
            <a:ext cx="4972507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761695" y="2677363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857707" y="2801722"/>
            <a:ext cx="286207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29207" y="2677363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Contenuti Ricchi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429207" y="2977286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 facilmente testo formattato, immagini, video, collegamenti rapidi ed elenchi dinamici.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1500" y="3816706"/>
            <a:ext cx="4972507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761695" y="4007815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 t="-45" b="-45"/>
          <a:stretch/>
        </p:blipFill>
        <p:spPr>
          <a:xfrm>
            <a:off x="871423" y="4131259"/>
            <a:ext cx="256946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29207" y="4007815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Versatilità d'Uso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429207" y="4306824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Ideali per costruire portali intranet aziendali, manuali di procedure, dashboard di progetto e landing page.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71500" y="5147158"/>
            <a:ext cx="4972507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761695" y="5337353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FFF4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6054" y="5461711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29207" y="5337353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Pubblicazione Rapida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1429207" y="5636362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Crea, modifica e pubblica notizie e pagine in pochi clic, con controlli di versione e approvazione.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 rot="20673461">
            <a:off x="5639105" y="1626718"/>
            <a:ext cx="1904695" cy="1904695"/>
          </a:xfrm>
          <a:prstGeom prst="roundRect">
            <a:avLst>
              <a:gd name="adj" fmla="val 4801"/>
            </a:avLst>
          </a:prstGeom>
          <a:solidFill>
            <a:srgbClr val="CFE6FA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0"/>
          <p:cNvSpPr/>
          <p:nvPr/>
        </p:nvSpPr>
        <p:spPr>
          <a:xfrm>
            <a:off x="9239098" y="3341218"/>
            <a:ext cx="2857500" cy="2857500"/>
          </a:xfrm>
          <a:prstGeom prst="ellipse">
            <a:avLst/>
          </a:prstGeom>
          <a:solidFill>
            <a:srgbClr val="FFEBD6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1"/>
          <p:cNvSpPr/>
          <p:nvPr/>
        </p:nvSpPr>
        <p:spPr>
          <a:xfrm>
            <a:off x="0" y="0"/>
            <a:ext cx="12191695" cy="7808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Shape 22"/>
          <p:cNvSpPr/>
          <p:nvPr/>
        </p:nvSpPr>
        <p:spPr>
          <a:xfrm>
            <a:off x="0" y="742493"/>
            <a:ext cx="12191695" cy="38405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3"/>
          <p:cNvSpPr txBox="1"/>
          <p:nvPr/>
        </p:nvSpPr>
        <p:spPr>
          <a:xfrm>
            <a:off x="571500" y="64008"/>
            <a:ext cx="28931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Comunicare con Impatto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71500" y="292608"/>
            <a:ext cx="31674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Pagine Moderne</a:t>
            </a:r>
            <a:endParaRPr lang="en-US" sz="2700" dirty="0"/>
          </a:p>
        </p:txBody>
      </p:sp>
      <p:sp>
        <p:nvSpPr>
          <p:cNvPr id="31" name="Shape 25"/>
          <p:cNvSpPr/>
          <p:nvPr/>
        </p:nvSpPr>
        <p:spPr>
          <a:xfrm>
            <a:off x="10089490" y="188366"/>
            <a:ext cx="1533449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289743" y="292608"/>
            <a:ext cx="152705" cy="1527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555834" y="188366"/>
            <a:ext cx="9244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 Content</a:t>
            </a:r>
            <a:endParaRPr lang="en-US" sz="1000" dirty="0"/>
          </a:p>
        </p:txBody>
      </p:sp>
      <p:pic>
        <p:nvPicPr>
          <p:cNvPr id="74" name="Immagine 73">
            <a:extLst>
              <a:ext uri="{FF2B5EF4-FFF2-40B4-BE49-F238E27FC236}">
                <a16:creationId xmlns:a16="http://schemas.microsoft.com/office/drawing/2014/main" id="{27676517-7ABC-A51A-4CB0-AA72AA8CC8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7770" y="1796541"/>
            <a:ext cx="5836650" cy="391271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2079346" y="1333195"/>
            <a:ext cx="8039405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Webpart sono i componenti modulari di SharePoint. 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Permettono di costruire pagine ricche e interattive semplicemente trascinando i blocchi.</a:t>
            </a:r>
            <a:endParaRPr lang="en-US" sz="1500" dirty="0"/>
          </a:p>
        </p:txBody>
      </p:sp>
      <p:sp>
        <p:nvSpPr>
          <p:cNvPr id="88" name="Shape 67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9" name="Shape 68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0" name="Text 69"/>
          <p:cNvSpPr txBox="1"/>
          <p:nvPr/>
        </p:nvSpPr>
        <p:spPr>
          <a:xfrm>
            <a:off x="571500" y="152705"/>
            <a:ext cx="53629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91" name="Text 70"/>
          <p:cNvSpPr txBox="1"/>
          <p:nvPr/>
        </p:nvSpPr>
        <p:spPr>
          <a:xfrm>
            <a:off x="571500" y="381305"/>
            <a:ext cx="678119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Webpart: i blocchi della pagina</a:t>
            </a:r>
            <a:endParaRPr lang="en-US" sz="2700" dirty="0"/>
          </a:p>
        </p:txBody>
      </p:sp>
      <p:sp>
        <p:nvSpPr>
          <p:cNvPr id="92" name="Shape 71"/>
          <p:cNvSpPr/>
          <p:nvPr/>
        </p:nvSpPr>
        <p:spPr>
          <a:xfrm>
            <a:off x="9740189" y="276149"/>
            <a:ext cx="1886407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3" name="Image 19" descr="preencoded.png"/>
          <p:cNvPicPr>
            <a:picLocks noChangeAspect="1"/>
          </p:cNvPicPr>
          <p:nvPr/>
        </p:nvPicPr>
        <p:blipFill>
          <a:blip r:embed="rId3"/>
          <a:srcRect l="-33" r="-33"/>
          <a:stretch/>
        </p:blipFill>
        <p:spPr>
          <a:xfrm>
            <a:off x="9940442" y="381305"/>
            <a:ext cx="171907" cy="152705"/>
          </a:xfrm>
          <a:prstGeom prst="rect">
            <a:avLst/>
          </a:prstGeom>
        </p:spPr>
      </p:pic>
      <p:sp>
        <p:nvSpPr>
          <p:cNvPr id="94" name="Text 72"/>
          <p:cNvSpPr txBox="1"/>
          <p:nvPr/>
        </p:nvSpPr>
        <p:spPr>
          <a:xfrm>
            <a:off x="10225735" y="276149"/>
            <a:ext cx="12573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Code Required</a:t>
            </a:r>
            <a:endParaRPr lang="en-US" sz="1000" dirty="0"/>
          </a:p>
        </p:txBody>
      </p:sp>
      <p:pic>
        <p:nvPicPr>
          <p:cNvPr id="96" name="Immagine 95">
            <a:extLst>
              <a:ext uri="{FF2B5EF4-FFF2-40B4-BE49-F238E27FC236}">
                <a16:creationId xmlns:a16="http://schemas.microsoft.com/office/drawing/2014/main" id="{85FBAD50-0558-875D-D694-032031204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337" y="2247595"/>
            <a:ext cx="10211325" cy="410231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429207"/>
            <a:ext cx="3495751" cy="2333549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578047" y="1343254"/>
            <a:ext cx="571500" cy="571500"/>
          </a:xfrm>
          <a:prstGeom prst="ellipse">
            <a:avLst/>
          </a:prstGeom>
          <a:solidFill>
            <a:srgbClr val="0078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819302" y="1676095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6521" y="1824228"/>
            <a:ext cx="276149" cy="27614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80998" y="1676095"/>
            <a:ext cx="232806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Tabelle Online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580998" y="2027225"/>
            <a:ext cx="231526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Immagina un foglio Excel, ma integrato nel web, condiviso in tempo reale, sicuro e accessibile da qualsiasi dispositivo.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580998" y="2991002"/>
            <a:ext cx="1019556" cy="267005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Concetto Base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49801" y="1429207"/>
            <a:ext cx="3495751" cy="2333549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7356348" y="1343254"/>
            <a:ext cx="571500" cy="571500"/>
          </a:xfrm>
          <a:prstGeom prst="ellipse">
            <a:avLst/>
          </a:prstGeom>
          <a:solidFill>
            <a:srgbClr val="FFB9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4597603" y="1676095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FF4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t="-817" b="-817"/>
          <a:stretch/>
        </p:blipFill>
        <p:spPr>
          <a:xfrm>
            <a:off x="4764024" y="1824228"/>
            <a:ext cx="237744" cy="27614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359298" y="1676095"/>
            <a:ext cx="232806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Dati Strutturati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359298" y="2027225"/>
            <a:ext cx="231526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 informazioni sono organizzate in modo preciso. Non testo libero, ma dati che rispettano regole specifiche.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5359298" y="2991002"/>
            <a:ext cx="1133856" cy="267005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Qualità del Dato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8128102" y="1429207"/>
            <a:ext cx="3495751" cy="2333549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6"/>
          <p:cNvSpPr/>
          <p:nvPr/>
        </p:nvSpPr>
        <p:spPr>
          <a:xfrm>
            <a:off x="11134649" y="1343254"/>
            <a:ext cx="571500" cy="571500"/>
          </a:xfrm>
          <a:prstGeom prst="ellipse">
            <a:avLst/>
          </a:prstGeom>
          <a:solidFill>
            <a:srgbClr val="107C1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7"/>
          <p:cNvSpPr/>
          <p:nvPr/>
        </p:nvSpPr>
        <p:spPr>
          <a:xfrm>
            <a:off x="8375904" y="1676095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552" r="-552"/>
          <a:stretch/>
        </p:blipFill>
        <p:spPr>
          <a:xfrm>
            <a:off x="8556955" y="1824228"/>
            <a:ext cx="209398" cy="276149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137599" y="1676095"/>
            <a:ext cx="232806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Casi d'Uso Ideali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9137599" y="2027225"/>
            <a:ext cx="231526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Perfette per gestire richieste ferie, inventari di magazzino, ticket di supporto, anagrafiche clienti e tracking.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9137599" y="2991002"/>
            <a:ext cx="896112" cy="267005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Applicazioni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71500" y="4048049"/>
            <a:ext cx="3495751" cy="2333549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22"/>
          <p:cNvSpPr/>
          <p:nvPr/>
        </p:nvSpPr>
        <p:spPr>
          <a:xfrm>
            <a:off x="3578047" y="3962095"/>
            <a:ext cx="571500" cy="571500"/>
          </a:xfrm>
          <a:prstGeom prst="ellipse">
            <a:avLst/>
          </a:prstGeom>
          <a:solidFill>
            <a:srgbClr val="5C2D9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3"/>
          <p:cNvSpPr/>
          <p:nvPr/>
        </p:nvSpPr>
        <p:spPr>
          <a:xfrm>
            <a:off x="819302" y="4295851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3E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 t="-817" b="-817"/>
          <a:stretch/>
        </p:blipFill>
        <p:spPr>
          <a:xfrm>
            <a:off x="985723" y="4443070"/>
            <a:ext cx="237744" cy="276149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580998" y="4295851"/>
            <a:ext cx="232806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Elemento (Riga)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1580998" y="4646066"/>
            <a:ext cx="231526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Ogni riga della lista rappresenta un singolo record, un'entità unica (es. "Richiesta #1024" o "PC-05").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1580998" y="5609844"/>
            <a:ext cx="619963" cy="267005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Record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4349801" y="4048049"/>
            <a:ext cx="3495751" cy="2333549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Shape 28"/>
          <p:cNvSpPr/>
          <p:nvPr/>
        </p:nvSpPr>
        <p:spPr>
          <a:xfrm>
            <a:off x="7356348" y="3962095"/>
            <a:ext cx="571500" cy="571500"/>
          </a:xfrm>
          <a:prstGeom prst="ellipse">
            <a:avLst/>
          </a:prstGeom>
          <a:solidFill>
            <a:srgbClr val="D1343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29"/>
          <p:cNvSpPr/>
          <p:nvPr/>
        </p:nvSpPr>
        <p:spPr>
          <a:xfrm>
            <a:off x="4597603" y="4295851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FE6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44822" y="4443070"/>
            <a:ext cx="276149" cy="276149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5359298" y="4295851"/>
            <a:ext cx="232806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Campo (Colonna)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5359298" y="4646066"/>
            <a:ext cx="231526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Ogni colonna definisce una proprietà specifica (metadato) dell'elemento, come Data, Stato, Assegnato a.</a:t>
            </a:r>
            <a:endParaRPr lang="en-US" sz="1100" dirty="0"/>
          </a:p>
        </p:txBody>
      </p:sp>
      <p:sp>
        <p:nvSpPr>
          <p:cNvPr id="39" name="Text 32"/>
          <p:cNvSpPr txBox="1"/>
          <p:nvPr/>
        </p:nvSpPr>
        <p:spPr>
          <a:xfrm>
            <a:off x="5359298" y="5609844"/>
            <a:ext cx="705002" cy="267005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Attributi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8128102" y="4048049"/>
            <a:ext cx="3495751" cy="2333549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1" name="Shape 34"/>
          <p:cNvSpPr/>
          <p:nvPr/>
        </p:nvSpPr>
        <p:spPr>
          <a:xfrm>
            <a:off x="11134649" y="3962095"/>
            <a:ext cx="571500" cy="571500"/>
          </a:xfrm>
          <a:prstGeom prst="ellipse">
            <a:avLst/>
          </a:prstGeom>
          <a:solidFill>
            <a:srgbClr val="00606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35"/>
          <p:cNvSpPr/>
          <p:nvPr/>
        </p:nvSpPr>
        <p:spPr>
          <a:xfrm>
            <a:off x="8375904" y="4295851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0F7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23122" y="4443070"/>
            <a:ext cx="276149" cy="276149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9137599" y="4295851"/>
            <a:ext cx="232806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Viste Flessibili</a:t>
            </a:r>
            <a:endParaRPr lang="en-US" sz="1400" dirty="0"/>
          </a:p>
        </p:txBody>
      </p:sp>
      <p:sp>
        <p:nvSpPr>
          <p:cNvPr id="45" name="Text 37"/>
          <p:cNvSpPr txBox="1"/>
          <p:nvPr/>
        </p:nvSpPr>
        <p:spPr>
          <a:xfrm>
            <a:off x="9137599" y="4646066"/>
            <a:ext cx="231526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differenza di un file statico, puoi creare viste filtrate per mostrare solo ciò che serve a specifici utenti.</a:t>
            </a:r>
            <a:endParaRPr lang="en-US" sz="1100" dirty="0"/>
          </a:p>
        </p:txBody>
      </p:sp>
      <p:sp>
        <p:nvSpPr>
          <p:cNvPr id="46" name="Text 38"/>
          <p:cNvSpPr txBox="1"/>
          <p:nvPr/>
        </p:nvSpPr>
        <p:spPr>
          <a:xfrm>
            <a:off x="9137599" y="5609844"/>
            <a:ext cx="1067105" cy="267005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Visualizzazione</a:t>
            </a:r>
            <a:endParaRPr lang="en-US" sz="900" dirty="0"/>
          </a:p>
        </p:txBody>
      </p:sp>
      <p:sp>
        <p:nvSpPr>
          <p:cNvPr id="47" name="Shape 39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8" name="Shape 40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1"/>
          <p:cNvSpPr txBox="1"/>
          <p:nvPr/>
        </p:nvSpPr>
        <p:spPr>
          <a:xfrm>
            <a:off x="571500" y="152705"/>
            <a:ext cx="39438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Dati Strutturati</a:t>
            </a:r>
            <a:endParaRPr lang="en-US" sz="1000" dirty="0"/>
          </a:p>
        </p:txBody>
      </p:sp>
      <p:sp>
        <p:nvSpPr>
          <p:cNvPr id="50" name="Text 42"/>
          <p:cNvSpPr txBox="1"/>
          <p:nvPr/>
        </p:nvSpPr>
        <p:spPr>
          <a:xfrm>
            <a:off x="571500" y="381305"/>
            <a:ext cx="508040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Introduzione alle Liste</a:t>
            </a:r>
            <a:endParaRPr lang="en-US" sz="2700" dirty="0"/>
          </a:p>
        </p:txBody>
      </p:sp>
      <p:sp>
        <p:nvSpPr>
          <p:cNvPr id="51" name="Shape 43"/>
          <p:cNvSpPr/>
          <p:nvPr/>
        </p:nvSpPr>
        <p:spPr>
          <a:xfrm>
            <a:off x="9879178" y="276149"/>
            <a:ext cx="1742846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079431" y="381305"/>
            <a:ext cx="152705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10345522" y="276149"/>
            <a:ext cx="11338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SharePoint Lists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647395"/>
            <a:ext cx="12191695" cy="621060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4243" y="708660"/>
            <a:ext cx="5333695" cy="5971946"/>
          </a:xfrm>
          <a:prstGeom prst="roundRect">
            <a:avLst>
              <a:gd name="adj" fmla="val 3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811987" y="3500323"/>
            <a:ext cx="48582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 txBox="1"/>
          <p:nvPr/>
        </p:nvSpPr>
        <p:spPr>
          <a:xfrm>
            <a:off x="1184148" y="2670962"/>
            <a:ext cx="46012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Collaborazione Real-Time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84148" y="2975458"/>
            <a:ext cx="456285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Più persone modificano contemporaneamente senza blocchi o conflitti di versione.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11987" y="4529023"/>
            <a:ext cx="48582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 txBox="1"/>
          <p:nvPr/>
        </p:nvSpPr>
        <p:spPr>
          <a:xfrm>
            <a:off x="1117397" y="3699662"/>
            <a:ext cx="46680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Permessi e Sicurezza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17397" y="4004158"/>
            <a:ext cx="46296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Controllo granulare degli accessi (chi vede o modifica cosa) integrato con M365.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1987" y="5557723"/>
            <a:ext cx="48582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 txBox="1"/>
          <p:nvPr/>
        </p:nvSpPr>
        <p:spPr>
          <a:xfrm>
            <a:off x="1136599" y="4728362"/>
            <a:ext cx="4648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Dati Dinamici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36599" y="5032858"/>
            <a:ext cx="46104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Ideale quando i dati cambiano spesso e richiedono uno storico affidabile.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36599" y="5757062"/>
            <a:ext cx="46488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Automazione &amp; Integrazioni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36599" y="6061558"/>
            <a:ext cx="46104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Creazione di regole, notifiche e flussi con Power Automate su singoli elementi.</a:t>
            </a:r>
            <a:endParaRPr lang="en-US" sz="10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rcRect l="-505" r="-505"/>
          <a:stretch/>
        </p:blipFill>
        <p:spPr>
          <a:xfrm>
            <a:off x="811987" y="2741371"/>
            <a:ext cx="228600" cy="181051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l="-1082" r="-1082"/>
          <a:stretch/>
        </p:blipFill>
        <p:spPr>
          <a:xfrm>
            <a:off x="811987" y="3770071"/>
            <a:ext cx="161849" cy="181051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1987" y="4798771"/>
            <a:ext cx="181051" cy="181051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11987" y="5827471"/>
            <a:ext cx="181051" cy="181051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574243" y="708660"/>
            <a:ext cx="5333695" cy="1723644"/>
          </a:xfrm>
          <a:prstGeom prst="roundRect">
            <a:avLst>
              <a:gd name="adj" fmla="val 3517"/>
            </a:avLst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6"/>
          <p:cNvSpPr/>
          <p:nvPr/>
        </p:nvSpPr>
        <p:spPr>
          <a:xfrm>
            <a:off x="2955341" y="946404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127248" y="1118311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55294" y="1661465"/>
            <a:ext cx="49725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SharePoint Lists</a:t>
            </a:r>
            <a:endParaRPr lang="en-US" sz="1800" dirty="0"/>
          </a:p>
        </p:txBody>
      </p:sp>
      <p:sp>
        <p:nvSpPr>
          <p:cNvPr id="25" name="Text 18"/>
          <p:cNvSpPr txBox="1"/>
          <p:nvPr/>
        </p:nvSpPr>
        <p:spPr>
          <a:xfrm>
            <a:off x="755294" y="2004365"/>
            <a:ext cx="4972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BEAF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Database Online Collaborativo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574243" y="6378472"/>
            <a:ext cx="5333695" cy="437998"/>
          </a:xfrm>
          <a:prstGeom prst="roundRect">
            <a:avLst>
              <a:gd name="adj" fmla="val 54461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0"/>
          <p:cNvSpPr txBox="1"/>
          <p:nvPr/>
        </p:nvSpPr>
        <p:spPr>
          <a:xfrm>
            <a:off x="631850" y="6492772"/>
            <a:ext cx="52203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78D4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processi aziendali e lavoro di team</a:t>
            </a:r>
            <a:endParaRPr lang="en-US" sz="10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rcRect l="-2838" r="-2838"/>
          <a:stretch/>
        </p:blipFill>
        <p:spPr>
          <a:xfrm>
            <a:off x="1873605" y="6529348"/>
            <a:ext cx="123444" cy="13350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6289243" y="708660"/>
            <a:ext cx="5333695" cy="5971946"/>
          </a:xfrm>
          <a:prstGeom prst="roundRect">
            <a:avLst>
              <a:gd name="adj" fmla="val 3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397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2"/>
          <p:cNvSpPr/>
          <p:nvPr/>
        </p:nvSpPr>
        <p:spPr>
          <a:xfrm>
            <a:off x="6526987" y="3309214"/>
            <a:ext cx="48582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3"/>
          <p:cNvSpPr txBox="1"/>
          <p:nvPr/>
        </p:nvSpPr>
        <p:spPr>
          <a:xfrm>
            <a:off x="6804050" y="2670962"/>
            <a:ext cx="44010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Analisi Avanzata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6804050" y="2975458"/>
            <a:ext cx="4972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Calcoli complessi, tabelle pivot e modellazione finanziaria dettagliata.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6526987" y="4147718"/>
            <a:ext cx="48582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26"/>
          <p:cNvSpPr txBox="1"/>
          <p:nvPr/>
        </p:nvSpPr>
        <p:spPr>
          <a:xfrm>
            <a:off x="6899148" y="3509467"/>
            <a:ext cx="43626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Lavoro Locale / Offline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6899148" y="3813962"/>
            <a:ext cx="49341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Analisi personale su file che non richiedono condivisione immediata.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526987" y="4985309"/>
            <a:ext cx="4858207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29"/>
          <p:cNvSpPr txBox="1"/>
          <p:nvPr/>
        </p:nvSpPr>
        <p:spPr>
          <a:xfrm>
            <a:off x="6851599" y="4347058"/>
            <a:ext cx="41724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Uso Temporaneo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6851599" y="4652467"/>
            <a:ext cx="47439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Dati "usa e getta" o bozze che non necessitano di struttura rigida.</a:t>
            </a:r>
            <a:endParaRPr lang="en-US" sz="1000" dirty="0"/>
          </a:p>
        </p:txBody>
      </p:sp>
      <p:sp>
        <p:nvSpPr>
          <p:cNvPr id="39" name="Text 31"/>
          <p:cNvSpPr txBox="1"/>
          <p:nvPr/>
        </p:nvSpPr>
        <p:spPr>
          <a:xfrm>
            <a:off x="6851599" y="5185562"/>
            <a:ext cx="31912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Visualizzazione Libera</a:t>
            </a:r>
            <a:endParaRPr lang="en-US" sz="1300" dirty="0"/>
          </a:p>
        </p:txBody>
      </p:sp>
      <p:sp>
        <p:nvSpPr>
          <p:cNvPr id="40" name="Text 32"/>
          <p:cNvSpPr txBox="1"/>
          <p:nvPr/>
        </p:nvSpPr>
        <p:spPr>
          <a:xfrm>
            <a:off x="6851599" y="5490058"/>
            <a:ext cx="3653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Grafici personalizzati e reportistica ad-hoc rapida.</a:t>
            </a:r>
            <a:endParaRPr lang="en-US" sz="1000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rcRect t="-856" b="-856"/>
          <a:stretch/>
        </p:blipFill>
        <p:spPr>
          <a:xfrm>
            <a:off x="6526987" y="2741371"/>
            <a:ext cx="133502" cy="181051"/>
          </a:xfrm>
          <a:prstGeom prst="rect">
            <a:avLst/>
          </a:prstGeom>
        </p:spPr>
      </p:pic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rcRect l="-505" r="-505"/>
          <a:stretch/>
        </p:blipFill>
        <p:spPr>
          <a:xfrm>
            <a:off x="6526987" y="3578962"/>
            <a:ext cx="228600" cy="181051"/>
          </a:xfrm>
          <a:prstGeom prst="rect">
            <a:avLst/>
          </a:prstGeom>
        </p:spPr>
      </p:pic>
      <p:pic>
        <p:nvPicPr>
          <p:cNvPr id="43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526987" y="4417466"/>
            <a:ext cx="181051" cy="181051"/>
          </a:xfrm>
          <a:prstGeom prst="rect">
            <a:avLst/>
          </a:prstGeom>
        </p:spPr>
      </p:pic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526987" y="5255971"/>
            <a:ext cx="181051" cy="181051"/>
          </a:xfrm>
          <a:prstGeom prst="rect">
            <a:avLst/>
          </a:prstGeom>
        </p:spPr>
      </p:pic>
      <p:sp>
        <p:nvSpPr>
          <p:cNvPr id="45" name="Shape 33"/>
          <p:cNvSpPr/>
          <p:nvPr/>
        </p:nvSpPr>
        <p:spPr>
          <a:xfrm>
            <a:off x="6289243" y="708660"/>
            <a:ext cx="5333695" cy="1723644"/>
          </a:xfrm>
          <a:prstGeom prst="roundRect">
            <a:avLst>
              <a:gd name="adj" fmla="val 3517"/>
            </a:avLst>
          </a:prstGeom>
          <a:solidFill>
            <a:srgbClr val="107C1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Shape 34"/>
          <p:cNvSpPr/>
          <p:nvPr/>
        </p:nvSpPr>
        <p:spPr>
          <a:xfrm>
            <a:off x="8670341" y="946404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7" name="Image 10" descr="preencoded.png"/>
          <p:cNvPicPr>
            <a:picLocks noChangeAspect="1"/>
          </p:cNvPicPr>
          <p:nvPr/>
        </p:nvPicPr>
        <p:blipFill>
          <a:blip r:embed="rId13"/>
          <a:srcRect l="-133" r="-133"/>
          <a:stretch/>
        </p:blipFill>
        <p:spPr>
          <a:xfrm>
            <a:off x="8870594" y="1118311"/>
            <a:ext cx="171907" cy="228600"/>
          </a:xfrm>
          <a:prstGeom prst="rect">
            <a:avLst/>
          </a:prstGeom>
        </p:spPr>
      </p:pic>
      <p:sp>
        <p:nvSpPr>
          <p:cNvPr id="48" name="Text 35"/>
          <p:cNvSpPr txBox="1"/>
          <p:nvPr/>
        </p:nvSpPr>
        <p:spPr>
          <a:xfrm>
            <a:off x="6470294" y="1661465"/>
            <a:ext cx="49725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Microsoft Excel</a:t>
            </a:r>
            <a:endParaRPr lang="en-US" sz="1800" dirty="0"/>
          </a:p>
        </p:txBody>
      </p:sp>
      <p:sp>
        <p:nvSpPr>
          <p:cNvPr id="49" name="Text 36"/>
          <p:cNvSpPr txBox="1"/>
          <p:nvPr/>
        </p:nvSpPr>
        <p:spPr>
          <a:xfrm>
            <a:off x="6470294" y="2004365"/>
            <a:ext cx="4972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1FAE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Foglio di Calcolo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6339840" y="6369025"/>
            <a:ext cx="5333695" cy="437998"/>
          </a:xfrm>
          <a:prstGeom prst="roundRect">
            <a:avLst>
              <a:gd name="adj" fmla="val 54461"/>
            </a:avLst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38"/>
          <p:cNvSpPr txBox="1"/>
          <p:nvPr/>
        </p:nvSpPr>
        <p:spPr>
          <a:xfrm>
            <a:off x="6397447" y="6483325"/>
            <a:ext cx="52203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7C1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analisi dati e calcoli complessi</a:t>
            </a:r>
            <a:endParaRPr lang="en-US" sz="1000" dirty="0"/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7785506" y="6519901"/>
            <a:ext cx="133502" cy="133502"/>
          </a:xfrm>
          <a:prstGeom prst="rect">
            <a:avLst/>
          </a:prstGeom>
        </p:spPr>
      </p:pic>
      <p:sp>
        <p:nvSpPr>
          <p:cNvPr id="53" name="Shape 39"/>
          <p:cNvSpPr/>
          <p:nvPr/>
        </p:nvSpPr>
        <p:spPr>
          <a:xfrm>
            <a:off x="0" y="0"/>
            <a:ext cx="12191695" cy="6473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4" name="Shape 40"/>
          <p:cNvSpPr/>
          <p:nvPr/>
        </p:nvSpPr>
        <p:spPr>
          <a:xfrm>
            <a:off x="0" y="60899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41"/>
          <p:cNvSpPr txBox="1"/>
          <p:nvPr/>
        </p:nvSpPr>
        <p:spPr>
          <a:xfrm>
            <a:off x="571500" y="0"/>
            <a:ext cx="5610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Dati</a:t>
            </a:r>
            <a:endParaRPr lang="en-US" sz="1000" dirty="0"/>
          </a:p>
        </p:txBody>
      </p:sp>
      <p:sp>
        <p:nvSpPr>
          <p:cNvPr id="56" name="Text 42"/>
          <p:cNvSpPr txBox="1"/>
          <p:nvPr/>
        </p:nvSpPr>
        <p:spPr>
          <a:xfrm>
            <a:off x="571500" y="228600"/>
            <a:ext cx="678119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Quando usare una Lista vs Excel</a:t>
            </a:r>
            <a:endParaRPr lang="en-US" sz="2700" dirty="0"/>
          </a:p>
        </p:txBody>
      </p:sp>
      <p:sp>
        <p:nvSpPr>
          <p:cNvPr id="57" name="Shape 43"/>
          <p:cNvSpPr/>
          <p:nvPr/>
        </p:nvSpPr>
        <p:spPr>
          <a:xfrm>
            <a:off x="9565538" y="123444"/>
            <a:ext cx="2057400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8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9765792" y="228600"/>
            <a:ext cx="152705" cy="152705"/>
          </a:xfrm>
          <a:prstGeom prst="rect">
            <a:avLst/>
          </a:prstGeom>
        </p:spPr>
      </p:pic>
      <p:sp>
        <p:nvSpPr>
          <p:cNvPr id="59" name="Text 44"/>
          <p:cNvSpPr txBox="1"/>
          <p:nvPr/>
        </p:nvSpPr>
        <p:spPr>
          <a:xfrm>
            <a:off x="10031882" y="123444"/>
            <a:ext cx="14484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Confronto Strumenti</a:t>
            </a:r>
            <a:endParaRPr lang="en-US" sz="1000" dirty="0"/>
          </a:p>
        </p:txBody>
      </p:sp>
      <p:sp>
        <p:nvSpPr>
          <p:cNvPr id="60" name="Text 45"/>
          <p:cNvSpPr txBox="1"/>
          <p:nvPr/>
        </p:nvSpPr>
        <p:spPr>
          <a:xfrm>
            <a:off x="5784494" y="3408883"/>
            <a:ext cx="629107" cy="571500"/>
          </a:xfrm>
          <a:prstGeom prst="rect">
            <a:avLst/>
          </a:prstGeom>
          <a:solidFill>
            <a:srgbClr val="FFFFFF"/>
          </a:solidFill>
          <a:ln w="50800">
            <a:solidFill>
              <a:srgbClr val="F8F9F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429207"/>
            <a:ext cx="2619756" cy="2381098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2704795" y="1343254"/>
            <a:ext cx="571500" cy="571500"/>
          </a:xfrm>
          <a:prstGeom prst="ellipse">
            <a:avLst/>
          </a:prstGeom>
          <a:solidFill>
            <a:srgbClr val="0078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771754" y="1628546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909828" y="1752905"/>
            <a:ext cx="200254" cy="2286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1754" y="2247595"/>
            <a:ext cx="23088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771754" y="2575865"/>
            <a:ext cx="22960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Ideale per brevi descrizioni, titoli o codici. Supporta riga singola o multipla per note più estese.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81451" y="1429207"/>
            <a:ext cx="2619756" cy="2381098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5514746" y="1343254"/>
            <a:ext cx="571500" cy="571500"/>
          </a:xfrm>
          <a:prstGeom prst="ellipse">
            <a:avLst/>
          </a:prstGeom>
          <a:solidFill>
            <a:srgbClr val="FFB9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3581705" y="1628546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FFF4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705149" y="1752905"/>
            <a:ext cx="228600" cy="2286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581705" y="2247595"/>
            <a:ext cx="23088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Scelta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581705" y="2575865"/>
            <a:ext cx="22960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Menu a tendina, pulsanti radio o checkbox. Standardizza l'input e facilita il filtraggio.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191402" y="1429207"/>
            <a:ext cx="2619756" cy="2381098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8324698" y="1343254"/>
            <a:ext cx="571500" cy="571500"/>
          </a:xfrm>
          <a:prstGeom prst="ellipse">
            <a:avLst/>
          </a:prstGeom>
          <a:solidFill>
            <a:srgbClr val="5C2D9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5"/>
          <p:cNvSpPr/>
          <p:nvPr/>
        </p:nvSpPr>
        <p:spPr>
          <a:xfrm>
            <a:off x="6391656" y="1628546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F3E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 l="-133" r="-133"/>
          <a:stretch/>
        </p:blipFill>
        <p:spPr>
          <a:xfrm>
            <a:off x="6543446" y="1752905"/>
            <a:ext cx="171907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91656" y="2247595"/>
            <a:ext cx="23088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Numero / Valuta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6391656" y="2575865"/>
            <a:ext cx="22960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Dati quantitativi per calcoli automatici, percentuali o valori monetari precisi.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9001354" y="1429207"/>
            <a:ext cx="2619756" cy="2381098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Shape 19"/>
          <p:cNvSpPr/>
          <p:nvPr/>
        </p:nvSpPr>
        <p:spPr>
          <a:xfrm>
            <a:off x="11134649" y="1343254"/>
            <a:ext cx="571500" cy="571500"/>
          </a:xfrm>
          <a:prstGeom prst="ellipse">
            <a:avLst/>
          </a:prstGeom>
          <a:solidFill>
            <a:srgbClr val="107C1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0"/>
          <p:cNvSpPr/>
          <p:nvPr/>
        </p:nvSpPr>
        <p:spPr>
          <a:xfrm>
            <a:off x="9201607" y="1628546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l="-57" r="-57"/>
          <a:stretch/>
        </p:blipFill>
        <p:spPr>
          <a:xfrm>
            <a:off x="9339682" y="1752905"/>
            <a:ext cx="200254" cy="2286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201607" y="2247595"/>
            <a:ext cx="23088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e Ora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9201607" y="2575865"/>
            <a:ext cx="22960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Fondamentale per scadenze, eventi o tracciamento temporale. Include data e orario.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71500" y="4000500"/>
            <a:ext cx="2619756" cy="2381098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4"/>
          <p:cNvSpPr/>
          <p:nvPr/>
        </p:nvSpPr>
        <p:spPr>
          <a:xfrm>
            <a:off x="2704795" y="3914546"/>
            <a:ext cx="571500" cy="571500"/>
          </a:xfrm>
          <a:prstGeom prst="ellipse">
            <a:avLst/>
          </a:prstGeom>
          <a:solidFill>
            <a:srgbClr val="D1343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5"/>
          <p:cNvSpPr/>
          <p:nvPr/>
        </p:nvSpPr>
        <p:spPr>
          <a:xfrm>
            <a:off x="771754" y="4200754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FFE6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866851" y="4324198"/>
            <a:ext cx="286207" cy="22860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71754" y="4819802"/>
            <a:ext cx="23088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771754" y="5147158"/>
            <a:ext cx="22960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Collega i dati a utenti reali della directory. Utile per assegnazioni e notifiche.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3381451" y="4000500"/>
            <a:ext cx="2619756" cy="2381098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6" name="Shape 29"/>
          <p:cNvSpPr/>
          <p:nvPr/>
        </p:nvSpPr>
        <p:spPr>
          <a:xfrm>
            <a:off x="5514746" y="3914546"/>
            <a:ext cx="571500" cy="571500"/>
          </a:xfrm>
          <a:prstGeom prst="ellipse">
            <a:avLst/>
          </a:prstGeom>
          <a:solidFill>
            <a:srgbClr val="32313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Shape 30"/>
          <p:cNvSpPr/>
          <p:nvPr/>
        </p:nvSpPr>
        <p:spPr>
          <a:xfrm>
            <a:off x="3581705" y="4200754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1DF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705149" y="4324198"/>
            <a:ext cx="228600" cy="22860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3581705" y="4819802"/>
            <a:ext cx="23088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Lookup</a:t>
            </a:r>
            <a:endParaRPr lang="en-US" sz="1300" dirty="0"/>
          </a:p>
        </p:txBody>
      </p:sp>
      <p:sp>
        <p:nvSpPr>
          <p:cNvPr id="40" name="Text 32"/>
          <p:cNvSpPr txBox="1"/>
          <p:nvPr/>
        </p:nvSpPr>
        <p:spPr>
          <a:xfrm>
            <a:off x="3581705" y="5147158"/>
            <a:ext cx="22960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 relazioni tra liste. Recupera informazioni da una lista "master" per coerenza.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6191402" y="4000500"/>
            <a:ext cx="2619756" cy="2381098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2" name="Shape 34"/>
          <p:cNvSpPr/>
          <p:nvPr/>
        </p:nvSpPr>
        <p:spPr>
          <a:xfrm>
            <a:off x="8324698" y="3914546"/>
            <a:ext cx="571500" cy="571500"/>
          </a:xfrm>
          <a:prstGeom prst="ellipse">
            <a:avLst/>
          </a:prstGeom>
          <a:solidFill>
            <a:srgbClr val="D83B0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Shape 35"/>
          <p:cNvSpPr/>
          <p:nvPr/>
        </p:nvSpPr>
        <p:spPr>
          <a:xfrm>
            <a:off x="6391656" y="4200754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FFF0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6529730" y="4324198"/>
            <a:ext cx="200254" cy="228600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6391656" y="4819802"/>
            <a:ext cx="23088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Allegato</a:t>
            </a:r>
            <a:endParaRPr lang="en-US" sz="1300" dirty="0"/>
          </a:p>
        </p:txBody>
      </p:sp>
      <p:sp>
        <p:nvSpPr>
          <p:cNvPr id="46" name="Text 37"/>
          <p:cNvSpPr txBox="1"/>
          <p:nvPr/>
        </p:nvSpPr>
        <p:spPr>
          <a:xfrm>
            <a:off x="6391656" y="5147158"/>
            <a:ext cx="22960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Permette di associare file (PDF, immagini, doc) direttamente all'elemento della lista.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9001354" y="4000500"/>
            <a:ext cx="2619756" cy="2381098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8" name="Shape 39"/>
          <p:cNvSpPr/>
          <p:nvPr/>
        </p:nvSpPr>
        <p:spPr>
          <a:xfrm>
            <a:off x="11134649" y="3914546"/>
            <a:ext cx="571500" cy="571500"/>
          </a:xfrm>
          <a:prstGeom prst="ellipse">
            <a:avLst/>
          </a:prstGeom>
          <a:solidFill>
            <a:srgbClr val="004E8C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Shape 40"/>
          <p:cNvSpPr/>
          <p:nvPr/>
        </p:nvSpPr>
        <p:spPr>
          <a:xfrm>
            <a:off x="9201607" y="4200754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rcRect l="-80" r="-80"/>
          <a:stretch/>
        </p:blipFill>
        <p:spPr>
          <a:xfrm>
            <a:off x="9296705" y="4324198"/>
            <a:ext cx="286207" cy="228600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9201607" y="4819802"/>
            <a:ext cx="230886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Hyperlink</a:t>
            </a:r>
            <a:endParaRPr lang="en-US" sz="1300" dirty="0"/>
          </a:p>
        </p:txBody>
      </p:sp>
      <p:sp>
        <p:nvSpPr>
          <p:cNvPr id="52" name="Text 42"/>
          <p:cNvSpPr txBox="1"/>
          <p:nvPr/>
        </p:nvSpPr>
        <p:spPr>
          <a:xfrm>
            <a:off x="9201607" y="5147158"/>
            <a:ext cx="22960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Collegamenti cliccabili a siti web, file esterni o risorse online, con descrizione.</a:t>
            </a:r>
            <a:endParaRPr lang="en-US" sz="1000" dirty="0"/>
          </a:p>
        </p:txBody>
      </p:sp>
      <p:sp>
        <p:nvSpPr>
          <p:cNvPr id="53" name="Shape 43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4" name="Shape 44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5" name="Text 45"/>
          <p:cNvSpPr txBox="1"/>
          <p:nvPr/>
        </p:nvSpPr>
        <p:spPr>
          <a:xfrm>
            <a:off x="571500" y="152705"/>
            <a:ext cx="44869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Dati Strutturati</a:t>
            </a:r>
            <a:endParaRPr lang="en-US" sz="1000" dirty="0"/>
          </a:p>
        </p:txBody>
      </p:sp>
      <p:sp>
        <p:nvSpPr>
          <p:cNvPr id="56" name="Text 46"/>
          <p:cNvSpPr txBox="1"/>
          <p:nvPr/>
        </p:nvSpPr>
        <p:spPr>
          <a:xfrm>
            <a:off x="571500" y="381305"/>
            <a:ext cx="593079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Tipi di Colonne nelle Liste</a:t>
            </a:r>
            <a:endParaRPr lang="en-US" sz="2700" dirty="0"/>
          </a:p>
        </p:txBody>
      </p:sp>
      <p:sp>
        <p:nvSpPr>
          <p:cNvPr id="57" name="Shape 47"/>
          <p:cNvSpPr/>
          <p:nvPr/>
        </p:nvSpPr>
        <p:spPr>
          <a:xfrm>
            <a:off x="9880092" y="276149"/>
            <a:ext cx="1742846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8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080346" y="381305"/>
            <a:ext cx="152705" cy="152705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10347350" y="276149"/>
            <a:ext cx="1133856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Elementi Chiave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-761695" y="3810305"/>
            <a:ext cx="3810305" cy="3810305"/>
          </a:xfrm>
          <a:prstGeom prst="ellipse">
            <a:avLst/>
          </a:prstGeom>
          <a:solidFill>
            <a:srgbClr val="E6F2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571500" y="152705"/>
            <a:ext cx="44101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Interfaccia Utente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381305"/>
            <a:ext cx="529346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 di Inserimento Dati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0073945" y="276149"/>
            <a:ext cx="1552651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274198" y="381305"/>
            <a:ext cx="152705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540289" y="276149"/>
            <a:ext cx="9436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Raccolta Dati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1500" y="1377086"/>
            <a:ext cx="6286500" cy="1086307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571500" y="1377086"/>
            <a:ext cx="47549" cy="1086307"/>
          </a:xfrm>
          <a:prstGeom prst="roundRect">
            <a:avLst>
              <a:gd name="adj" fmla="val 134952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 txBox="1"/>
          <p:nvPr/>
        </p:nvSpPr>
        <p:spPr>
          <a:xfrm>
            <a:off x="1343254" y="1567282"/>
            <a:ext cx="539130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 Standard "Out-of-the-Box"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343254" y="1866290"/>
            <a:ext cx="535381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Generato automaticamente quando crei una lista. Si adatta a desktop e mobile senza scrivere codice.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71500" y="2700223"/>
            <a:ext cx="6286500" cy="1086307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Shape 15"/>
          <p:cNvSpPr/>
          <p:nvPr/>
        </p:nvSpPr>
        <p:spPr>
          <a:xfrm>
            <a:off x="571500" y="2700223"/>
            <a:ext cx="47549" cy="1086307"/>
          </a:xfrm>
          <a:prstGeom prst="roundRect">
            <a:avLst>
              <a:gd name="adj" fmla="val 134952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 txBox="1"/>
          <p:nvPr/>
        </p:nvSpPr>
        <p:spPr>
          <a:xfrm>
            <a:off x="1334110" y="2891333"/>
            <a:ext cx="540136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Qualità del Dato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1334110" y="3190342"/>
            <a:ext cx="536295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Imposta campi </a:t>
            </a: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obbligatori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regole di validazione (es. "Data fine" deve essere successiva a "Data inizio").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71500" y="4024274"/>
            <a:ext cx="6286500" cy="1086307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Shape 19"/>
          <p:cNvSpPr/>
          <p:nvPr/>
        </p:nvSpPr>
        <p:spPr>
          <a:xfrm>
            <a:off x="571500" y="4024274"/>
            <a:ext cx="47549" cy="1086307"/>
          </a:xfrm>
          <a:prstGeom prst="roundRect">
            <a:avLst>
              <a:gd name="adj" fmla="val 134952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 txBox="1"/>
          <p:nvPr/>
        </p:nvSpPr>
        <p:spPr>
          <a:xfrm>
            <a:off x="1324051" y="4214470"/>
            <a:ext cx="54105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Personalizzazione Rapida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1324051" y="4514393"/>
            <a:ext cx="537210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Puoi nascondere colonne, cambiare l'ordine o modificare il layout direttamente dalle impostazioni della lista.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71500" y="5348326"/>
            <a:ext cx="6286500" cy="1086307"/>
          </a:xfrm>
          <a:prstGeom prst="roundRect">
            <a:avLst>
              <a:gd name="adj" fmla="val 5907"/>
            </a:avLst>
          </a:prstGeom>
          <a:solidFill>
            <a:srgbClr val="FDFDFD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6" name="Shape 23"/>
          <p:cNvSpPr/>
          <p:nvPr/>
        </p:nvSpPr>
        <p:spPr>
          <a:xfrm>
            <a:off x="571500" y="5348326"/>
            <a:ext cx="47549" cy="1086307"/>
          </a:xfrm>
          <a:prstGeom prst="roundRect">
            <a:avLst>
              <a:gd name="adj" fmla="val 134952"/>
            </a:avLst>
          </a:prstGeom>
          <a:solidFill>
            <a:srgbClr val="742774"/>
          </a:solidFill>
          <a:ln w="12700">
            <a:solidFill>
              <a:srgbClr val="74277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4"/>
          <p:cNvSpPr txBox="1"/>
          <p:nvPr/>
        </p:nvSpPr>
        <p:spPr>
          <a:xfrm>
            <a:off x="1312164" y="5538521"/>
            <a:ext cx="54297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Estensione Power Apps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1312164" y="5837530"/>
            <a:ext cx="53913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 logiche complesse, design su misura o integrazioni dati esterne, trasforma il form standard in una Power App.</a:t>
            </a:r>
            <a:endParaRPr lang="en-US" sz="1100" dirty="0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90626" y="1644091"/>
            <a:ext cx="228600" cy="228600"/>
          </a:xfrm>
          <a:prstGeom prst="rect">
            <a:avLst/>
          </a:prstGeom>
        </p:spPr>
      </p:pic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6054" y="2967228"/>
            <a:ext cx="228600" cy="228600"/>
          </a:xfrm>
          <a:prstGeom prst="rect">
            <a:avLst/>
          </a:prstGeom>
        </p:spPr>
      </p:pic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1482" y="4291279"/>
            <a:ext cx="228600" cy="228600"/>
          </a:xfrm>
          <a:prstGeom prst="rect">
            <a:avLst/>
          </a:prstGeom>
        </p:spPr>
      </p:pic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889711" y="5614416"/>
            <a:ext cx="200254" cy="228600"/>
          </a:xfrm>
          <a:prstGeom prst="rect">
            <a:avLst/>
          </a:prstGeom>
        </p:spPr>
      </p:pic>
      <p:pic>
        <p:nvPicPr>
          <p:cNvPr id="59" name="Immagine 58">
            <a:extLst>
              <a:ext uri="{FF2B5EF4-FFF2-40B4-BE49-F238E27FC236}">
                <a16:creationId xmlns:a16="http://schemas.microsoft.com/office/drawing/2014/main" id="{E1BCC184-0212-29E9-1673-DAC0C8C62C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6171" y="1255899"/>
            <a:ext cx="4454106" cy="52207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438705" y="1524305"/>
            <a:ext cx="219456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5486400" y="1524305"/>
            <a:ext cx="219456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8534095" y="1524305"/>
            <a:ext cx="219456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377281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5"/>
          <p:cNvSpPr txBox="1"/>
          <p:nvPr/>
        </p:nvSpPr>
        <p:spPr>
          <a:xfrm>
            <a:off x="672084" y="3963010"/>
            <a:ext cx="223662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Notifiche Modifiche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24205" y="433334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Ricevi avvisi automatici (Alert Me) via email o Teams non appena un elemento della lista viene creato o modificato da un collega.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5238" y="2392070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86991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8"/>
          <p:cNvSpPr txBox="1"/>
          <p:nvPr/>
        </p:nvSpPr>
        <p:spPr>
          <a:xfrm>
            <a:off x="1948586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 t="-12" b="-12"/>
          <a:stretch/>
        </p:blipFill>
        <p:spPr>
          <a:xfrm>
            <a:off x="1553566" y="2696566"/>
            <a:ext cx="466344" cy="5330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44545" y="377281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0"/>
          <p:cNvSpPr txBox="1"/>
          <p:nvPr/>
        </p:nvSpPr>
        <p:spPr>
          <a:xfrm>
            <a:off x="3593592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Promemoria Date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3596335" y="433334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Imposta flussi automatici basati su colonne data (es. scadenze contratti) per ricevere reminder prima della scadenza.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8282" y="2392070"/>
            <a:ext cx="114300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59122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3"/>
          <p:cNvSpPr txBox="1"/>
          <p:nvPr/>
        </p:nvSpPr>
        <p:spPr>
          <a:xfrm>
            <a:off x="4821631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 t="-12" b="-12"/>
          <a:stretch/>
        </p:blipFill>
        <p:spPr>
          <a:xfrm>
            <a:off x="4425696" y="2696566"/>
            <a:ext cx="466344" cy="53309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316675" y="377281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15"/>
          <p:cNvSpPr txBox="1"/>
          <p:nvPr/>
        </p:nvSpPr>
        <p:spPr>
          <a:xfrm>
            <a:off x="646663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Formattazione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6469380" y="433334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 l'evidenziazione condizionale JSON (senza codice complesso) per colorare righe o celle in base allo stato o priorità.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0413" y="2392070"/>
            <a:ext cx="1143000" cy="11430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732166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18"/>
          <p:cNvSpPr txBox="1"/>
          <p:nvPr/>
        </p:nvSpPr>
        <p:spPr>
          <a:xfrm>
            <a:off x="7693762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 l="-10" r="-10"/>
          <a:stretch/>
        </p:blipFill>
        <p:spPr>
          <a:xfrm>
            <a:off x="7231990" y="2696566"/>
            <a:ext cx="599846" cy="5330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189720" y="3772814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0"/>
          <p:cNvSpPr txBox="1"/>
          <p:nvPr/>
        </p:nvSpPr>
        <p:spPr>
          <a:xfrm>
            <a:off x="933876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Approvazioni</a:t>
            </a:r>
            <a:endParaRPr lang="en-US" sz="1400" dirty="0"/>
          </a:p>
        </p:txBody>
      </p:sp>
      <p:sp>
        <p:nvSpPr>
          <p:cNvPr id="32" name="Text 21"/>
          <p:cNvSpPr txBox="1"/>
          <p:nvPr/>
        </p:nvSpPr>
        <p:spPr>
          <a:xfrm>
            <a:off x="9341510" y="4333342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Attiva flussi di approvazione standard direttamente dalla barra dei comandi per gestire richieste ferie o documenti.</a:t>
            </a:r>
            <a:endParaRPr lang="en-US" sz="11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33458" y="2392070"/>
            <a:ext cx="1143000" cy="11430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605211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Text 23"/>
          <p:cNvSpPr txBox="1"/>
          <p:nvPr/>
        </p:nvSpPr>
        <p:spPr>
          <a:xfrm>
            <a:off x="10566806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137953" y="2696566"/>
            <a:ext cx="533095" cy="5330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26"/>
          <p:cNvSpPr txBox="1"/>
          <p:nvPr/>
        </p:nvSpPr>
        <p:spPr>
          <a:xfrm>
            <a:off x="571500" y="152705"/>
            <a:ext cx="3829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Efficienza &amp; Produttività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571500" y="381305"/>
            <a:ext cx="444307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Automazioni Semplici</a:t>
            </a:r>
            <a:endParaRPr lang="en-US" sz="2700" dirty="0"/>
          </a:p>
        </p:txBody>
      </p:sp>
      <p:sp>
        <p:nvSpPr>
          <p:cNvPr id="41" name="Shape 28"/>
          <p:cNvSpPr/>
          <p:nvPr/>
        </p:nvSpPr>
        <p:spPr>
          <a:xfrm>
            <a:off x="9941357" y="276149"/>
            <a:ext cx="1686154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rcRect t="-180" b="-180"/>
          <a:stretch/>
        </p:blipFill>
        <p:spPr>
          <a:xfrm>
            <a:off x="10141610" y="381305"/>
            <a:ext cx="190195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10446106" y="276149"/>
            <a:ext cx="10387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Flussi No-Code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334195" y="0"/>
            <a:ext cx="3810305" cy="3810305"/>
          </a:xfrm>
          <a:prstGeom prst="ellipse">
            <a:avLst/>
          </a:prstGeom>
          <a:solidFill>
            <a:srgbClr val="E6F2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571500" y="152705"/>
            <a:ext cx="55531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Visualizzazione Dati Avanzata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381305"/>
            <a:ext cx="678119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Liste + Pagine = Mini Dashboard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826142" y="276149"/>
            <a:ext cx="1800454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26396" y="381305"/>
            <a:ext cx="152705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292486" y="276149"/>
            <a:ext cx="11914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Dashboard Team</a:t>
            </a:r>
            <a:endParaRPr lang="en-US" sz="1000" dirty="0"/>
          </a:p>
        </p:txBody>
      </p:sp>
      <p:pic>
        <p:nvPicPr>
          <p:cNvPr id="58" name="Immagine 57">
            <a:extLst>
              <a:ext uri="{FF2B5EF4-FFF2-40B4-BE49-F238E27FC236}">
                <a16:creationId xmlns:a16="http://schemas.microsoft.com/office/drawing/2014/main" id="{346F47C1-FF7B-C889-0046-0D54878C17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122" y="1335599"/>
            <a:ext cx="10759057" cy="525299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905902" y="3524098"/>
            <a:ext cx="4762195" cy="4762195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402" y="3581705"/>
            <a:ext cx="2800807" cy="2800807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l="-6584" r="-6584"/>
          <a:stretch/>
        </p:blipFill>
        <p:spPr>
          <a:xfrm>
            <a:off x="8991295" y="476402"/>
            <a:ext cx="2247595" cy="26481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6402" y="2034540"/>
            <a:ext cx="1124620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Quando usare una lista invece di Excel?</a:t>
            </a:r>
            <a:endParaRPr lang="en-US" sz="3600" dirty="0"/>
          </a:p>
        </p:txBody>
      </p:sp>
      <p:sp>
        <p:nvSpPr>
          <p:cNvPr id="9" name="Shape 5"/>
          <p:cNvSpPr/>
          <p:nvPr/>
        </p:nvSpPr>
        <p:spPr>
          <a:xfrm>
            <a:off x="5229454" y="1417320"/>
            <a:ext cx="1733702" cy="428854"/>
          </a:xfrm>
          <a:prstGeom prst="roundRect">
            <a:avLst>
              <a:gd name="adj" fmla="val 142146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 txBox="1"/>
          <p:nvPr/>
        </p:nvSpPr>
        <p:spPr>
          <a:xfrm>
            <a:off x="5194706" y="1417320"/>
            <a:ext cx="1803197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35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Quiz Time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1403" r="-1403"/>
          <a:stretch/>
        </p:blipFill>
        <p:spPr>
          <a:xfrm>
            <a:off x="5419649" y="1535278"/>
            <a:ext cx="209398" cy="181051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57707" y="3059582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8"/>
          <p:cNvSpPr/>
          <p:nvPr/>
        </p:nvSpPr>
        <p:spPr>
          <a:xfrm>
            <a:off x="2270455" y="3788359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9"/>
          <p:cNvSpPr txBox="1"/>
          <p:nvPr/>
        </p:nvSpPr>
        <p:spPr>
          <a:xfrm>
            <a:off x="2241194" y="3788359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114654" y="4454957"/>
            <a:ext cx="278892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i dati non cambiano mai</a:t>
            </a:r>
            <a:endParaRPr lang="en-US" sz="14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11" r="-11"/>
          <a:stretch/>
        </p:blipFill>
        <p:spPr>
          <a:xfrm>
            <a:off x="8028482" y="3060294"/>
            <a:ext cx="3305811" cy="238346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088212" y="4462616"/>
            <a:ext cx="3105302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serve collaborazione e filtri intelligenti</a:t>
            </a:r>
            <a:endParaRPr lang="en-US" sz="1400" dirty="0"/>
          </a:p>
        </p:txBody>
      </p:sp>
      <p:sp>
        <p:nvSpPr>
          <p:cNvPr id="21" name="Shape 15"/>
          <p:cNvSpPr/>
          <p:nvPr/>
        </p:nvSpPr>
        <p:spPr>
          <a:xfrm>
            <a:off x="8028737" y="3051556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6"/>
          <p:cNvSpPr/>
          <p:nvPr/>
        </p:nvSpPr>
        <p:spPr>
          <a:xfrm>
            <a:off x="9445752" y="3788359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7"/>
          <p:cNvSpPr txBox="1"/>
          <p:nvPr/>
        </p:nvSpPr>
        <p:spPr>
          <a:xfrm>
            <a:off x="9417406" y="3788359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4821631" y="4450057"/>
            <a:ext cx="235823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si lavora solo offline</a:t>
            </a:r>
            <a:endParaRPr lang="en-US" sz="1400" dirty="0"/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A61DE782-58CF-6FFA-F15A-7CC15602167D}"/>
              </a:ext>
            </a:extLst>
          </p:cNvPr>
          <p:cNvSpPr/>
          <p:nvPr/>
        </p:nvSpPr>
        <p:spPr>
          <a:xfrm>
            <a:off x="4468469" y="3059582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50BD70B8-874A-F6EF-3B9A-ADA1CD1CB1E4}"/>
              </a:ext>
            </a:extLst>
          </p:cNvPr>
          <p:cNvSpPr/>
          <p:nvPr/>
        </p:nvSpPr>
        <p:spPr>
          <a:xfrm>
            <a:off x="5857799" y="3788359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03682284-EAFC-883D-6FDA-1B0A5396179D}"/>
              </a:ext>
            </a:extLst>
          </p:cNvPr>
          <p:cNvSpPr txBox="1"/>
          <p:nvPr/>
        </p:nvSpPr>
        <p:spPr>
          <a:xfrm>
            <a:off x="5828538" y="3788359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776326"/>
            <a:ext cx="12191695" cy="6086246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157630"/>
            <a:ext cx="4972507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761695" y="1347826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45" b="-45"/>
          <a:stretch/>
        </p:blipFill>
        <p:spPr>
          <a:xfrm>
            <a:off x="871423" y="1471270"/>
            <a:ext cx="256946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29207" y="1347826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Struttura a Sezioni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429207" y="1646834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Organizza il layout in sezioni verticali e colonne. Usa sfondi colorati per separare visivamente i blocchi di contenuto.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71500" y="2487168"/>
            <a:ext cx="4972507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761695" y="2677363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871423" y="2801722"/>
            <a:ext cx="256946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29207" y="2677363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Testo Chiaro e Immagini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429207" y="2977286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Utilizza titoli concisi, testo leggibile e immagini significative per rendere la pagina visivamente accattivante.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71500" y="3816706"/>
            <a:ext cx="4972507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761695" y="4007815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6054" y="4131259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29207" y="4007815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Link Rapidi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429207" y="4306824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Inserisci una sezione "Quick Links" per garantire accesso immediato ai task frequenti e alle risorse chiave.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71500" y="5147158"/>
            <a:ext cx="4972507" cy="1095451"/>
          </a:xfrm>
          <a:prstGeom prst="roundRect">
            <a:avLst>
              <a:gd name="adj" fmla="val 871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Shape 16"/>
          <p:cNvSpPr/>
          <p:nvPr/>
        </p:nvSpPr>
        <p:spPr>
          <a:xfrm>
            <a:off x="761695" y="5337353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86054" y="5461711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429207" y="5337353"/>
            <a:ext cx="40389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Aggiornamenti Semplici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1429207" y="5636362"/>
            <a:ext cx="400050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Modifica i contenuti direttamente sulla pagina con un editor intuitivo. Pubblica le modifiche istantaneamente per tutti.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 rot="20602167">
            <a:off x="5639105" y="1735531"/>
            <a:ext cx="1904695" cy="1904695"/>
          </a:xfrm>
          <a:prstGeom prst="roundRect">
            <a:avLst>
              <a:gd name="adj" fmla="val 4801"/>
            </a:avLst>
          </a:prstGeom>
          <a:solidFill>
            <a:srgbClr val="FFEBD6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0"/>
          <p:cNvSpPr/>
          <p:nvPr/>
        </p:nvSpPr>
        <p:spPr>
          <a:xfrm>
            <a:off x="9239098" y="3231490"/>
            <a:ext cx="2857500" cy="2857500"/>
          </a:xfrm>
          <a:prstGeom prst="ellipse">
            <a:avLst/>
          </a:prstGeom>
          <a:solidFill>
            <a:srgbClr val="CFE6F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Shape 21"/>
          <p:cNvSpPr/>
          <p:nvPr/>
        </p:nvSpPr>
        <p:spPr>
          <a:xfrm>
            <a:off x="0" y="0"/>
            <a:ext cx="12191695" cy="78089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8" name="Shape 22"/>
          <p:cNvSpPr/>
          <p:nvPr/>
        </p:nvSpPr>
        <p:spPr>
          <a:xfrm>
            <a:off x="0" y="742493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3"/>
          <p:cNvSpPr txBox="1"/>
          <p:nvPr/>
        </p:nvSpPr>
        <p:spPr>
          <a:xfrm>
            <a:off x="571500" y="64008"/>
            <a:ext cx="31437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Pagine Moderne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71500" y="292608"/>
            <a:ext cx="401787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Ripasso e Consigli</a:t>
            </a:r>
            <a:endParaRPr lang="en-US" sz="2700" dirty="0"/>
          </a:p>
        </p:txBody>
      </p:sp>
      <p:sp>
        <p:nvSpPr>
          <p:cNvPr id="31" name="Shape 25"/>
          <p:cNvSpPr/>
          <p:nvPr/>
        </p:nvSpPr>
        <p:spPr>
          <a:xfrm>
            <a:off x="10059314" y="188366"/>
            <a:ext cx="1561795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 t="-100" b="-100"/>
          <a:stretch/>
        </p:blipFill>
        <p:spPr>
          <a:xfrm>
            <a:off x="10258654" y="292608"/>
            <a:ext cx="114300" cy="152705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0487254" y="188366"/>
            <a:ext cx="99121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Practices</a:t>
            </a:r>
            <a:endParaRPr lang="en-US" sz="1000" dirty="0"/>
          </a:p>
        </p:txBody>
      </p:sp>
      <p:pic>
        <p:nvPicPr>
          <p:cNvPr id="74" name="Immagine 73">
            <a:extLst>
              <a:ext uri="{FF2B5EF4-FFF2-40B4-BE49-F238E27FC236}">
                <a16:creationId xmlns:a16="http://schemas.microsoft.com/office/drawing/2014/main" id="{8E725846-A204-21E1-CB13-5687268607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071" y="1985864"/>
            <a:ext cx="5811038" cy="370444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809244"/>
            <a:ext cx="12191695" cy="6048756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 txBox="1"/>
          <p:nvPr/>
        </p:nvSpPr>
        <p:spPr>
          <a:xfrm>
            <a:off x="514807" y="1000354"/>
            <a:ext cx="11163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 5 componenti essenziali per creare pagine funzionali e coinvolgenti in pochi click.</a:t>
            </a:r>
            <a:endParaRPr lang="en-US" sz="1300" dirty="0"/>
          </a:p>
        </p:txBody>
      </p:sp>
      <p:sp>
        <p:nvSpPr>
          <p:cNvPr id="84" name="Shape 61"/>
          <p:cNvSpPr/>
          <p:nvPr/>
        </p:nvSpPr>
        <p:spPr>
          <a:xfrm>
            <a:off x="0" y="0"/>
            <a:ext cx="12191695" cy="8092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85" name="Shape 62"/>
          <p:cNvSpPr/>
          <p:nvPr/>
        </p:nvSpPr>
        <p:spPr>
          <a:xfrm>
            <a:off x="0" y="770839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6" name="Text 63"/>
          <p:cNvSpPr txBox="1"/>
          <p:nvPr/>
        </p:nvSpPr>
        <p:spPr>
          <a:xfrm>
            <a:off x="571500" y="99670"/>
            <a:ext cx="254660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Building Blocks</a:t>
            </a:r>
            <a:endParaRPr lang="en-US" sz="1000" dirty="0"/>
          </a:p>
        </p:txBody>
      </p:sp>
      <p:sp>
        <p:nvSpPr>
          <p:cNvPr id="87" name="Text 64"/>
          <p:cNvSpPr txBox="1"/>
          <p:nvPr/>
        </p:nvSpPr>
        <p:spPr>
          <a:xfrm>
            <a:off x="571500" y="328270"/>
            <a:ext cx="291327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Webpart più Utili</a:t>
            </a:r>
            <a:endParaRPr lang="en-US" sz="2200" dirty="0"/>
          </a:p>
        </p:txBody>
      </p:sp>
      <p:sp>
        <p:nvSpPr>
          <p:cNvPr id="88" name="Shape 65"/>
          <p:cNvSpPr/>
          <p:nvPr/>
        </p:nvSpPr>
        <p:spPr>
          <a:xfrm>
            <a:off x="10057486" y="204826"/>
            <a:ext cx="1571854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9" name="Image 21" descr="preencoded.png"/>
          <p:cNvPicPr>
            <a:picLocks noChangeAspect="1"/>
          </p:cNvPicPr>
          <p:nvPr/>
        </p:nvPicPr>
        <p:blipFill>
          <a:blip r:embed="rId3"/>
          <a:srcRect l="-33" r="-33"/>
          <a:stretch/>
        </p:blipFill>
        <p:spPr>
          <a:xfrm>
            <a:off x="10256825" y="309982"/>
            <a:ext cx="171907" cy="152705"/>
          </a:xfrm>
          <a:prstGeom prst="rect">
            <a:avLst/>
          </a:prstGeom>
        </p:spPr>
      </p:pic>
      <p:sp>
        <p:nvSpPr>
          <p:cNvPr id="90" name="Text 66"/>
          <p:cNvSpPr txBox="1"/>
          <p:nvPr/>
        </p:nvSpPr>
        <p:spPr>
          <a:xfrm>
            <a:off x="10543032" y="204826"/>
            <a:ext cx="9436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Setup Rapido</a:t>
            </a:r>
            <a:endParaRPr lang="en-US" sz="1000" dirty="0"/>
          </a:p>
        </p:txBody>
      </p:sp>
      <p:pic>
        <p:nvPicPr>
          <p:cNvPr id="92" name="Immagine 91">
            <a:extLst>
              <a:ext uri="{FF2B5EF4-FFF2-40B4-BE49-F238E27FC236}">
                <a16:creationId xmlns:a16="http://schemas.microsoft.com/office/drawing/2014/main" id="{450566A2-E7D8-0F9E-CE5D-FA4FECA31C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578" y="1403604"/>
            <a:ext cx="10628844" cy="501917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810598" y="4476902"/>
            <a:ext cx="2857500" cy="2857500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2438705" y="1524305"/>
            <a:ext cx="2194560" cy="38405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5486400" y="1524305"/>
            <a:ext cx="2194560" cy="3840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rcRect t="-398" b="-398"/>
          <a:stretch/>
        </p:blipFill>
        <p:spPr>
          <a:xfrm>
            <a:off x="8534095" y="1524305"/>
            <a:ext cx="2194560" cy="384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571500" y="3772814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5"/>
          <p:cNvSpPr txBox="1"/>
          <p:nvPr/>
        </p:nvSpPr>
        <p:spPr>
          <a:xfrm>
            <a:off x="72054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Scegli Layout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724205" y="4333342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Definisci la struttura della pagina scegliendo sezioni a una, due o tre colonne per organizzare i contenuti.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15238" y="2392070"/>
            <a:ext cx="1143000" cy="11430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986991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8"/>
          <p:cNvSpPr txBox="1"/>
          <p:nvPr/>
        </p:nvSpPr>
        <p:spPr>
          <a:xfrm>
            <a:off x="1948586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519733" y="2696566"/>
            <a:ext cx="533095" cy="533095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3444545" y="3772814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7" name="Text 10"/>
          <p:cNvSpPr txBox="1"/>
          <p:nvPr/>
        </p:nvSpPr>
        <p:spPr>
          <a:xfrm>
            <a:off x="3593592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Aggiungi Webpart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3596335" y="4333342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Inserisci gli elementi necessari come testo, immagini, liste, video o pulsanti per arricchire la pagina.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088282" y="2392070"/>
            <a:ext cx="1143000" cy="1143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4859122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3"/>
          <p:cNvSpPr txBox="1"/>
          <p:nvPr/>
        </p:nvSpPr>
        <p:spPr>
          <a:xfrm>
            <a:off x="4821631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3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392778" y="2696566"/>
            <a:ext cx="533095" cy="533095"/>
          </a:xfrm>
          <a:prstGeom prst="rect">
            <a:avLst/>
          </a:prstGeom>
        </p:spPr>
      </p:pic>
      <p:sp>
        <p:nvSpPr>
          <p:cNvPr id="23" name="Shape 14"/>
          <p:cNvSpPr/>
          <p:nvPr/>
        </p:nvSpPr>
        <p:spPr>
          <a:xfrm>
            <a:off x="6316675" y="3772814"/>
            <a:ext cx="2438705" cy="1837944"/>
          </a:xfrm>
          <a:prstGeom prst="roundRect">
            <a:avLst>
              <a:gd name="adj" fmla="val 309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4" name="Text 15"/>
          <p:cNvSpPr txBox="1"/>
          <p:nvPr/>
        </p:nvSpPr>
        <p:spPr>
          <a:xfrm>
            <a:off x="646663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Salva &amp; Pubblica</a:t>
            </a:r>
            <a:endParaRPr lang="en-US" sz="1400" dirty="0"/>
          </a:p>
        </p:txBody>
      </p:sp>
      <p:sp>
        <p:nvSpPr>
          <p:cNvPr id="25" name="Text 16"/>
          <p:cNvSpPr txBox="1"/>
          <p:nvPr/>
        </p:nvSpPr>
        <p:spPr>
          <a:xfrm>
            <a:off x="6469380" y="4333342"/>
            <a:ext cx="2134210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Salva una bozza per continuare dopo o clicca "Pubblica" per rendere la pagina immediatamente visibile a tutti.</a:t>
            </a:r>
            <a:endParaRPr lang="en-US" sz="11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960413" y="2392070"/>
            <a:ext cx="1143000" cy="1143000"/>
          </a:xfrm>
          <a:prstGeom prst="rect">
            <a:avLst/>
          </a:prstGeom>
        </p:spPr>
      </p:pic>
      <p:sp>
        <p:nvSpPr>
          <p:cNvPr id="27" name="Shape 17"/>
          <p:cNvSpPr/>
          <p:nvPr/>
        </p:nvSpPr>
        <p:spPr>
          <a:xfrm>
            <a:off x="7732166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18"/>
          <p:cNvSpPr txBox="1"/>
          <p:nvPr/>
        </p:nvSpPr>
        <p:spPr>
          <a:xfrm>
            <a:off x="7693762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265822" y="2696566"/>
            <a:ext cx="533095" cy="533095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9189720" y="3772814"/>
            <a:ext cx="2438705" cy="1619402"/>
          </a:xfrm>
          <a:prstGeom prst="roundRect">
            <a:avLst>
              <a:gd name="adj" fmla="val 398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0"/>
          <p:cNvSpPr txBox="1"/>
          <p:nvPr/>
        </p:nvSpPr>
        <p:spPr>
          <a:xfrm>
            <a:off x="9338767" y="3963010"/>
            <a:ext cx="213969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Condividi</a:t>
            </a:r>
            <a:endParaRPr lang="en-US" sz="1400" dirty="0"/>
          </a:p>
        </p:txBody>
      </p:sp>
      <p:sp>
        <p:nvSpPr>
          <p:cNvPr id="32" name="Text 21"/>
          <p:cNvSpPr txBox="1"/>
          <p:nvPr/>
        </p:nvSpPr>
        <p:spPr>
          <a:xfrm>
            <a:off x="9341510" y="4333342"/>
            <a:ext cx="21342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Invia il link ai colleghi tramite Teams o email e raccogli feedback o commenti direttamente sulla pagina.</a:t>
            </a:r>
            <a:endParaRPr lang="en-US" sz="11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833458" y="2392070"/>
            <a:ext cx="1143000" cy="1143000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10605211" y="2429561"/>
            <a:ext cx="333756" cy="333756"/>
          </a:xfrm>
          <a:prstGeom prst="ellipse">
            <a:avLst/>
          </a:prstGeom>
          <a:solidFill>
            <a:srgbClr val="3231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762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Text 23"/>
          <p:cNvSpPr txBox="1"/>
          <p:nvPr/>
        </p:nvSpPr>
        <p:spPr>
          <a:xfrm>
            <a:off x="10566806" y="2429561"/>
            <a:ext cx="409651" cy="3337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300" dirty="0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11"/>
          <a:srcRect l="-17" r="-17"/>
          <a:stretch/>
        </p:blipFill>
        <p:spPr>
          <a:xfrm>
            <a:off x="10071202" y="2696566"/>
            <a:ext cx="666598" cy="533095"/>
          </a:xfrm>
          <a:prstGeom prst="rect">
            <a:avLst/>
          </a:prstGeom>
        </p:spPr>
      </p:pic>
      <p:sp>
        <p:nvSpPr>
          <p:cNvPr id="37" name="Shape 2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8" name="Shape 2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26"/>
          <p:cNvSpPr txBox="1"/>
          <p:nvPr/>
        </p:nvSpPr>
        <p:spPr>
          <a:xfrm>
            <a:off x="571500" y="152705"/>
            <a:ext cx="54964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Processo di Creazione</a:t>
            </a:r>
            <a:endParaRPr lang="en-US" sz="1000" dirty="0"/>
          </a:p>
        </p:txBody>
      </p:sp>
      <p:sp>
        <p:nvSpPr>
          <p:cNvPr id="40" name="Text 27"/>
          <p:cNvSpPr txBox="1"/>
          <p:nvPr/>
        </p:nvSpPr>
        <p:spPr>
          <a:xfrm>
            <a:off x="571500" y="381305"/>
            <a:ext cx="656905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Creare una Pagina: Passo-Passo</a:t>
            </a:r>
            <a:endParaRPr lang="en-US" sz="2700" dirty="0"/>
          </a:p>
        </p:txBody>
      </p:sp>
      <p:sp>
        <p:nvSpPr>
          <p:cNvPr id="41" name="Shape 28"/>
          <p:cNvSpPr/>
          <p:nvPr/>
        </p:nvSpPr>
        <p:spPr>
          <a:xfrm>
            <a:off x="9816084" y="276149"/>
            <a:ext cx="1809598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2"/>
          <a:srcRect l="-33" r="-33"/>
          <a:stretch/>
        </p:blipFill>
        <p:spPr>
          <a:xfrm>
            <a:off x="10016338" y="381305"/>
            <a:ext cx="171907" cy="15270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10301630" y="276149"/>
            <a:ext cx="118140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Flusso Operativo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334195" y="0"/>
            <a:ext cx="3810305" cy="3810305"/>
          </a:xfrm>
          <a:prstGeom prst="ellipse">
            <a:avLst/>
          </a:prstGeom>
          <a:solidFill>
            <a:srgbClr val="E6F2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571500" y="152705"/>
            <a:ext cx="44769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2563E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Pagine Approfondite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381305"/>
            <a:ext cx="529346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Esempio: Pagina Progetto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0153498" y="276149"/>
            <a:ext cx="1476756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33" r="-33"/>
          <a:stretch/>
        </p:blipFill>
        <p:spPr>
          <a:xfrm>
            <a:off x="10352837" y="381305"/>
            <a:ext cx="171907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639044" y="276149"/>
            <a:ext cx="848563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Project Hub</a:t>
            </a:r>
            <a:endParaRPr lang="en-US" sz="1000" dirty="0"/>
          </a:p>
        </p:txBody>
      </p:sp>
      <p:pic>
        <p:nvPicPr>
          <p:cNvPr id="102" name="Immagine 101">
            <a:extLst>
              <a:ext uri="{FF2B5EF4-FFF2-40B4-BE49-F238E27FC236}">
                <a16:creationId xmlns:a16="http://schemas.microsoft.com/office/drawing/2014/main" id="{BBDB4C9E-45BC-D4DE-A19D-D53F86D06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029" y="1415248"/>
            <a:ext cx="10259942" cy="500042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71500" y="1429207"/>
            <a:ext cx="3495751" cy="2333549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578047" y="1343254"/>
            <a:ext cx="571500" cy="571500"/>
          </a:xfrm>
          <a:prstGeom prst="ellipse">
            <a:avLst/>
          </a:prstGeom>
          <a:solidFill>
            <a:srgbClr val="0078D4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819302" y="1676095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1013" b="-1013"/>
          <a:stretch/>
        </p:blipFill>
        <p:spPr>
          <a:xfrm>
            <a:off x="952805" y="1824228"/>
            <a:ext cx="304495" cy="27614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80998" y="1676095"/>
            <a:ext cx="232806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Lettura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580998" y="2027225"/>
            <a:ext cx="2315261" cy="1086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Gli utenti possono visualizzare pagine, liste e scaricare documenti, ma non possono apportare modifiche o cancellare.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580998" y="3207715"/>
            <a:ext cx="914400" cy="267005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Livello: Base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349801" y="1429207"/>
            <a:ext cx="3495751" cy="2333549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7356348" y="1343254"/>
            <a:ext cx="571500" cy="571500"/>
          </a:xfrm>
          <a:prstGeom prst="ellipse">
            <a:avLst/>
          </a:prstGeom>
          <a:solidFill>
            <a:srgbClr val="FFB90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4597603" y="1676095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FF4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4822" y="1824228"/>
            <a:ext cx="276149" cy="27614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359298" y="1676095"/>
            <a:ext cx="232806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Modifica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5359298" y="2027225"/>
            <a:ext cx="231526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Permette di aggiungere, modificare ed eliminare elementi in liste e documenti. È il livello standard per i collaboratori.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5359298" y="2991002"/>
            <a:ext cx="1476756" cy="267005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Livello: Collaborazione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8128102" y="1429207"/>
            <a:ext cx="3495751" cy="2333549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0" name="Shape 16"/>
          <p:cNvSpPr/>
          <p:nvPr/>
        </p:nvSpPr>
        <p:spPr>
          <a:xfrm>
            <a:off x="11134649" y="1343254"/>
            <a:ext cx="571500" cy="571500"/>
          </a:xfrm>
          <a:prstGeom prst="ellipse">
            <a:avLst/>
          </a:prstGeom>
          <a:solidFill>
            <a:srgbClr val="D1343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7"/>
          <p:cNvSpPr/>
          <p:nvPr/>
        </p:nvSpPr>
        <p:spPr>
          <a:xfrm>
            <a:off x="8375904" y="1676095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FE6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t="-333" b="-333"/>
          <a:stretch/>
        </p:blipFill>
        <p:spPr>
          <a:xfrm>
            <a:off x="8490204" y="1824228"/>
            <a:ext cx="342900" cy="276149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9137599" y="1676095"/>
            <a:ext cx="232806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Controllo Completo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9137599" y="2027225"/>
            <a:ext cx="231526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Accesso totale: gestione permessi, creazione sottositi, modifica struttura e impostazioni del sito.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9137599" y="2991002"/>
            <a:ext cx="1010412" cy="267005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Livello: Admin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71500" y="4048049"/>
            <a:ext cx="3495751" cy="2333549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7" name="Shape 22"/>
          <p:cNvSpPr/>
          <p:nvPr/>
        </p:nvSpPr>
        <p:spPr>
          <a:xfrm>
            <a:off x="3578047" y="3962095"/>
            <a:ext cx="571500" cy="571500"/>
          </a:xfrm>
          <a:prstGeom prst="ellipse">
            <a:avLst/>
          </a:prstGeom>
          <a:solidFill>
            <a:srgbClr val="5C2D9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3"/>
          <p:cNvSpPr/>
          <p:nvPr/>
        </p:nvSpPr>
        <p:spPr>
          <a:xfrm>
            <a:off x="819302" y="4295851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F3E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 t="-1013" b="-1013"/>
          <a:stretch/>
        </p:blipFill>
        <p:spPr>
          <a:xfrm>
            <a:off x="952805" y="4443070"/>
            <a:ext cx="304495" cy="276149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580998" y="4295851"/>
            <a:ext cx="266456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Ambito: Sito e Libreria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1580998" y="4646066"/>
            <a:ext cx="231526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 permessi sono tipicamente assegnati a livello di intero Sito o specifica Libreria, ereditati dagli elementi interni.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1580998" y="5609844"/>
            <a:ext cx="972007" cy="267005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Scope: Macro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4349801" y="4048049"/>
            <a:ext cx="3495751" cy="2333549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Shape 28"/>
          <p:cNvSpPr/>
          <p:nvPr/>
        </p:nvSpPr>
        <p:spPr>
          <a:xfrm>
            <a:off x="7356348" y="3962095"/>
            <a:ext cx="571500" cy="571500"/>
          </a:xfrm>
          <a:prstGeom prst="ellipse">
            <a:avLst/>
          </a:prstGeom>
          <a:solidFill>
            <a:srgbClr val="107C1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29"/>
          <p:cNvSpPr/>
          <p:nvPr/>
        </p:nvSpPr>
        <p:spPr>
          <a:xfrm>
            <a:off x="4597603" y="4295851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rcRect l="-552" r="-552"/>
          <a:stretch/>
        </p:blipFill>
        <p:spPr>
          <a:xfrm>
            <a:off x="4778654" y="4443070"/>
            <a:ext cx="209398" cy="276149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5359298" y="4295851"/>
            <a:ext cx="266456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Ambito: Cartella e File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5359298" y="4646066"/>
            <a:ext cx="231526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È possibile definire permessi granulari (eccezioni) su singole cartelle o file sensibili, interrompendo l'ereditarietà.</a:t>
            </a:r>
            <a:endParaRPr lang="en-US" sz="1100" dirty="0"/>
          </a:p>
        </p:txBody>
      </p:sp>
      <p:sp>
        <p:nvSpPr>
          <p:cNvPr id="39" name="Text 32"/>
          <p:cNvSpPr txBox="1"/>
          <p:nvPr/>
        </p:nvSpPr>
        <p:spPr>
          <a:xfrm>
            <a:off x="5359298" y="5609844"/>
            <a:ext cx="933602" cy="267005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Scope: Micro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8128102" y="4048049"/>
            <a:ext cx="3495751" cy="2333549"/>
          </a:xfrm>
          <a:prstGeom prst="roundRect">
            <a:avLst>
              <a:gd name="adj" fmla="val 1919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1" name="Shape 34"/>
          <p:cNvSpPr/>
          <p:nvPr/>
        </p:nvSpPr>
        <p:spPr>
          <a:xfrm>
            <a:off x="11134649" y="3962095"/>
            <a:ext cx="571500" cy="571500"/>
          </a:xfrm>
          <a:prstGeom prst="ellipse">
            <a:avLst/>
          </a:prstGeom>
          <a:solidFill>
            <a:srgbClr val="323130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Shape 35"/>
          <p:cNvSpPr/>
          <p:nvPr/>
        </p:nvSpPr>
        <p:spPr>
          <a:xfrm>
            <a:off x="8375904" y="4295851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1DFD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523122" y="4443070"/>
            <a:ext cx="276149" cy="276149"/>
          </a:xfrm>
          <a:prstGeom prst="rect">
            <a:avLst/>
          </a:prstGeom>
        </p:spPr>
      </p:pic>
      <p:sp>
        <p:nvSpPr>
          <p:cNvPr id="44" name="Text 36"/>
          <p:cNvSpPr txBox="1"/>
          <p:nvPr/>
        </p:nvSpPr>
        <p:spPr>
          <a:xfrm>
            <a:off x="9137599" y="4295851"/>
            <a:ext cx="232806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Minimo Privilegio</a:t>
            </a:r>
            <a:endParaRPr lang="en-US" sz="1400" dirty="0"/>
          </a:p>
        </p:txBody>
      </p:sp>
      <p:sp>
        <p:nvSpPr>
          <p:cNvPr id="45" name="Text 37"/>
          <p:cNvSpPr txBox="1"/>
          <p:nvPr/>
        </p:nvSpPr>
        <p:spPr>
          <a:xfrm>
            <a:off x="9137599" y="4646066"/>
            <a:ext cx="2315261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Practice fondamentale: concedere sempre il livello di accesso più basso necessario per svolgere il lavoro richiesto.</a:t>
            </a:r>
            <a:endParaRPr lang="en-US" sz="1100" dirty="0"/>
          </a:p>
        </p:txBody>
      </p:sp>
      <p:sp>
        <p:nvSpPr>
          <p:cNvPr id="46" name="Text 38"/>
          <p:cNvSpPr txBox="1"/>
          <p:nvPr/>
        </p:nvSpPr>
        <p:spPr>
          <a:xfrm>
            <a:off x="9137599" y="5609844"/>
            <a:ext cx="924458" cy="267005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Regola d'oro</a:t>
            </a:r>
            <a:endParaRPr lang="en-US" sz="900" dirty="0"/>
          </a:p>
        </p:txBody>
      </p:sp>
      <p:sp>
        <p:nvSpPr>
          <p:cNvPr id="47" name="Shape 39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8" name="Shape 40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1"/>
          <p:cNvSpPr txBox="1"/>
          <p:nvPr/>
        </p:nvSpPr>
        <p:spPr>
          <a:xfrm>
            <a:off x="571500" y="152705"/>
            <a:ext cx="4381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Sicurezza e Governance</a:t>
            </a:r>
            <a:endParaRPr lang="en-US" sz="1000" dirty="0"/>
          </a:p>
        </p:txBody>
      </p:sp>
      <p:sp>
        <p:nvSpPr>
          <p:cNvPr id="50" name="Text 42"/>
          <p:cNvSpPr txBox="1"/>
          <p:nvPr/>
        </p:nvSpPr>
        <p:spPr>
          <a:xfrm>
            <a:off x="571500" y="381305"/>
            <a:ext cx="529346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Introduzione ai Permessi</a:t>
            </a:r>
            <a:endParaRPr lang="en-US" sz="2700" dirty="0"/>
          </a:p>
        </p:txBody>
      </p:sp>
      <p:sp>
        <p:nvSpPr>
          <p:cNvPr id="51" name="Shape 43"/>
          <p:cNvSpPr/>
          <p:nvPr/>
        </p:nvSpPr>
        <p:spPr>
          <a:xfrm>
            <a:off x="10044684" y="276149"/>
            <a:ext cx="1580998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244938" y="381305"/>
            <a:ext cx="152705" cy="152705"/>
          </a:xfrm>
          <a:prstGeom prst="rect">
            <a:avLst/>
          </a:prstGeom>
        </p:spPr>
      </p:pic>
      <p:sp>
        <p:nvSpPr>
          <p:cNvPr id="53" name="Text 44"/>
          <p:cNvSpPr txBox="1"/>
          <p:nvPr/>
        </p:nvSpPr>
        <p:spPr>
          <a:xfrm>
            <a:off x="10511942" y="276149"/>
            <a:ext cx="9720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Concetti Base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2447849" cy="5905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2438705" y="952805"/>
            <a:ext cx="9144" cy="5905195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407" b="-407"/>
          <a:stretch/>
        </p:blipFill>
        <p:spPr>
          <a:xfrm>
            <a:off x="0" y="952805"/>
            <a:ext cx="2430475" cy="5760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143000"/>
            <a:ext cx="8101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0000">
                    <a:alpha val="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48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86384" y="2659075"/>
            <a:ext cx="857707" cy="857707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t="-13" b="-13"/>
          <a:stretch/>
        </p:blipFill>
        <p:spPr>
          <a:xfrm>
            <a:off x="1001268" y="2896819"/>
            <a:ext cx="428854" cy="38130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2705" y="3802075"/>
            <a:ext cx="213421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8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Gruppi SharePoint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256032" y="4493362"/>
            <a:ext cx="1922069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Usa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Proprietari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Membri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Visitatori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gestire accessi specifici al sito e contenuti.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2440534" y="952805"/>
            <a:ext cx="2447849" cy="5905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8"/>
          <p:cNvSpPr/>
          <p:nvPr/>
        </p:nvSpPr>
        <p:spPr>
          <a:xfrm>
            <a:off x="4879238" y="952805"/>
            <a:ext cx="9144" cy="5905195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t="-407" b="-407"/>
          <a:stretch/>
        </p:blipFill>
        <p:spPr>
          <a:xfrm>
            <a:off x="2440534" y="952805"/>
            <a:ext cx="2430475" cy="5760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3864254" y="1143000"/>
            <a:ext cx="8577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0000">
                    <a:alpha val="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48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226918" y="2632558"/>
            <a:ext cx="857707" cy="857707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rcRect t="-24" b="-24"/>
          <a:stretch/>
        </p:blipFill>
        <p:spPr>
          <a:xfrm>
            <a:off x="3417113" y="2871216"/>
            <a:ext cx="476402" cy="38130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2943454" y="3775558"/>
            <a:ext cx="14292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8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Gruppi M365</a:t>
            </a:r>
            <a:endParaRPr lang="en-US" sz="1400" dirty="0"/>
          </a:p>
        </p:txBody>
      </p:sp>
      <p:sp>
        <p:nvSpPr>
          <p:cNvPr id="19" name="Text 11"/>
          <p:cNvSpPr txBox="1"/>
          <p:nvPr/>
        </p:nvSpPr>
        <p:spPr>
          <a:xfrm>
            <a:off x="2696566" y="4299509"/>
            <a:ext cx="1922069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Collega automaticamente SharePoint a </a:t>
            </a: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Teams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Gli utenti nel Team accedono subito al sito.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4881067" y="952805"/>
            <a:ext cx="2447849" cy="5905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3"/>
          <p:cNvSpPr/>
          <p:nvPr/>
        </p:nvSpPr>
        <p:spPr>
          <a:xfrm>
            <a:off x="7319772" y="952805"/>
            <a:ext cx="9144" cy="5905195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rcRect t="-407" b="-407"/>
          <a:stretch/>
        </p:blipFill>
        <p:spPr>
          <a:xfrm>
            <a:off x="4881067" y="952805"/>
            <a:ext cx="2430475" cy="57607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303874" y="1143000"/>
            <a:ext cx="8577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0000">
                    <a:alpha val="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48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667451" y="2632558"/>
            <a:ext cx="857707" cy="857707"/>
          </a:xfrm>
          <a:prstGeom prst="rect">
            <a:avLst/>
          </a:prstGeom>
        </p:spPr>
      </p:pic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905195" y="2871216"/>
            <a:ext cx="381305" cy="381305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5105095" y="3775558"/>
            <a:ext cx="19915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8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 Groups</a:t>
            </a:r>
            <a:endParaRPr lang="en-US" sz="1400" dirty="0"/>
          </a:p>
        </p:txBody>
      </p:sp>
      <p:sp>
        <p:nvSpPr>
          <p:cNvPr id="27" name="Text 16"/>
          <p:cNvSpPr txBox="1"/>
          <p:nvPr/>
        </p:nvSpPr>
        <p:spPr>
          <a:xfrm>
            <a:off x="5137099" y="4299509"/>
            <a:ext cx="1922069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Utilizza gruppi AD sincronizzati (es. "Tutti i Dipendenti") per gestire accessi su larga scala.</a:t>
            </a:r>
            <a:endParaRPr lang="en-US" sz="1000" dirty="0"/>
          </a:p>
        </p:txBody>
      </p:sp>
      <p:sp>
        <p:nvSpPr>
          <p:cNvPr id="28" name="Shape 17"/>
          <p:cNvSpPr/>
          <p:nvPr/>
        </p:nvSpPr>
        <p:spPr>
          <a:xfrm>
            <a:off x="7320686" y="952805"/>
            <a:ext cx="2447849" cy="590519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9" name="Shape 18"/>
          <p:cNvSpPr/>
          <p:nvPr/>
        </p:nvSpPr>
        <p:spPr>
          <a:xfrm>
            <a:off x="9759391" y="952805"/>
            <a:ext cx="9144" cy="5905195"/>
          </a:xfrm>
          <a:prstGeom prst="rect">
            <a:avLst/>
          </a:prstGeom>
          <a:solidFill>
            <a:srgbClr val="000000">
              <a:alpha val="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2"/>
          <a:srcRect t="-407" b="-407"/>
          <a:stretch/>
        </p:blipFill>
        <p:spPr>
          <a:xfrm>
            <a:off x="7320686" y="952805"/>
            <a:ext cx="2430475" cy="57607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8678570" y="1143000"/>
            <a:ext cx="92445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0000">
                    <a:alpha val="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48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8107985" y="2632558"/>
            <a:ext cx="857707" cy="857707"/>
          </a:xfrm>
          <a:prstGeom prst="rect">
            <a:avLst/>
          </a:prstGeom>
        </p:spPr>
      </p:pic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14"/>
          <a:srcRect t="-24" b="-24"/>
          <a:stretch/>
        </p:blipFill>
        <p:spPr>
          <a:xfrm>
            <a:off x="8298180" y="2871216"/>
            <a:ext cx="476402" cy="381305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7692847" y="3775558"/>
            <a:ext cx="169438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8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Utenti Singoli</a:t>
            </a:r>
            <a:endParaRPr lang="en-US" sz="1400" dirty="0"/>
          </a:p>
        </p:txBody>
      </p:sp>
      <p:sp>
        <p:nvSpPr>
          <p:cNvPr id="35" name="Text 21"/>
          <p:cNvSpPr txBox="1"/>
          <p:nvPr/>
        </p:nvSpPr>
        <p:spPr>
          <a:xfrm>
            <a:off x="7576718" y="4299509"/>
            <a:ext cx="1922069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 EVITARE</a:t>
            </a: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Assegnare permessi diretti rende impossibile l'audit e complicata la manutenzione.</a:t>
            </a:r>
            <a:endParaRPr lang="en-US" sz="1000" dirty="0"/>
          </a:p>
        </p:txBody>
      </p:sp>
      <p:sp>
        <p:nvSpPr>
          <p:cNvPr id="36" name="Shape 22"/>
          <p:cNvSpPr/>
          <p:nvPr/>
        </p:nvSpPr>
        <p:spPr>
          <a:xfrm>
            <a:off x="9761220" y="952805"/>
            <a:ext cx="2438705" cy="590519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5"/>
          <a:srcRect t="-407" b="-407"/>
          <a:stretch/>
        </p:blipFill>
        <p:spPr>
          <a:xfrm>
            <a:off x="9761220" y="952805"/>
            <a:ext cx="2430475" cy="57607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11175797" y="1143000"/>
            <a:ext cx="8668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00000">
                    <a:alpha val="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4800" dirty="0"/>
          </a:p>
        </p:txBody>
      </p:sp>
      <p:pic>
        <p:nvPicPr>
          <p:cNvPr id="39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10547604" y="2632558"/>
            <a:ext cx="857707" cy="857707"/>
          </a:xfrm>
          <a:prstGeom prst="rect">
            <a:avLst/>
          </a:prstGeom>
        </p:spPr>
      </p:pic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17"/>
          <a:srcRect l="-17" r="-17"/>
          <a:stretch/>
        </p:blipFill>
        <p:spPr>
          <a:xfrm>
            <a:off x="10810037" y="2871216"/>
            <a:ext cx="333756" cy="381305"/>
          </a:xfrm>
          <a:prstGeom prst="rect">
            <a:avLst/>
          </a:prstGeom>
        </p:spPr>
      </p:pic>
      <p:sp>
        <p:nvSpPr>
          <p:cNvPr id="41" name="Text 24"/>
          <p:cNvSpPr txBox="1"/>
          <p:nvPr/>
        </p:nvSpPr>
        <p:spPr>
          <a:xfrm>
            <a:off x="10475366" y="3775558"/>
            <a:ext cx="10104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8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Benefici</a:t>
            </a:r>
            <a:endParaRPr lang="en-US" sz="1400" dirty="0"/>
          </a:p>
        </p:txBody>
      </p:sp>
      <p:sp>
        <p:nvSpPr>
          <p:cNvPr id="42" name="Text 25"/>
          <p:cNvSpPr txBox="1"/>
          <p:nvPr/>
        </p:nvSpPr>
        <p:spPr>
          <a:xfrm>
            <a:off x="10017252" y="4299509"/>
            <a:ext cx="1922069" cy="886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Semplifica drasticamente l'amministrazione, facilita l'audit di sicurezza e riduce gli errori umani.</a:t>
            </a:r>
            <a:endParaRPr lang="en-US" sz="1000" dirty="0"/>
          </a:p>
        </p:txBody>
      </p:sp>
      <p:sp>
        <p:nvSpPr>
          <p:cNvPr id="43" name="Shape 26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44" name="Shape 27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28"/>
          <p:cNvSpPr txBox="1"/>
          <p:nvPr/>
        </p:nvSpPr>
        <p:spPr>
          <a:xfrm>
            <a:off x="571500" y="152705"/>
            <a:ext cx="3591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Permessi e Sicurezza</a:t>
            </a:r>
            <a:endParaRPr lang="en-US" sz="1000" dirty="0"/>
          </a:p>
        </p:txBody>
      </p:sp>
      <p:sp>
        <p:nvSpPr>
          <p:cNvPr id="46" name="Text 29"/>
          <p:cNvSpPr txBox="1"/>
          <p:nvPr/>
        </p:nvSpPr>
        <p:spPr>
          <a:xfrm>
            <a:off x="571500" y="381305"/>
            <a:ext cx="423001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con Gruppi</a:t>
            </a:r>
            <a:endParaRPr lang="en-US" sz="2700" dirty="0"/>
          </a:p>
        </p:txBody>
      </p:sp>
      <p:pic>
        <p:nvPicPr>
          <p:cNvPr id="47" name="Image 15" descr="preencoded.png"/>
          <p:cNvPicPr>
            <a:picLocks noChangeAspect="1"/>
          </p:cNvPicPr>
          <p:nvPr/>
        </p:nvPicPr>
        <p:blipFill>
          <a:blip r:embed="rId18"/>
          <a:srcRect t="-24" b="-24"/>
          <a:stretch/>
        </p:blipFill>
        <p:spPr>
          <a:xfrm>
            <a:off x="9630461" y="276149"/>
            <a:ext cx="1989734" cy="362102"/>
          </a:xfrm>
          <a:prstGeom prst="rect">
            <a:avLst/>
          </a:prstGeom>
        </p:spPr>
      </p:pic>
      <p:pic>
        <p:nvPicPr>
          <p:cNvPr id="48" name="Image 1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9830714" y="381305"/>
            <a:ext cx="152705" cy="152705"/>
          </a:xfrm>
          <a:prstGeom prst="rect">
            <a:avLst/>
          </a:prstGeom>
        </p:spPr>
      </p:pic>
      <p:sp>
        <p:nvSpPr>
          <p:cNvPr id="49" name="Text 30"/>
          <p:cNvSpPr txBox="1"/>
          <p:nvPr/>
        </p:nvSpPr>
        <p:spPr>
          <a:xfrm>
            <a:off x="10097719" y="276149"/>
            <a:ext cx="138165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Strategia di Accesso</a:t>
            </a:r>
            <a:endParaRPr lang="en-US" sz="1000" dirty="0"/>
          </a:p>
        </p:txBody>
      </p:sp>
      <p:sp>
        <p:nvSpPr>
          <p:cNvPr id="50" name="Shape 31"/>
          <p:cNvSpPr/>
          <p:nvPr/>
        </p:nvSpPr>
        <p:spPr>
          <a:xfrm>
            <a:off x="3434486" y="6099962"/>
            <a:ext cx="5324551" cy="381305"/>
          </a:xfrm>
          <a:prstGeom prst="roundRect">
            <a:avLst>
              <a:gd name="adj" fmla="val 119904"/>
            </a:avLst>
          </a:prstGeom>
          <a:solidFill>
            <a:srgbClr val="FFFFFF"/>
          </a:solidFill>
          <a:ln w="12700">
            <a:solidFill>
              <a:srgbClr val="E1DFDD"/>
            </a:solidFill>
            <a:prstDash val="solid"/>
          </a:ln>
          <a:effectLst>
            <a:outerShdw blurRad="114300" dist="38100" dir="162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51" name="Image 17" descr="preencoded.png"/>
          <p:cNvPicPr>
            <a:picLocks noChangeAspect="1"/>
          </p:cNvPicPr>
          <p:nvPr/>
        </p:nvPicPr>
        <p:blipFill>
          <a:blip r:embed="rId20"/>
          <a:srcRect l="-2512" r="-2512"/>
          <a:stretch/>
        </p:blipFill>
        <p:spPr>
          <a:xfrm>
            <a:off x="3673145" y="6221578"/>
            <a:ext cx="105156" cy="133502"/>
          </a:xfrm>
          <a:prstGeom prst="rect">
            <a:avLst/>
          </a:prstGeom>
        </p:spPr>
      </p:pic>
      <p:sp>
        <p:nvSpPr>
          <p:cNvPr id="52" name="Text 32"/>
          <p:cNvSpPr txBox="1"/>
          <p:nvPr/>
        </p:nvSpPr>
        <p:spPr>
          <a:xfrm>
            <a:off x="3854196" y="6099962"/>
            <a:ext cx="4743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Regola d'oro: Inserisci Utenti nei Gruppi, e assegna Permessi ai Gruppi.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l="-1" r="-1"/>
          <a:stretch/>
        </p:blipFill>
        <p:spPr>
          <a:xfrm>
            <a:off x="0" y="952805"/>
            <a:ext cx="12191695" cy="590519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 txBox="1"/>
          <p:nvPr/>
        </p:nvSpPr>
        <p:spPr>
          <a:xfrm>
            <a:off x="571500" y="152705"/>
            <a:ext cx="44293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Gestione Accessi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381305"/>
            <a:ext cx="55056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Ereditarietà dei Permessi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10280599" y="276149"/>
            <a:ext cx="1343254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33" r="-33"/>
          <a:stretch/>
        </p:blipFill>
        <p:spPr>
          <a:xfrm>
            <a:off x="10479938" y="381305"/>
            <a:ext cx="171907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766146" y="276149"/>
            <a:ext cx="715061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Gerarchia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5" r="-5"/>
          <a:stretch/>
        </p:blipFill>
        <p:spPr>
          <a:xfrm>
            <a:off x="857707" y="1815084"/>
            <a:ext cx="2857500" cy="286481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4205" y="1777594"/>
            <a:ext cx="362102" cy="286207"/>
          </a:xfrm>
          <a:prstGeom prst="rect">
            <a:avLst/>
          </a:prstGeom>
          <a:solidFill>
            <a:srgbClr val="323130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904695" y="2157984"/>
            <a:ext cx="761695" cy="761695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133295" y="2386584"/>
            <a:ext cx="304495" cy="304495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2428646" y="2681935"/>
            <a:ext cx="286207" cy="28620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 l="-837" r="-837"/>
          <a:stretch/>
        </p:blipFill>
        <p:spPr>
          <a:xfrm>
            <a:off x="2495398" y="2758745"/>
            <a:ext cx="152705" cy="13350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566367" y="3110789"/>
            <a:ext cx="14401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Livello Sito</a:t>
            </a:r>
            <a:endParaRPr lang="en-US" sz="1600" dirty="0"/>
          </a:p>
        </p:txBody>
      </p:sp>
      <p:sp>
        <p:nvSpPr>
          <p:cNvPr id="20" name="Text 12"/>
          <p:cNvSpPr txBox="1"/>
          <p:nvPr/>
        </p:nvSpPr>
        <p:spPr>
          <a:xfrm>
            <a:off x="1104595" y="3525926"/>
            <a:ext cx="23628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Definizione alla radice.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 permessi vengono impostati a livello di sito (proprietari, membri, visitatori). </a:t>
            </a:r>
            <a:endParaRPr lang="en-US" sz="11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rcRect t="-400" b="-400"/>
          <a:stretch/>
        </p:blipFill>
        <p:spPr>
          <a:xfrm>
            <a:off x="3905402" y="3228746"/>
            <a:ext cx="571500" cy="38405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4362602" y="3247949"/>
            <a:ext cx="209398" cy="27432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0"/>
          <a:srcRect l="-5" r="-5"/>
          <a:stretch/>
        </p:blipFill>
        <p:spPr>
          <a:xfrm>
            <a:off x="4667098" y="1815084"/>
            <a:ext cx="2857500" cy="2864815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4533595" y="1777594"/>
            <a:ext cx="362102" cy="286207"/>
          </a:xfrm>
          <a:prstGeom prst="rect">
            <a:avLst/>
          </a:prstGeom>
          <a:solidFill>
            <a:srgbClr val="323130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715000" y="2157984"/>
            <a:ext cx="761695" cy="761695"/>
          </a:xfrm>
          <a:prstGeom prst="rect">
            <a:avLst/>
          </a:prstGeom>
        </p:spPr>
      </p:pic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943600" y="2386584"/>
            <a:ext cx="304495" cy="304495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5315407" y="3110789"/>
            <a:ext cx="156453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Ereditarietà</a:t>
            </a:r>
            <a:endParaRPr lang="en-US" sz="1600" dirty="0"/>
          </a:p>
        </p:txBody>
      </p:sp>
      <p:sp>
        <p:nvSpPr>
          <p:cNvPr id="28" name="Text 16"/>
          <p:cNvSpPr txBox="1"/>
          <p:nvPr/>
        </p:nvSpPr>
        <p:spPr>
          <a:xfrm>
            <a:off x="4914900" y="3525926"/>
            <a:ext cx="23628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Flusso automatico.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Librerie, cartelle e file ereditano automaticamente le stesse impostazioni del genitore. </a:t>
            </a:r>
            <a:endParaRPr lang="en-US" sz="110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9"/>
          <a:srcRect t="-400" b="-400"/>
          <a:stretch/>
        </p:blipFill>
        <p:spPr>
          <a:xfrm>
            <a:off x="7715707" y="3228746"/>
            <a:ext cx="571500" cy="38405"/>
          </a:xfrm>
          <a:prstGeom prst="rect">
            <a:avLst/>
          </a:prstGeom>
        </p:spPr>
      </p:pic>
      <p:sp>
        <p:nvSpPr>
          <p:cNvPr id="30" name="Shape 17"/>
          <p:cNvSpPr/>
          <p:nvPr/>
        </p:nvSpPr>
        <p:spPr>
          <a:xfrm>
            <a:off x="8172907" y="3247949"/>
            <a:ext cx="209398" cy="27432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13"/>
          <a:srcRect l="-5" r="-5"/>
          <a:stretch/>
        </p:blipFill>
        <p:spPr>
          <a:xfrm>
            <a:off x="8477402" y="1815084"/>
            <a:ext cx="2857500" cy="2864815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8343900" y="1777594"/>
            <a:ext cx="362102" cy="286207"/>
          </a:xfrm>
          <a:prstGeom prst="rect">
            <a:avLst/>
          </a:prstGeom>
          <a:solidFill>
            <a:srgbClr val="323130"/>
          </a:solidFill>
          <a:ln w="381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525305" y="2157984"/>
            <a:ext cx="761695" cy="761695"/>
          </a:xfrm>
          <a:prstGeom prst="rect">
            <a:avLst/>
          </a:prstGeom>
        </p:spPr>
      </p:pic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15"/>
          <a:srcRect l="-90" r="-90"/>
          <a:stretch/>
        </p:blipFill>
        <p:spPr>
          <a:xfrm>
            <a:off x="9715500" y="2386584"/>
            <a:ext cx="381305" cy="304495"/>
          </a:xfrm>
          <a:prstGeom prst="rect">
            <a:avLst/>
          </a:prstGeom>
        </p:spPr>
      </p:pic>
      <p:sp>
        <p:nvSpPr>
          <p:cNvPr id="35" name="Shape 19"/>
          <p:cNvSpPr/>
          <p:nvPr/>
        </p:nvSpPr>
        <p:spPr>
          <a:xfrm>
            <a:off x="10049256" y="2681935"/>
            <a:ext cx="286207" cy="28620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16"/>
          <a:srcRect l="-7534" r="-7534"/>
          <a:stretch/>
        </p:blipFill>
        <p:spPr>
          <a:xfrm>
            <a:off x="10181844" y="2758745"/>
            <a:ext cx="19202" cy="133502"/>
          </a:xfrm>
          <a:prstGeom prst="rect">
            <a:avLst/>
          </a:prstGeom>
        </p:spPr>
      </p:pic>
      <p:sp>
        <p:nvSpPr>
          <p:cNvPr id="37" name="Text 20"/>
          <p:cNvSpPr txBox="1"/>
          <p:nvPr/>
        </p:nvSpPr>
        <p:spPr>
          <a:xfrm>
            <a:off x="8951062" y="3110789"/>
            <a:ext cx="191932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Permessi Unici</a:t>
            </a:r>
            <a:endParaRPr lang="en-US" sz="1600" dirty="0"/>
          </a:p>
        </p:txBody>
      </p:sp>
      <p:sp>
        <p:nvSpPr>
          <p:cNvPr id="38" name="Text 21"/>
          <p:cNvSpPr txBox="1"/>
          <p:nvPr/>
        </p:nvSpPr>
        <p:spPr>
          <a:xfrm>
            <a:off x="8725205" y="3525926"/>
            <a:ext cx="2362810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Interruzione.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È possibile spezzare l'ereditarietà per assegnare accessi esclusivi a specifici contenuti. </a:t>
            </a:r>
            <a:endParaRPr lang="en-US" sz="1100" dirty="0"/>
          </a:p>
        </p:txBody>
      </p:sp>
      <p:pic>
        <p:nvPicPr>
          <p:cNvPr id="39" name="Image 15" descr="preencoded.png"/>
          <p:cNvPicPr>
            <a:picLocks noChangeAspect="1"/>
          </p:cNvPicPr>
          <p:nvPr/>
        </p:nvPicPr>
        <p:blipFill>
          <a:blip r:embed="rId17"/>
          <a:srcRect t="-18" b="-18"/>
          <a:stretch/>
        </p:blipFill>
        <p:spPr>
          <a:xfrm>
            <a:off x="1809598" y="5156302"/>
            <a:ext cx="8572500" cy="838505"/>
          </a:xfrm>
          <a:prstGeom prst="rect">
            <a:avLst/>
          </a:prstGeom>
        </p:spPr>
      </p:pic>
      <p:pic>
        <p:nvPicPr>
          <p:cNvPr id="40" name="Image 16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2152498" y="5423306"/>
            <a:ext cx="304495" cy="304495"/>
          </a:xfrm>
          <a:prstGeom prst="rect">
            <a:avLst/>
          </a:prstGeom>
        </p:spPr>
      </p:pic>
      <p:sp>
        <p:nvSpPr>
          <p:cNvPr id="41" name="Text 22"/>
          <p:cNvSpPr txBox="1"/>
          <p:nvPr/>
        </p:nvSpPr>
        <p:spPr>
          <a:xfrm>
            <a:off x="2648102" y="5347411"/>
            <a:ext cx="7525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750B1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Attenzione alla complessità: Interrompere l'ereditarietà frammenta la sicurezza. Usare permessi unici solo quando strettamente necessario per evitare difficoltà di gestione.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9334195" y="2000707"/>
            <a:ext cx="3810305" cy="3810305"/>
          </a:xfrm>
          <a:prstGeom prst="ellipse">
            <a:avLst/>
          </a:prstGeom>
          <a:solidFill>
            <a:srgbClr val="E6F2FF">
              <a:alpha val="6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 txBox="1"/>
          <p:nvPr/>
        </p:nvSpPr>
        <p:spPr>
          <a:xfrm>
            <a:off x="571500" y="152705"/>
            <a:ext cx="39913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Sicurezza &amp; Governance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381305"/>
            <a:ext cx="486826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Best Practice Permessi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0333634" y="276149"/>
            <a:ext cx="1295705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532974" y="381305"/>
            <a:ext cx="152705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799978" y="276149"/>
            <a:ext cx="6858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Sicurezza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1500" y="1423721"/>
            <a:ext cx="5695798" cy="4962449"/>
          </a:xfrm>
          <a:prstGeom prst="roundRect">
            <a:avLst>
              <a:gd name="adj" fmla="val 4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857707" y="2681935"/>
            <a:ext cx="51242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857707" y="1709928"/>
            <a:ext cx="381305" cy="381305"/>
          </a:xfrm>
          <a:prstGeom prst="ellipse">
            <a:avLst/>
          </a:prstGeom>
          <a:solidFill>
            <a:srgbClr val="E6F5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 l="-1403" r="-1403"/>
          <a:stretch/>
        </p:blipFill>
        <p:spPr>
          <a:xfrm>
            <a:off x="942746" y="1809598"/>
            <a:ext cx="209398" cy="18105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429207" y="1709928"/>
            <a:ext cx="46680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Mantieni Struttura Semplice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1429207" y="2008937"/>
            <a:ext cx="46296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Evita livelli di permessi troppo profondi. Interrompi l'ereditarietà solo quando strettamente necessario.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57707" y="3900830"/>
            <a:ext cx="51242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6"/>
          <p:cNvSpPr/>
          <p:nvPr/>
        </p:nvSpPr>
        <p:spPr>
          <a:xfrm>
            <a:off x="857707" y="2928823"/>
            <a:ext cx="381305" cy="381305"/>
          </a:xfrm>
          <a:prstGeom prst="ellipse">
            <a:avLst/>
          </a:prstGeom>
          <a:solidFill>
            <a:srgbClr val="E6F5E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57377" y="3029407"/>
            <a:ext cx="181051" cy="181051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29207" y="2928823"/>
            <a:ext cx="46680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Principio del Privilegio Minimo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1429207" y="3227832"/>
            <a:ext cx="46296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Assegna sempre il livello di accesso più basso necessario per svolgere il lavoro (es. Lettura vs Modifica).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57707" y="5119726"/>
            <a:ext cx="5124298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hape 20"/>
          <p:cNvSpPr/>
          <p:nvPr/>
        </p:nvSpPr>
        <p:spPr>
          <a:xfrm>
            <a:off x="857707" y="4147718"/>
            <a:ext cx="381305" cy="381305"/>
          </a:xfrm>
          <a:prstGeom prst="ellipse">
            <a:avLst/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57377" y="4248302"/>
            <a:ext cx="181051" cy="181051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29207" y="4147718"/>
            <a:ext cx="46680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Riesamina Periodicamente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1429207" y="4447642"/>
            <a:ext cx="46296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Effettua audit regolari degli accessi. Rimuovi i permessi agli utenti che non fanno più parte del progetto.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857707" y="5367528"/>
            <a:ext cx="381305" cy="381305"/>
          </a:xfrm>
          <a:prstGeom prst="ellipse">
            <a:avLst/>
          </a:prstGeom>
          <a:solidFill>
            <a:srgbClr val="FFF4C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57377" y="5467198"/>
            <a:ext cx="181051" cy="181051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429207" y="5367528"/>
            <a:ext cx="46680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Evita Duplicazioni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1429207" y="5666537"/>
            <a:ext cx="46296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 assegnare permessi a singoli utenti se puoi usare i gruppi. Evita gruppi ridondanti con gli stessi accessi.</a:t>
            </a:r>
            <a:endParaRPr lang="en-US" sz="11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 l="-1" r="-1"/>
          <a:stretch/>
        </p:blipFill>
        <p:spPr>
          <a:xfrm>
            <a:off x="6848856" y="2078431"/>
            <a:ext cx="4572000" cy="3653942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7134149" y="2363724"/>
            <a:ext cx="4000500" cy="1571854"/>
          </a:xfrm>
          <a:prstGeom prst="roundRect">
            <a:avLst>
              <a:gd name="adj" fmla="val 2821"/>
            </a:avLst>
          </a:prstGeom>
          <a:solidFill>
            <a:srgbClr val="F3F2F1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5" name="Shape 27"/>
          <p:cNvSpPr/>
          <p:nvPr/>
        </p:nvSpPr>
        <p:spPr>
          <a:xfrm>
            <a:off x="7134149" y="2363724"/>
            <a:ext cx="38405" cy="1571854"/>
          </a:xfrm>
          <a:prstGeom prst="roundRect">
            <a:avLst>
              <a:gd name="adj" fmla="val 115440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Shape 28"/>
          <p:cNvSpPr/>
          <p:nvPr/>
        </p:nvSpPr>
        <p:spPr>
          <a:xfrm>
            <a:off x="9667951" y="2249424"/>
            <a:ext cx="1591056" cy="228600"/>
          </a:xfrm>
          <a:prstGeom prst="roundRect">
            <a:avLst>
              <a:gd name="adj" fmla="val 400000"/>
            </a:avLst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29"/>
          <p:cNvSpPr txBox="1"/>
          <p:nvPr/>
        </p:nvSpPr>
        <p:spPr>
          <a:xfrm>
            <a:off x="9936785" y="2249424"/>
            <a:ext cx="138623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EVITA (Utenti Singoli) </a:t>
            </a:r>
            <a:endParaRPr lang="en-US" sz="900" dirty="0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rcRect l="-1358" r="-1358"/>
          <a:stretch/>
        </p:blipFill>
        <p:spPr>
          <a:xfrm>
            <a:off x="9780422" y="2278685"/>
            <a:ext cx="95098" cy="123444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505395" y="2507285"/>
            <a:ext cx="36009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Mario Rossi (Controllo completo)</a:t>
            </a:r>
            <a:endParaRPr lang="en-US" sz="1000" dirty="0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rcRect l="-31409" r="-31409"/>
          <a:stretch/>
        </p:blipFill>
        <p:spPr>
          <a:xfrm>
            <a:off x="7315200" y="2537460"/>
            <a:ext cx="190195" cy="133502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7505395" y="2777033"/>
            <a:ext cx="36009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Luigi Verdi (Modifica)</a:t>
            </a:r>
            <a:endParaRPr lang="en-US" sz="100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0"/>
          <a:srcRect l="-31409" r="-31409"/>
          <a:stretch/>
        </p:blipFill>
        <p:spPr>
          <a:xfrm>
            <a:off x="7315200" y="2808122"/>
            <a:ext cx="190195" cy="133502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7505395" y="3047695"/>
            <a:ext cx="36009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Anna Bianchi (Modifica)</a:t>
            </a:r>
            <a:endParaRPr lang="en-US" sz="1000" dirty="0"/>
          </a:p>
        </p:txBody>
      </p:sp>
      <p:pic>
        <p:nvPicPr>
          <p:cNvPr id="44" name="Image 9" descr="preencoded.png"/>
          <p:cNvPicPr>
            <a:picLocks noChangeAspect="1"/>
          </p:cNvPicPr>
          <p:nvPr/>
        </p:nvPicPr>
        <p:blipFill>
          <a:blip r:embed="rId10"/>
          <a:srcRect l="-31409" r="-31409"/>
          <a:stretch/>
        </p:blipFill>
        <p:spPr>
          <a:xfrm>
            <a:off x="7315200" y="3078785"/>
            <a:ext cx="190195" cy="133502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7505395" y="3318358"/>
            <a:ext cx="36009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Marco Neri (Lettura)</a:t>
            </a:r>
            <a:endParaRPr lang="en-US" sz="100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0"/>
          <a:srcRect l="-31409" r="-31409"/>
          <a:stretch/>
        </p:blipFill>
        <p:spPr>
          <a:xfrm>
            <a:off x="7315200" y="3349447"/>
            <a:ext cx="190195" cy="133502"/>
          </a:xfrm>
          <a:prstGeom prst="rect">
            <a:avLst/>
          </a:prstGeom>
        </p:spPr>
      </p:pic>
      <p:sp>
        <p:nvSpPr>
          <p:cNvPr id="47" name="Shape 34"/>
          <p:cNvSpPr/>
          <p:nvPr/>
        </p:nvSpPr>
        <p:spPr>
          <a:xfrm>
            <a:off x="7315200" y="3589020"/>
            <a:ext cx="3676802" cy="914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35"/>
          <p:cNvSpPr txBox="1"/>
          <p:nvPr/>
        </p:nvSpPr>
        <p:spPr>
          <a:xfrm>
            <a:off x="7497166" y="3636569"/>
            <a:ext cx="3609137" cy="152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91B1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Difficile da gestire e revocare </a:t>
            </a:r>
            <a:endParaRPr lang="en-US" sz="900" dirty="0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315200" y="3651199"/>
            <a:ext cx="114300" cy="114300"/>
          </a:xfrm>
          <a:prstGeom prst="rect">
            <a:avLst/>
          </a:prstGeom>
        </p:spPr>
      </p:pic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12"/>
          <a:srcRect l="-133" r="-133"/>
          <a:stretch/>
        </p:blipFill>
        <p:spPr>
          <a:xfrm>
            <a:off x="9048902" y="4122115"/>
            <a:ext cx="171907" cy="228600"/>
          </a:xfrm>
          <a:prstGeom prst="rect">
            <a:avLst/>
          </a:prstGeom>
        </p:spPr>
      </p:pic>
      <p:pic>
        <p:nvPicPr>
          <p:cNvPr id="51" name="Image 13" descr="preencoded.png"/>
          <p:cNvPicPr>
            <a:picLocks noChangeAspect="1"/>
          </p:cNvPicPr>
          <p:nvPr/>
        </p:nvPicPr>
        <p:blipFill>
          <a:blip r:embed="rId13"/>
          <a:srcRect t="-21" b="-21"/>
          <a:stretch/>
        </p:blipFill>
        <p:spPr>
          <a:xfrm>
            <a:off x="7134149" y="4541825"/>
            <a:ext cx="4000500" cy="905256"/>
          </a:xfrm>
          <a:prstGeom prst="rect">
            <a:avLst/>
          </a:prstGeom>
        </p:spPr>
      </p:pic>
      <p:sp>
        <p:nvSpPr>
          <p:cNvPr id="52" name="Shape 36"/>
          <p:cNvSpPr/>
          <p:nvPr/>
        </p:nvSpPr>
        <p:spPr>
          <a:xfrm>
            <a:off x="7058254" y="5331866"/>
            <a:ext cx="1162202" cy="228600"/>
          </a:xfrm>
          <a:prstGeom prst="roundRect">
            <a:avLst>
              <a:gd name="adj" fmla="val 400000"/>
            </a:avLst>
          </a:prstGeom>
          <a:solidFill>
            <a:srgbClr val="0596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3" name="Text 37"/>
          <p:cNvSpPr txBox="1"/>
          <p:nvPr/>
        </p:nvSpPr>
        <p:spPr>
          <a:xfrm>
            <a:off x="7346290" y="5331866"/>
            <a:ext cx="93177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USA I GRUPPI </a:t>
            </a:r>
            <a:endParaRPr lang="en-US" sz="900" dirty="0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 r:embed="rId14"/>
          <a:srcRect l="-2910" r="-2910"/>
          <a:stretch/>
        </p:blipFill>
        <p:spPr>
          <a:xfrm>
            <a:off x="7170725" y="5396789"/>
            <a:ext cx="114300" cy="123444"/>
          </a:xfrm>
          <a:prstGeom prst="rect">
            <a:avLst/>
          </a:prstGeom>
        </p:spPr>
      </p:pic>
      <p:pic>
        <p:nvPicPr>
          <p:cNvPr id="55" name="Image 1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315200" y="4684471"/>
            <a:ext cx="304495" cy="304495"/>
          </a:xfrm>
          <a:prstGeom prst="rect">
            <a:avLst/>
          </a:prstGeom>
        </p:spPr>
      </p:pic>
      <p:pic>
        <p:nvPicPr>
          <p:cNvPr id="56" name="Image 16" descr="preencoded.png"/>
          <p:cNvPicPr>
            <a:picLocks noChangeAspect="1"/>
          </p:cNvPicPr>
          <p:nvPr/>
        </p:nvPicPr>
        <p:blipFill>
          <a:blip r:embed="rId16"/>
          <a:srcRect l="-2571" r="-2571"/>
          <a:stretch/>
        </p:blipFill>
        <p:spPr>
          <a:xfrm>
            <a:off x="7414870" y="4779569"/>
            <a:ext cx="105156" cy="114300"/>
          </a:xfrm>
          <a:prstGeom prst="rect">
            <a:avLst/>
          </a:prstGeom>
        </p:spPr>
      </p:pic>
      <p:pic>
        <p:nvPicPr>
          <p:cNvPr id="57" name="Image 17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543800" y="4684471"/>
            <a:ext cx="304495" cy="304495"/>
          </a:xfrm>
          <a:prstGeom prst="rect">
            <a:avLst/>
          </a:prstGeom>
        </p:spPr>
      </p:pic>
      <p:pic>
        <p:nvPicPr>
          <p:cNvPr id="58" name="Image 18" descr="preencoded.png"/>
          <p:cNvPicPr>
            <a:picLocks noChangeAspect="1"/>
          </p:cNvPicPr>
          <p:nvPr/>
        </p:nvPicPr>
        <p:blipFill>
          <a:blip r:embed="rId16"/>
          <a:srcRect l="-2571" r="-2571"/>
          <a:stretch/>
        </p:blipFill>
        <p:spPr>
          <a:xfrm>
            <a:off x="7643470" y="4779569"/>
            <a:ext cx="105156" cy="114300"/>
          </a:xfrm>
          <a:prstGeom prst="rect">
            <a:avLst/>
          </a:prstGeom>
        </p:spPr>
      </p:pic>
      <p:pic>
        <p:nvPicPr>
          <p:cNvPr id="59" name="Image 19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7772400" y="4684471"/>
            <a:ext cx="304495" cy="304495"/>
          </a:xfrm>
          <a:prstGeom prst="rect">
            <a:avLst/>
          </a:prstGeom>
        </p:spPr>
      </p:pic>
      <p:pic>
        <p:nvPicPr>
          <p:cNvPr id="60" name="Image 20" descr="preencoded.png"/>
          <p:cNvPicPr>
            <a:picLocks noChangeAspect="1"/>
          </p:cNvPicPr>
          <p:nvPr/>
        </p:nvPicPr>
        <p:blipFill>
          <a:blip r:embed="rId16"/>
          <a:srcRect l="-2571" r="-2571"/>
          <a:stretch/>
        </p:blipFill>
        <p:spPr>
          <a:xfrm>
            <a:off x="7872070" y="4779569"/>
            <a:ext cx="105156" cy="114300"/>
          </a:xfrm>
          <a:prstGeom prst="rect">
            <a:avLst/>
          </a:prstGeom>
        </p:spPr>
      </p:pic>
      <p:sp>
        <p:nvSpPr>
          <p:cNvPr id="61" name="Text 38"/>
          <p:cNvSpPr txBox="1"/>
          <p:nvPr/>
        </p:nvSpPr>
        <p:spPr>
          <a:xfrm>
            <a:off x="7972654" y="4684471"/>
            <a:ext cx="362102" cy="305410"/>
          </a:xfrm>
          <a:prstGeom prst="rect">
            <a:avLst/>
          </a:prstGeom>
          <a:solidFill>
            <a:srgbClr val="F3F4F6"/>
          </a:solidFill>
          <a:ln w="254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+5</a:t>
            </a:r>
            <a:endParaRPr lang="en-US" sz="900" dirty="0"/>
          </a:p>
        </p:txBody>
      </p:sp>
      <p:pic>
        <p:nvPicPr>
          <p:cNvPr id="62" name="Image 21" descr="preencoded.png"/>
          <p:cNvPicPr>
            <a:picLocks noChangeAspect="1"/>
          </p:cNvPicPr>
          <p:nvPr/>
        </p:nvPicPr>
        <p:blipFill>
          <a:blip r:embed="rId17"/>
          <a:srcRect t="-43" b="-43"/>
          <a:stretch/>
        </p:blipFill>
        <p:spPr>
          <a:xfrm>
            <a:off x="8711489" y="4760366"/>
            <a:ext cx="133502" cy="152705"/>
          </a:xfrm>
          <a:prstGeom prst="rect">
            <a:avLst/>
          </a:prstGeom>
        </p:spPr>
      </p:pic>
      <p:sp>
        <p:nvSpPr>
          <p:cNvPr id="63" name="Text 39"/>
          <p:cNvSpPr txBox="1"/>
          <p:nvPr/>
        </p:nvSpPr>
        <p:spPr>
          <a:xfrm>
            <a:off x="9622231" y="4693615"/>
            <a:ext cx="1442009" cy="286207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74151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Membri Marketing </a:t>
            </a:r>
            <a:endParaRPr lang="en-US" sz="1000" dirty="0"/>
          </a:p>
        </p:txBody>
      </p:sp>
      <p:pic>
        <p:nvPicPr>
          <p:cNvPr id="64" name="Image 22" descr="preencoded.png"/>
          <p:cNvPicPr>
            <a:picLocks noChangeAspect="1"/>
          </p:cNvPicPr>
          <p:nvPr/>
        </p:nvPicPr>
        <p:blipFill>
          <a:blip r:embed="rId18"/>
          <a:srcRect l="-1507" r="-1507"/>
          <a:stretch/>
        </p:blipFill>
        <p:spPr>
          <a:xfrm>
            <a:off x="9374429" y="4767682"/>
            <a:ext cx="171907" cy="133502"/>
          </a:xfrm>
          <a:prstGeom prst="rect">
            <a:avLst/>
          </a:prstGeom>
        </p:spPr>
      </p:pic>
      <p:sp>
        <p:nvSpPr>
          <p:cNvPr id="65" name="Shape 40"/>
          <p:cNvSpPr/>
          <p:nvPr/>
        </p:nvSpPr>
        <p:spPr>
          <a:xfrm>
            <a:off x="7315200" y="5103266"/>
            <a:ext cx="3676802" cy="9144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6" name="Text 41"/>
          <p:cNvSpPr txBox="1"/>
          <p:nvPr/>
        </p:nvSpPr>
        <p:spPr>
          <a:xfrm>
            <a:off x="7497166" y="5150815"/>
            <a:ext cx="3609137" cy="1527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065F46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Gestione centralizzata e scalabile </a:t>
            </a:r>
            <a:endParaRPr lang="en-US" sz="900" dirty="0"/>
          </a:p>
        </p:txBody>
      </p:sp>
      <p:pic>
        <p:nvPicPr>
          <p:cNvPr id="67" name="Image 23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7315200" y="5165446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905902" y="3524098"/>
            <a:ext cx="4762195" cy="4762195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2589" b="-2589"/>
          <a:stretch/>
        </p:blipFill>
        <p:spPr>
          <a:xfrm>
            <a:off x="476402" y="3504895"/>
            <a:ext cx="3076956" cy="2876702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38998" y="476402"/>
            <a:ext cx="2800807" cy="280080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8463" y="1891894"/>
            <a:ext cx="1209659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L'ereditarietà dei permessi cosa comporta?</a:t>
            </a:r>
            <a:endParaRPr lang="en-US" sz="3600" dirty="0"/>
          </a:p>
        </p:txBody>
      </p:sp>
      <p:sp>
        <p:nvSpPr>
          <p:cNvPr id="9" name="Shape 5"/>
          <p:cNvSpPr/>
          <p:nvPr/>
        </p:nvSpPr>
        <p:spPr>
          <a:xfrm>
            <a:off x="5229454" y="1274674"/>
            <a:ext cx="1733702" cy="428854"/>
          </a:xfrm>
          <a:prstGeom prst="roundRect">
            <a:avLst>
              <a:gd name="adj" fmla="val 142146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 txBox="1"/>
          <p:nvPr/>
        </p:nvSpPr>
        <p:spPr>
          <a:xfrm>
            <a:off x="5194706" y="1274674"/>
            <a:ext cx="1803197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35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Quiz Time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1403" r="-1403"/>
          <a:stretch/>
        </p:blipFill>
        <p:spPr>
          <a:xfrm>
            <a:off x="5419649" y="1392631"/>
            <a:ext cx="209398" cy="18105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731563" y="4377233"/>
            <a:ext cx="277246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Maggiore complessità gestionale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8033004" y="2916022"/>
            <a:ext cx="3305556" cy="2667305"/>
          </a:xfrm>
          <a:prstGeom prst="roundRect">
            <a:avLst>
              <a:gd name="adj" fmla="val 1959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6"/>
          <p:cNvSpPr/>
          <p:nvPr/>
        </p:nvSpPr>
        <p:spPr>
          <a:xfrm>
            <a:off x="9398203" y="3567989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7"/>
          <p:cNvSpPr txBox="1"/>
          <p:nvPr/>
        </p:nvSpPr>
        <p:spPr>
          <a:xfrm>
            <a:off x="9369857" y="3567989"/>
            <a:ext cx="629107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2100" dirty="0"/>
          </a:p>
        </p:txBody>
      </p:sp>
      <p:sp>
        <p:nvSpPr>
          <p:cNvPr id="24" name="Text 18"/>
          <p:cNvSpPr txBox="1"/>
          <p:nvPr/>
        </p:nvSpPr>
        <p:spPr>
          <a:xfrm>
            <a:off x="8299094" y="4377233"/>
            <a:ext cx="2772461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Nessuna differenza operativa</a:t>
            </a:r>
            <a:endParaRPr lang="en-US" sz="1500" dirty="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1FDD5EFE-72B2-518E-C01A-939AC47BDEF4}"/>
              </a:ext>
            </a:extLst>
          </p:cNvPr>
          <p:cNvSpPr/>
          <p:nvPr/>
        </p:nvSpPr>
        <p:spPr>
          <a:xfrm>
            <a:off x="4465016" y="2916021"/>
            <a:ext cx="3305556" cy="2667305"/>
          </a:xfrm>
          <a:prstGeom prst="roundRect">
            <a:avLst>
              <a:gd name="adj" fmla="val 1959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228B26BB-48F4-E1C4-FF16-B4A0E9EA94D3}"/>
              </a:ext>
            </a:extLst>
          </p:cNvPr>
          <p:cNvSpPr/>
          <p:nvPr/>
        </p:nvSpPr>
        <p:spPr>
          <a:xfrm>
            <a:off x="5810706" y="3567989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A12C6C80-3E19-79F3-374D-A639D69CF485}"/>
              </a:ext>
            </a:extLst>
          </p:cNvPr>
          <p:cNvSpPr txBox="1"/>
          <p:nvPr/>
        </p:nvSpPr>
        <p:spPr>
          <a:xfrm>
            <a:off x="5781446" y="3567989"/>
            <a:ext cx="629107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2100" dirty="0"/>
          </a:p>
        </p:txBody>
      </p:sp>
      <p:pic>
        <p:nvPicPr>
          <p:cNvPr id="28" name="Image 3" descr="preencoded.png">
            <a:extLst>
              <a:ext uri="{FF2B5EF4-FFF2-40B4-BE49-F238E27FC236}">
                <a16:creationId xmlns:a16="http://schemas.microsoft.com/office/drawing/2014/main" id="{2F6E0759-1F25-7BB0-9655-336BD1C28FB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-11" r="-11"/>
          <a:stretch/>
        </p:blipFill>
        <p:spPr>
          <a:xfrm>
            <a:off x="839063" y="2916021"/>
            <a:ext cx="3338271" cy="266448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57707" y="2916022"/>
            <a:ext cx="3305556" cy="2667305"/>
          </a:xfrm>
          <a:prstGeom prst="roundRect">
            <a:avLst>
              <a:gd name="adj" fmla="val 1959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8"/>
          <p:cNvSpPr/>
          <p:nvPr/>
        </p:nvSpPr>
        <p:spPr>
          <a:xfrm>
            <a:off x="2222906" y="3567989"/>
            <a:ext cx="571500" cy="57150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9"/>
          <p:cNvSpPr txBox="1"/>
          <p:nvPr/>
        </p:nvSpPr>
        <p:spPr>
          <a:xfrm>
            <a:off x="2193646" y="3567989"/>
            <a:ext cx="629107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2100" dirty="0"/>
          </a:p>
        </p:txBody>
      </p:sp>
      <p:sp>
        <p:nvSpPr>
          <p:cNvPr id="20" name="Text 14"/>
          <p:cNvSpPr txBox="1"/>
          <p:nvPr/>
        </p:nvSpPr>
        <p:spPr>
          <a:xfrm>
            <a:off x="1028700" y="4363060"/>
            <a:ext cx="2905963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Permessi uniformi a tutti i livelli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52805"/>
            <a:ext cx="12192000" cy="590519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9528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2000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152705"/>
            <a:ext cx="6000000" cy="1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</a:rPr>
              <a:t>Versioning, Co-authoring e Approvazione Documenti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81305"/>
            <a:ext cx="9000000" cy="381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F2937"/>
                </a:solidFill>
              </a:rPr>
              <a:t>Content Approval — Ciclo di Vita del Documento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80743" y="482038"/>
            <a:ext cx="1475186" cy="294435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81731" y="501128"/>
            <a:ext cx="12732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4B5563"/>
                </a:solidFill>
              </a:rPr>
              <a:t>Governance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095000"/>
            <a:ext cx="3436167" cy="2333549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33500" y="1342650"/>
            <a:ext cx="2598167" cy="277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23130"/>
                </a:solidFill>
              </a:rPr>
              <a:t>Bozza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1685550"/>
            <a:ext cx="2940867" cy="153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05E5C"/>
                </a:solidFill>
              </a:rPr>
              <a:t>Il </a:t>
            </a:r>
            <a:r>
              <a:rPr sz="1100" b="0" i="0" dirty="0" err="1">
                <a:solidFill>
                  <a:srgbClr val="605E5C"/>
                </a:solidFill>
              </a:rPr>
              <a:t>documento</a:t>
            </a:r>
            <a:r>
              <a:rPr sz="1100" b="0" i="0" dirty="0">
                <a:solidFill>
                  <a:srgbClr val="605E5C"/>
                </a:solidFill>
              </a:rPr>
              <a:t> è in </a:t>
            </a:r>
            <a:r>
              <a:rPr sz="1100" b="0" i="0" dirty="0" err="1">
                <a:solidFill>
                  <a:srgbClr val="605E5C"/>
                </a:solidFill>
              </a:rPr>
              <a:t>lavorazione</a:t>
            </a:r>
            <a:r>
              <a:rPr sz="1100" b="0" i="0" dirty="0">
                <a:solidFill>
                  <a:srgbClr val="605E5C"/>
                </a:solidFill>
              </a:rPr>
              <a:t>. </a:t>
            </a:r>
            <a:r>
              <a:rPr sz="1100" b="0" i="0" dirty="0" err="1">
                <a:solidFill>
                  <a:srgbClr val="605E5C"/>
                </a:solidFill>
              </a:rPr>
              <a:t>Visibile</a:t>
            </a:r>
            <a:r>
              <a:rPr sz="1100" b="0" i="0" dirty="0">
                <a:solidFill>
                  <a:srgbClr val="605E5C"/>
                </a:solidFill>
              </a:rPr>
              <a:t> solo </a:t>
            </a:r>
            <a:r>
              <a:rPr sz="1100" b="0" i="0" dirty="0" err="1">
                <a:solidFill>
                  <a:srgbClr val="605E5C"/>
                </a:solidFill>
              </a:rPr>
              <a:t>all'autore</a:t>
            </a:r>
            <a:r>
              <a:rPr sz="1100" b="0" i="0" dirty="0">
                <a:solidFill>
                  <a:srgbClr val="605E5C"/>
                </a:solidFill>
              </a:rPr>
              <a:t> e ai </a:t>
            </a:r>
            <a:r>
              <a:rPr sz="1100" b="0" i="0" dirty="0" err="1">
                <a:solidFill>
                  <a:srgbClr val="605E5C"/>
                </a:solidFill>
              </a:rPr>
              <a:t>Proprietari</a:t>
            </a:r>
            <a:r>
              <a:rPr sz="1100" b="0" i="0" dirty="0">
                <a:solidFill>
                  <a:srgbClr val="605E5C"/>
                </a:solidFill>
              </a:rPr>
              <a:t> del </a:t>
            </a:r>
            <a:r>
              <a:rPr sz="1100" b="0" i="0" dirty="0" err="1">
                <a:solidFill>
                  <a:srgbClr val="605E5C"/>
                </a:solidFill>
              </a:rPr>
              <a:t>sito</a:t>
            </a:r>
            <a:r>
              <a:rPr sz="1100" b="0" i="0" dirty="0">
                <a:solidFill>
                  <a:srgbClr val="605E5C"/>
                </a:solidFill>
              </a:rPr>
              <a:t>. Non </a:t>
            </a:r>
            <a:r>
              <a:rPr sz="1100" b="0" i="0" dirty="0" err="1">
                <a:solidFill>
                  <a:srgbClr val="605E5C"/>
                </a:solidFill>
              </a:rPr>
              <a:t>ancora</a:t>
            </a:r>
            <a:r>
              <a:rPr sz="1100" b="0" i="0" dirty="0">
                <a:solidFill>
                  <a:srgbClr val="605E5C"/>
                </a:solidFill>
              </a:rPr>
              <a:t> </a:t>
            </a:r>
            <a:r>
              <a:rPr sz="1100" b="0" i="0" dirty="0" err="1">
                <a:solidFill>
                  <a:srgbClr val="605E5C"/>
                </a:solidFill>
              </a:rPr>
              <a:t>pubblicato</a:t>
            </a:r>
            <a:r>
              <a:rPr sz="1100" b="0" i="0" dirty="0">
                <a:solidFill>
                  <a:srgbClr val="605E5C"/>
                </a:solidFill>
              </a:rPr>
              <a:t> al team.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150" y="3098349"/>
            <a:ext cx="3200000" cy="267005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9150" y="3098349"/>
            <a:ext cx="3200000" cy="267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5E5C"/>
                </a:solidFill>
              </a:rPr>
              <a:t>Stato Iniziale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14834" y="1095000"/>
            <a:ext cx="3436167" cy="2333549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76834" y="1342650"/>
            <a:ext cx="2598167" cy="277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23130"/>
                </a:solidFill>
              </a:rPr>
              <a:t>In Approvazione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2484" y="1685550"/>
            <a:ext cx="2940867" cy="153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</a:rPr>
              <a:t>L'autore ha inviato il documento per revisione. Il revisore lo esamina. Visibile a Proprietari e Revisori.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75317" y="3098349"/>
            <a:ext cx="2200000" cy="267005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62484" y="3098349"/>
            <a:ext cx="2200000" cy="267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5E5C"/>
                </a:solidFill>
              </a:rPr>
              <a:t>In Attesa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58169" y="1094699"/>
            <a:ext cx="3436167" cy="2333549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20169" y="1342349"/>
            <a:ext cx="2598167" cy="277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23130"/>
                </a:solidFill>
              </a:rPr>
              <a:t>Approvato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05819" y="1685249"/>
            <a:ext cx="2940867" cy="153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</a:rPr>
              <a:t>Il revisore ha approvato. Il documento è ora visibile a tutti gli utenti con accesso al sito.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05819" y="3098048"/>
            <a:ext cx="2400000" cy="267005"/>
          </a:xfrm>
          <a:prstGeom prst="rect">
            <a:avLst/>
          </a:prstGeom>
          <a:solidFill>
            <a:srgbClr val="F3F2F1"/>
          </a:solidFill>
          <a:ln w="12700">
            <a:solidFill>
              <a:srgbClr val="ED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05819" y="3098048"/>
            <a:ext cx="2400000" cy="267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05E5C"/>
                </a:solidFill>
              </a:rPr>
              <a:t>Pubblicato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52595" y="2131774"/>
            <a:ext cx="13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605E5C"/>
                </a:solidFill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2565" y="2131774"/>
            <a:ext cx="130000" cy="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605E5C"/>
                </a:solidFill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1500" y="3628549"/>
            <a:ext cx="3436167" cy="10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71500" y="3628549"/>
            <a:ext cx="47549" cy="1050000"/>
          </a:xfrm>
          <a:prstGeom prst="rect">
            <a:avLst/>
          </a:prstGeom>
          <a:solidFill>
            <a:srgbClr val="323130"/>
          </a:solidFill>
          <a:ln w="12700">
            <a:solidFill>
              <a:srgbClr val="323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1500" y="3771549"/>
            <a:ext cx="318616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3130"/>
                </a:solidFill>
              </a:rPr>
              <a:t>Chi vede la BOZZA?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1500" y="4018549"/>
            <a:ext cx="3186167" cy="6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5E5C"/>
                </a:solidFill>
              </a:rPr>
              <a:t>Solo l'Autore e i Proprietari del sito. Tutti gli altri utenti non vedono il documento nella libreria.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27667" y="3628549"/>
            <a:ext cx="3436167" cy="10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4127667" y="3628549"/>
            <a:ext cx="47549" cy="105000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27667" y="3771549"/>
            <a:ext cx="318616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3130"/>
                </a:solidFill>
              </a:rPr>
              <a:t>Chi vede il documento IN APPROVAZIONE?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27667" y="4018549"/>
            <a:ext cx="3186167" cy="6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5E5C"/>
                </a:solidFill>
              </a:rPr>
              <a:t>L'Autore, i Proprietari e i Revisori. Il documento non è ancora visibile agli utenti standard.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83834" y="3628549"/>
            <a:ext cx="3436167" cy="105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683834" y="3628549"/>
            <a:ext cx="47549" cy="105000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83834" y="3771549"/>
            <a:ext cx="318616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23130"/>
                </a:solidFill>
              </a:rPr>
              <a:t>Chi vede il documento APPROVATO?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83834" y="4018549"/>
            <a:ext cx="3186167" cy="6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5E5C"/>
                </a:solidFill>
              </a:rPr>
              <a:t>Tutti gli utenti con accesso al sito (Lettori, Membri, Proprietari). Diventa il documento ufficiale.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1500" y="4828549"/>
            <a:ext cx="11049000" cy="350000"/>
          </a:xfrm>
          <a:prstGeom prst="rect">
            <a:avLst/>
          </a:prstGeom>
          <a:solidFill>
            <a:srgbClr val="FFF4CE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0000" y="4898549"/>
            <a:ext cx="10549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50B1C"/>
                </a:solidFill>
              </a:rPr>
              <a:t>Attenzione:  Se la Content Approval è attiva, i documenti caricati da Membri non sono visibili al team finché un Proprietario non li approva esplicitamente.</a:t>
            </a:r>
          </a:p>
        </p:txBody>
      </p:sp>
      <p:pic>
        <p:nvPicPr>
          <p:cNvPr id="48" name="Picture 11" descr="image.png">
            <a:extLst>
              <a:ext uri="{FF2B5EF4-FFF2-40B4-BE49-F238E27FC236}">
                <a16:creationId xmlns:a16="http://schemas.microsoft.com/office/drawing/2014/main" id="{4EEF26BF-6D58-0BB8-76B7-334277860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26" y="1347185"/>
            <a:ext cx="285750" cy="285750"/>
          </a:xfrm>
          <a:prstGeom prst="rect">
            <a:avLst/>
          </a:prstGeom>
        </p:spPr>
      </p:pic>
      <p:pic>
        <p:nvPicPr>
          <p:cNvPr id="49" name="Picture 17" descr="image.png">
            <a:extLst>
              <a:ext uri="{FF2B5EF4-FFF2-40B4-BE49-F238E27FC236}">
                <a16:creationId xmlns:a16="http://schemas.microsoft.com/office/drawing/2014/main" id="{AD3C014F-9F06-A649-C04D-F9EE37928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834" y="1342675"/>
            <a:ext cx="285750" cy="285750"/>
          </a:xfrm>
          <a:prstGeom prst="rect">
            <a:avLst/>
          </a:prstGeom>
        </p:spPr>
      </p:pic>
      <p:pic>
        <p:nvPicPr>
          <p:cNvPr id="50" name="Picture 23" descr="image.png">
            <a:extLst>
              <a:ext uri="{FF2B5EF4-FFF2-40B4-BE49-F238E27FC236}">
                <a16:creationId xmlns:a16="http://schemas.microsoft.com/office/drawing/2014/main" id="{89552E83-518E-F3C1-85F5-6316B1C94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944" y="1342374"/>
            <a:ext cx="285750" cy="2857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52805"/>
            <a:ext cx="12192000" cy="590519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9528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2000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152705"/>
            <a:ext cx="6000000" cy="1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</a:rPr>
              <a:t>Approvazione Documenti — Configurazione Step-by-Step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81305"/>
            <a:ext cx="9000000" cy="381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F2937"/>
                </a:solidFill>
              </a:rPr>
              <a:t>Come Abilitare la Content Approval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1500" y="1095000"/>
            <a:ext cx="2137800" cy="4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459349" y="1275000"/>
            <a:ext cx="362102" cy="286207"/>
          </a:xfrm>
          <a:prstGeom prst="rect">
            <a:avLst/>
          </a:prstGeom>
          <a:solidFill>
            <a:srgbClr val="3231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59349" y="1275000"/>
            <a:ext cx="362102" cy="28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1500" y="1641207"/>
            <a:ext cx="1937800" cy="914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500" y="1721207"/>
            <a:ext cx="1977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</a:rPr>
              <a:t>Apri Impostazioni Libreria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500" y="2161207"/>
            <a:ext cx="19778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5E5C"/>
                </a:solidFill>
              </a:rPr>
              <a:t>Vai nella libreria documenti → fai clic sull'icona ⚙ (ingranaggio) in alto a destra → seleziona 'Impostazioni libreria'.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99300" y="1095000"/>
            <a:ext cx="2137800" cy="4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687149" y="1275000"/>
            <a:ext cx="362102" cy="286207"/>
          </a:xfrm>
          <a:prstGeom prst="rect">
            <a:avLst/>
          </a:prstGeom>
          <a:solidFill>
            <a:srgbClr val="3231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87149" y="1275000"/>
            <a:ext cx="362102" cy="28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99300" y="1641207"/>
            <a:ext cx="1937800" cy="914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79300" y="1721207"/>
            <a:ext cx="1977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8D4"/>
                </a:solidFill>
              </a:rPr>
              <a:t>Impostazioni Versioni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79300" y="2161207"/>
            <a:ext cx="19778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5E5C"/>
                </a:solidFill>
              </a:rPr>
              <a:t>Nella pagina Impostazioni della libreria, fai clic su 'Impostazioni versioni'. Qui trovi tutte le opzioni di versioning e approvazione.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7100" y="1095000"/>
            <a:ext cx="2137800" cy="4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14949" y="1275000"/>
            <a:ext cx="362102" cy="286207"/>
          </a:xfrm>
          <a:prstGeom prst="rect">
            <a:avLst/>
          </a:prstGeom>
          <a:solidFill>
            <a:srgbClr val="3231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14949" y="1275000"/>
            <a:ext cx="362102" cy="28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27100" y="1641207"/>
            <a:ext cx="1937800" cy="914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07100" y="1721207"/>
            <a:ext cx="1977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7C10"/>
                </a:solidFill>
              </a:rPr>
              <a:t>Attiva Approvazione Contenuto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07100" y="2161207"/>
            <a:ext cx="19778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5E5C"/>
                </a:solidFill>
              </a:rPr>
              <a:t>Alla voce 'Approvazione contenuto' → seleziona Sì per 'Richiedi approvazione contenuto per gli elementi inviati'.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54900" y="1095000"/>
            <a:ext cx="2137800" cy="4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42749" y="1275000"/>
            <a:ext cx="362102" cy="286207"/>
          </a:xfrm>
          <a:prstGeom prst="rect">
            <a:avLst/>
          </a:prstGeom>
          <a:solidFill>
            <a:srgbClr val="3231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42749" y="1275000"/>
            <a:ext cx="362102" cy="28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54900" y="1641207"/>
            <a:ext cx="1937800" cy="9144"/>
          </a:xfrm>
          <a:prstGeom prst="rect">
            <a:avLst/>
          </a:prstGeom>
          <a:solidFill>
            <a:srgbClr val="107C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34900" y="1721207"/>
            <a:ext cx="1977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7C10"/>
                </a:solidFill>
              </a:rPr>
              <a:t>Configura le Versioni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34900" y="2161207"/>
            <a:ext cx="19778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5E5C"/>
                </a:solidFill>
              </a:rPr>
              <a:t>Seleziona 'Crea versioni principali e secondarie (bozze)'. Versioni x.0 = pubblicate; versioni x.1, x.2... = bozze in corso.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82700" y="1095000"/>
            <a:ext cx="2137800" cy="4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370549" y="1275000"/>
            <a:ext cx="362102" cy="286207"/>
          </a:xfrm>
          <a:prstGeom prst="rect">
            <a:avLst/>
          </a:prstGeom>
          <a:solidFill>
            <a:srgbClr val="32313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70549" y="1275000"/>
            <a:ext cx="362102" cy="286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82700" y="1641207"/>
            <a:ext cx="1937800" cy="9144"/>
          </a:xfrm>
          <a:prstGeom prst="rect">
            <a:avLst/>
          </a:prstGeom>
          <a:solidFill>
            <a:srgbClr val="D83B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562700" y="1721207"/>
            <a:ext cx="1977800" cy="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83B01"/>
                </a:solidFill>
              </a:rPr>
              <a:t>Salva e Testa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62700" y="2161207"/>
            <a:ext cx="19778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605E5C"/>
                </a:solidFill>
              </a:rPr>
              <a:t>Clic</a:t>
            </a:r>
            <a:r>
              <a:rPr sz="1000" b="0" i="0" dirty="0">
                <a:solidFill>
                  <a:srgbClr val="605E5C"/>
                </a:solidFill>
              </a:rPr>
              <a:t> </a:t>
            </a:r>
            <a:r>
              <a:rPr sz="1000" b="0" i="0" dirty="0" err="1">
                <a:solidFill>
                  <a:srgbClr val="605E5C"/>
                </a:solidFill>
              </a:rPr>
              <a:t>su</a:t>
            </a:r>
            <a:r>
              <a:rPr sz="1000" b="0" i="0" dirty="0">
                <a:solidFill>
                  <a:srgbClr val="605E5C"/>
                </a:solidFill>
              </a:rPr>
              <a:t> OK. Carica un </a:t>
            </a:r>
            <a:r>
              <a:rPr sz="1000" b="0" i="0" dirty="0" err="1">
                <a:solidFill>
                  <a:srgbClr val="605E5C"/>
                </a:solidFill>
              </a:rPr>
              <a:t>documento</a:t>
            </a:r>
            <a:r>
              <a:rPr sz="1000" b="0" i="0" dirty="0">
                <a:solidFill>
                  <a:srgbClr val="605E5C"/>
                </a:solidFill>
              </a:rPr>
              <a:t>: </a:t>
            </a:r>
            <a:r>
              <a:rPr sz="1000" b="0" i="0" dirty="0" err="1">
                <a:solidFill>
                  <a:srgbClr val="605E5C"/>
                </a:solidFill>
              </a:rPr>
              <a:t>vedrà</a:t>
            </a:r>
            <a:r>
              <a:rPr sz="1000" b="0" i="0" dirty="0">
                <a:solidFill>
                  <a:srgbClr val="605E5C"/>
                </a:solidFill>
              </a:rPr>
              <a:t> lo </a:t>
            </a:r>
            <a:r>
              <a:rPr sz="1000" b="0" i="0" dirty="0" err="1">
                <a:solidFill>
                  <a:srgbClr val="605E5C"/>
                </a:solidFill>
              </a:rPr>
              <a:t>stato</a:t>
            </a:r>
            <a:r>
              <a:rPr sz="1000" b="0" i="0" dirty="0">
                <a:solidFill>
                  <a:srgbClr val="605E5C"/>
                </a:solidFill>
              </a:rPr>
              <a:t> 'In </a:t>
            </a:r>
            <a:r>
              <a:rPr sz="1000" b="0" i="0" dirty="0" err="1">
                <a:solidFill>
                  <a:srgbClr val="605E5C"/>
                </a:solidFill>
              </a:rPr>
              <a:t>attesa</a:t>
            </a:r>
            <a:r>
              <a:rPr sz="1000" b="0" i="0" dirty="0">
                <a:solidFill>
                  <a:srgbClr val="605E5C"/>
                </a:solidFill>
              </a:rPr>
              <a:t> di </a:t>
            </a:r>
            <a:r>
              <a:rPr sz="1000" b="0" i="0" dirty="0" err="1">
                <a:solidFill>
                  <a:srgbClr val="605E5C"/>
                </a:solidFill>
              </a:rPr>
              <a:t>approvazione</a:t>
            </a:r>
            <a:r>
              <a:rPr sz="1000" b="0" i="0" dirty="0">
                <a:solidFill>
                  <a:srgbClr val="605E5C"/>
                </a:solidFill>
              </a:rPr>
              <a:t>'. Come </a:t>
            </a:r>
            <a:r>
              <a:rPr sz="1000" b="0" i="0" dirty="0" err="1">
                <a:solidFill>
                  <a:srgbClr val="605E5C"/>
                </a:solidFill>
              </a:rPr>
              <a:t>proprietario</a:t>
            </a:r>
            <a:r>
              <a:rPr sz="1000" b="0" i="0" dirty="0">
                <a:solidFill>
                  <a:srgbClr val="605E5C"/>
                </a:solidFill>
              </a:rPr>
              <a:t>, </a:t>
            </a:r>
            <a:r>
              <a:rPr sz="1000" b="0" i="0" dirty="0" err="1">
                <a:solidFill>
                  <a:srgbClr val="605E5C"/>
                </a:solidFill>
              </a:rPr>
              <a:t>approvalo</a:t>
            </a:r>
            <a:r>
              <a:rPr sz="1000" b="0" i="0" dirty="0">
                <a:solidFill>
                  <a:srgbClr val="605E5C"/>
                </a:solidFill>
              </a:rPr>
              <a:t> </a:t>
            </a:r>
            <a:r>
              <a:rPr sz="1000" b="0" i="0" dirty="0" err="1">
                <a:solidFill>
                  <a:srgbClr val="605E5C"/>
                </a:solidFill>
              </a:rPr>
              <a:t>dalla</a:t>
            </a:r>
            <a:r>
              <a:rPr sz="1000" b="0" i="0" dirty="0">
                <a:solidFill>
                  <a:srgbClr val="605E5C"/>
                </a:solidFill>
              </a:rPr>
              <a:t> </a:t>
            </a:r>
            <a:r>
              <a:rPr sz="1000" b="0" i="0" dirty="0" err="1">
                <a:solidFill>
                  <a:srgbClr val="605E5C"/>
                </a:solidFill>
              </a:rPr>
              <a:t>libreria</a:t>
            </a:r>
            <a:r>
              <a:rPr sz="1000" b="0" i="0" dirty="0">
                <a:solidFill>
                  <a:srgbClr val="605E5C"/>
                </a:solidFill>
              </a:rPr>
              <a:t>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1500" y="5925000"/>
            <a:ext cx="11049000" cy="350000"/>
          </a:xfrm>
          <a:prstGeom prst="rect">
            <a:avLst/>
          </a:prstGeom>
          <a:solidFill>
            <a:srgbClr val="F3F2F1"/>
          </a:solidFill>
          <a:ln w="12700">
            <a:solidFill>
              <a:srgbClr val="E1D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1500" y="5990000"/>
            <a:ext cx="10589000" cy="2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23130"/>
                </a:solidFill>
              </a:rPr>
              <a:t>Chi può approvare?  Solo i Proprietari del sito (Controllo Completo) possono approvare o rifiutare documenti. I Membri possono solo caricare e inviare per approvazione.</a:t>
            </a:r>
          </a:p>
        </p:txBody>
      </p:sp>
      <p:pic>
        <p:nvPicPr>
          <p:cNvPr id="43" name="Picture 12" descr="image.png">
            <a:extLst>
              <a:ext uri="{FF2B5EF4-FFF2-40B4-BE49-F238E27FC236}">
                <a16:creationId xmlns:a16="http://schemas.microsoft.com/office/drawing/2014/main" id="{9E61FCEF-F33E-F3AF-3635-F67CC1A8E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675" y="1737582"/>
            <a:ext cx="285750" cy="285750"/>
          </a:xfrm>
          <a:prstGeom prst="rect">
            <a:avLst/>
          </a:prstGeom>
        </p:spPr>
      </p:pic>
      <p:pic>
        <p:nvPicPr>
          <p:cNvPr id="44" name="Picture 19" descr="image.png">
            <a:extLst>
              <a:ext uri="{FF2B5EF4-FFF2-40B4-BE49-F238E27FC236}">
                <a16:creationId xmlns:a16="http://schemas.microsoft.com/office/drawing/2014/main" id="{A68586FD-32F2-3D17-9AAE-0A7CA0305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475" y="1745457"/>
            <a:ext cx="285750" cy="285750"/>
          </a:xfrm>
          <a:prstGeom prst="rect">
            <a:avLst/>
          </a:prstGeom>
        </p:spPr>
      </p:pic>
      <p:pic>
        <p:nvPicPr>
          <p:cNvPr id="45" name="Picture 26" descr="image.png">
            <a:extLst>
              <a:ext uri="{FF2B5EF4-FFF2-40B4-BE49-F238E27FC236}">
                <a16:creationId xmlns:a16="http://schemas.microsoft.com/office/drawing/2014/main" id="{0B4EE796-E7CB-6646-474C-D3A76E4922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675" y="1768744"/>
            <a:ext cx="285750" cy="285750"/>
          </a:xfrm>
          <a:prstGeom prst="rect">
            <a:avLst/>
          </a:prstGeom>
        </p:spPr>
      </p:pic>
      <p:pic>
        <p:nvPicPr>
          <p:cNvPr id="46" name="Picture 33" descr="image.png">
            <a:extLst>
              <a:ext uri="{FF2B5EF4-FFF2-40B4-BE49-F238E27FC236}">
                <a16:creationId xmlns:a16="http://schemas.microsoft.com/office/drawing/2014/main" id="{BCA29248-9465-BB58-895E-4EB62B230C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8350" y="1793953"/>
            <a:ext cx="285750" cy="285750"/>
          </a:xfrm>
          <a:prstGeom prst="rect">
            <a:avLst/>
          </a:prstGeom>
        </p:spPr>
      </p:pic>
      <p:pic>
        <p:nvPicPr>
          <p:cNvPr id="47" name="Picture 40" descr="image.png">
            <a:extLst>
              <a:ext uri="{FF2B5EF4-FFF2-40B4-BE49-F238E27FC236}">
                <a16:creationId xmlns:a16="http://schemas.microsoft.com/office/drawing/2014/main" id="{C10F4A22-6E55-67AA-D604-7E72D30124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51875" y="1793953"/>
            <a:ext cx="285750" cy="285750"/>
          </a:xfrm>
          <a:prstGeom prst="rect">
            <a:avLst/>
          </a:prstGeom>
        </p:spPr>
      </p:pic>
      <p:sp>
        <p:nvSpPr>
          <p:cNvPr id="48" name="Rectangle 8">
            <a:extLst>
              <a:ext uri="{FF2B5EF4-FFF2-40B4-BE49-F238E27FC236}">
                <a16:creationId xmlns:a16="http://schemas.microsoft.com/office/drawing/2014/main" id="{D3881945-0931-1C24-DAF5-4327B214EAD8}"/>
              </a:ext>
            </a:extLst>
          </p:cNvPr>
          <p:cNvSpPr/>
          <p:nvPr/>
        </p:nvSpPr>
        <p:spPr>
          <a:xfrm>
            <a:off x="10480743" y="482038"/>
            <a:ext cx="1475186" cy="294435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9">
            <a:extLst>
              <a:ext uri="{FF2B5EF4-FFF2-40B4-BE49-F238E27FC236}">
                <a16:creationId xmlns:a16="http://schemas.microsoft.com/office/drawing/2014/main" id="{7E079C24-D129-412A-F91D-388D012728F4}"/>
              </a:ext>
            </a:extLst>
          </p:cNvPr>
          <p:cNvSpPr txBox="1"/>
          <p:nvPr/>
        </p:nvSpPr>
        <p:spPr>
          <a:xfrm>
            <a:off x="10581731" y="501128"/>
            <a:ext cx="12732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000" b="1" i="0" dirty="0">
                <a:solidFill>
                  <a:srgbClr val="4B5563"/>
                </a:solidFill>
              </a:rPr>
              <a:t>Guida Pratica</a:t>
            </a:r>
            <a:endParaRPr sz="1000" b="1" i="0" dirty="0">
              <a:solidFill>
                <a:srgbClr val="4B5563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52805"/>
            <a:ext cx="12192000" cy="5905195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9528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2000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1500" y="152705"/>
            <a:ext cx="6000000" cy="191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280"/>
                </a:solidFill>
              </a:rPr>
              <a:t>Approvazione Documenti — Esempio Pratico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381305"/>
            <a:ext cx="9000000" cy="381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1F2937"/>
                </a:solidFill>
              </a:rPr>
              <a:t>Content Approval in Azione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5902" y="2000707"/>
            <a:ext cx="3810305" cy="3810305"/>
          </a:xfrm>
          <a:prstGeom prst="rect">
            <a:avLst/>
          </a:prstGeom>
          <a:solidFill>
            <a:srgbClr val="E6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1120000"/>
            <a:ext cx="4809744" cy="13149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1120000"/>
            <a:ext cx="47549" cy="1314907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76500" y="1310500"/>
            <a:ext cx="3857744" cy="277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23130"/>
                </a:solidFill>
              </a:rPr>
              <a:t>Giulia (Autore) — Crea il documento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76500" y="1634350"/>
            <a:ext cx="3857744" cy="752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</a:rPr>
              <a:t>Carica 'Presentazione_Q4.pptx' nella libreria Marketing. Il sistema salva il file con stato 'In attesa di approvazione'. Giulia lo vede; il resto del team no.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2654907"/>
            <a:ext cx="4809744" cy="13149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1500" y="2654907"/>
            <a:ext cx="47549" cy="1314907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476500" y="2845407"/>
            <a:ext cx="3857744" cy="277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23130"/>
                </a:solidFill>
              </a:rPr>
              <a:t>Marco (Proprietario) — Revisiona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76500" y="3169257"/>
            <a:ext cx="3857744" cy="752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</a:rPr>
              <a:t>Marco riceve la notifica, apre il documento dalla libreria, legge il contenuto e decide se approvare o rifiutare, aggiungendo eventualmente un commento.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71500" y="4189814"/>
            <a:ext cx="4809744" cy="13149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71500" y="4189814"/>
            <a:ext cx="47549" cy="1314907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476500" y="4380314"/>
            <a:ext cx="3857744" cy="277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23130"/>
                </a:solidFill>
              </a:rPr>
              <a:t>Tutti i Dipendenti — Accesso al documento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76500" y="4704164"/>
            <a:ext cx="3857744" cy="752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</a:rPr>
              <a:t>Marco approva. Il documento diventa immediatamente visibile a tutti i membri del sito con lo stato 'Approvato'. Il file è ora il contenuto ufficiale.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2000" y="1120000"/>
            <a:ext cx="5858500" cy="1314907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62000" y="1120000"/>
            <a:ext cx="47549" cy="1314907"/>
          </a:xfrm>
          <a:prstGeom prst="rect">
            <a:avLst/>
          </a:prstGeom>
          <a:solidFill>
            <a:srgbClr val="D13438"/>
          </a:solidFill>
          <a:ln w="12700">
            <a:solidFill>
              <a:srgbClr val="D13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67000" y="1310500"/>
            <a:ext cx="4888500" cy="277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23130"/>
                </a:solidFill>
              </a:rPr>
              <a:t>Documento Rifiutato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7000" y="1634350"/>
            <a:ext cx="4888500" cy="734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</a:rPr>
              <a:t>Marco rifiuta e aggiunge un commento. Il documento torna in stato Bozza. Giulia riceve notifica e può correggere.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2000" y="2654907"/>
            <a:ext cx="5858500" cy="1314907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762000" y="2654907"/>
            <a:ext cx="47549" cy="1314907"/>
          </a:xfrm>
          <a:prstGeom prst="rect">
            <a:avLst/>
          </a:prstGeom>
          <a:solidFill>
            <a:srgbClr val="323130"/>
          </a:solidFill>
          <a:ln w="12700">
            <a:solidFill>
              <a:srgbClr val="323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67000" y="2845407"/>
            <a:ext cx="4888500" cy="277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23130"/>
                </a:solidFill>
              </a:rPr>
              <a:t>Versioni Create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67000" y="3169257"/>
            <a:ext cx="4888500" cy="734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</a:rPr>
              <a:t>Ogni invio per approvazione genera una versione secondaria (1.1, 1.2…). Ogni approvazione genera una versione principale (2.0, 3.0…).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62000" y="4189814"/>
            <a:ext cx="5858500" cy="1314907"/>
          </a:xfrm>
          <a:prstGeom prst="rect">
            <a:avLst/>
          </a:prstGeom>
          <a:solidFill>
            <a:srgbClr val="FFFFFF"/>
          </a:solidFill>
          <a:ln w="12700">
            <a:solidFill>
              <a:srgbClr val="E1DF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762000" y="4189814"/>
            <a:ext cx="47549" cy="1314907"/>
          </a:xfrm>
          <a:prstGeom prst="rect">
            <a:avLst/>
          </a:prstGeom>
          <a:solidFill>
            <a:srgbClr val="D83B01"/>
          </a:solidFill>
          <a:ln w="12700">
            <a:solidFill>
              <a:srgbClr val="D83B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67000" y="4380314"/>
            <a:ext cx="4888500" cy="277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23130"/>
                </a:solidFill>
              </a:rPr>
              <a:t>Regola Pratica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67000" y="4704164"/>
            <a:ext cx="4888500" cy="734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5E5C"/>
                </a:solidFill>
              </a:rPr>
              <a:t>Usa la Content Approval per librerie che contengono policy, modulistica o comunicati ufficiali. Evitala per librerie ad aggiornamento rapido.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1500" y="5604721"/>
            <a:ext cx="11049000" cy="380000"/>
          </a:xfrm>
          <a:prstGeom prst="rect">
            <a:avLst/>
          </a:prstGeom>
          <a:solidFill>
            <a:srgbClr val="FFF4CE"/>
          </a:solidFill>
          <a:ln w="127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0000" y="5684721"/>
            <a:ext cx="10592000" cy="2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50B1C"/>
                </a:solidFill>
              </a:rPr>
              <a:t>Attenzione alla complessità:  la Content Approval rallenta il flusso di lavoro. Attivala solo dove la governance dei contenuti è una priorità aziendale.</a:t>
            </a:r>
          </a:p>
        </p:txBody>
      </p:sp>
      <p:pic>
        <p:nvPicPr>
          <p:cNvPr id="52" name="Picture 10" descr="image.png">
            <a:extLst>
              <a:ext uri="{FF2B5EF4-FFF2-40B4-BE49-F238E27FC236}">
                <a16:creationId xmlns:a16="http://schemas.microsoft.com/office/drawing/2014/main" id="{F09695A2-59B3-800B-4578-0832D0010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433" y="1483174"/>
            <a:ext cx="380682" cy="380682"/>
          </a:xfrm>
          <a:prstGeom prst="rect">
            <a:avLst/>
          </a:prstGeom>
        </p:spPr>
      </p:pic>
      <p:pic>
        <p:nvPicPr>
          <p:cNvPr id="53" name="Picture 15" descr="image.png">
            <a:extLst>
              <a:ext uri="{FF2B5EF4-FFF2-40B4-BE49-F238E27FC236}">
                <a16:creationId xmlns:a16="http://schemas.microsoft.com/office/drawing/2014/main" id="{488CD4BC-EF17-0C1C-3A2B-A9C706070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506" y="3047008"/>
            <a:ext cx="380682" cy="380682"/>
          </a:xfrm>
          <a:prstGeom prst="rect">
            <a:avLst/>
          </a:prstGeom>
        </p:spPr>
      </p:pic>
      <p:pic>
        <p:nvPicPr>
          <p:cNvPr id="54" name="Picture 20" descr="image.png">
            <a:extLst>
              <a:ext uri="{FF2B5EF4-FFF2-40B4-BE49-F238E27FC236}">
                <a16:creationId xmlns:a16="http://schemas.microsoft.com/office/drawing/2014/main" id="{AB3F2CFB-30F3-2424-EF4B-55BAF28927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4860" y="1477391"/>
            <a:ext cx="380682" cy="380682"/>
          </a:xfrm>
          <a:prstGeom prst="rect">
            <a:avLst/>
          </a:prstGeom>
        </p:spPr>
      </p:pic>
      <p:pic>
        <p:nvPicPr>
          <p:cNvPr id="55" name="Picture 25" descr="image.png">
            <a:extLst>
              <a:ext uri="{FF2B5EF4-FFF2-40B4-BE49-F238E27FC236}">
                <a16:creationId xmlns:a16="http://schemas.microsoft.com/office/drawing/2014/main" id="{2402A629-2788-0B2A-80EE-951FD2266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550" y="4599370"/>
            <a:ext cx="380682" cy="380682"/>
          </a:xfrm>
          <a:prstGeom prst="rect">
            <a:avLst/>
          </a:prstGeom>
        </p:spPr>
      </p:pic>
      <p:pic>
        <p:nvPicPr>
          <p:cNvPr id="56" name="Picture 30" descr="image.png">
            <a:extLst>
              <a:ext uri="{FF2B5EF4-FFF2-40B4-BE49-F238E27FC236}">
                <a16:creationId xmlns:a16="http://schemas.microsoft.com/office/drawing/2014/main" id="{34BFD87A-42F9-CB1A-4495-608CD9054E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000" y="4596927"/>
            <a:ext cx="380682" cy="380682"/>
          </a:xfrm>
          <a:prstGeom prst="rect">
            <a:avLst/>
          </a:prstGeom>
        </p:spPr>
      </p:pic>
      <p:pic>
        <p:nvPicPr>
          <p:cNvPr id="57" name="Picture 35" descr="image.png">
            <a:extLst>
              <a:ext uri="{FF2B5EF4-FFF2-40B4-BE49-F238E27FC236}">
                <a16:creationId xmlns:a16="http://schemas.microsoft.com/office/drawing/2014/main" id="{69F677C8-B88B-5228-5934-172864A069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4860" y="3047008"/>
            <a:ext cx="380682" cy="380682"/>
          </a:xfrm>
          <a:prstGeom prst="rect">
            <a:avLst/>
          </a:prstGeom>
        </p:spPr>
      </p:pic>
      <p:sp>
        <p:nvSpPr>
          <p:cNvPr id="58" name="Rectangle 8">
            <a:extLst>
              <a:ext uri="{FF2B5EF4-FFF2-40B4-BE49-F238E27FC236}">
                <a16:creationId xmlns:a16="http://schemas.microsoft.com/office/drawing/2014/main" id="{20D9A0B2-7A07-8ABC-51C9-DA31EB11AECC}"/>
              </a:ext>
            </a:extLst>
          </p:cNvPr>
          <p:cNvSpPr/>
          <p:nvPr/>
        </p:nvSpPr>
        <p:spPr>
          <a:xfrm>
            <a:off x="10480743" y="482038"/>
            <a:ext cx="1475186" cy="294435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9">
            <a:extLst>
              <a:ext uri="{FF2B5EF4-FFF2-40B4-BE49-F238E27FC236}">
                <a16:creationId xmlns:a16="http://schemas.microsoft.com/office/drawing/2014/main" id="{AA330186-DEFB-DDD4-CF8E-FD1EC70BF251}"/>
              </a:ext>
            </a:extLst>
          </p:cNvPr>
          <p:cNvSpPr txBox="1"/>
          <p:nvPr/>
        </p:nvSpPr>
        <p:spPr>
          <a:xfrm>
            <a:off x="10581731" y="501128"/>
            <a:ext cx="127320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000" b="1" i="0" dirty="0">
                <a:solidFill>
                  <a:srgbClr val="4B5563"/>
                </a:solidFill>
              </a:rPr>
              <a:t>Caso Reale</a:t>
            </a:r>
            <a:endParaRPr sz="1000" b="1" i="0" dirty="0">
              <a:solidFill>
                <a:srgbClr val="4B5563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1429207" y="1333195"/>
            <a:ext cx="2857500" cy="923544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1429207" y="1333195"/>
            <a:ext cx="47549" cy="923544"/>
          </a:xfrm>
          <a:prstGeom prst="roundRect">
            <a:avLst>
              <a:gd name="adj" fmla="val 158604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57" r="-57"/>
          <a:stretch/>
        </p:blipFill>
        <p:spPr>
          <a:xfrm>
            <a:off x="1739189" y="1680667"/>
            <a:ext cx="200254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105863" y="1476756"/>
            <a:ext cx="2020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Automatico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105863" y="1723644"/>
            <a:ext cx="201991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Ogni salvataggio crea una nuova versione storica.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7098" y="1333195"/>
            <a:ext cx="2857500" cy="923544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4667098" y="1333195"/>
            <a:ext cx="47549" cy="923544"/>
          </a:xfrm>
          <a:prstGeom prst="roundRect">
            <a:avLst>
              <a:gd name="adj" fmla="val 158604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969764" y="1680667"/>
            <a:ext cx="228600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58384" y="14767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Ripristinabile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358384" y="1723644"/>
            <a:ext cx="200985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Torna a qualsiasi punto del passato in un click.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905902" y="1333195"/>
            <a:ext cx="2857500" cy="923544"/>
          </a:xfrm>
          <a:prstGeom prst="roundRect">
            <a:avLst>
              <a:gd name="adj" fmla="val 8166"/>
            </a:avLst>
          </a:prstGeom>
          <a:solidFill>
            <a:srgbClr val="FFFFFF"/>
          </a:solidFill>
          <a:ln/>
          <a:effectLst>
            <a:outerShdw blurRad="50800" dist="254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2"/>
          <p:cNvSpPr/>
          <p:nvPr/>
        </p:nvSpPr>
        <p:spPr>
          <a:xfrm>
            <a:off x="7905902" y="1333195"/>
            <a:ext cx="47549" cy="923544"/>
          </a:xfrm>
          <a:prstGeom prst="roundRect">
            <a:avLst>
              <a:gd name="adj" fmla="val 158604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12226" y="1680667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04504" y="1476756"/>
            <a:ext cx="200162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Tracciabile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8604504" y="1723644"/>
            <a:ext cx="2000707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Vedi chi ha modificato cosa e quando (Audit).</a:t>
            </a:r>
            <a:endParaRPr lang="en-US" sz="1000" dirty="0"/>
          </a:p>
        </p:txBody>
      </p:sp>
      <p:sp>
        <p:nvSpPr>
          <p:cNvPr id="62" name="Shape 41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3" name="Shape 42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4" name="Text 43"/>
          <p:cNvSpPr txBox="1"/>
          <p:nvPr/>
        </p:nvSpPr>
        <p:spPr>
          <a:xfrm>
            <a:off x="571500" y="152705"/>
            <a:ext cx="5591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Sicurezza del Dato</a:t>
            </a:r>
            <a:endParaRPr lang="en-US" sz="1000" dirty="0"/>
          </a:p>
        </p:txBody>
      </p:sp>
      <p:sp>
        <p:nvSpPr>
          <p:cNvPr id="65" name="Text 44"/>
          <p:cNvSpPr txBox="1"/>
          <p:nvPr/>
        </p:nvSpPr>
        <p:spPr>
          <a:xfrm>
            <a:off x="571500" y="381305"/>
            <a:ext cx="699424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Versioning (Cronologia Versioni)</a:t>
            </a:r>
            <a:endParaRPr lang="en-US" sz="2700" dirty="0"/>
          </a:p>
        </p:txBody>
      </p:sp>
      <p:sp>
        <p:nvSpPr>
          <p:cNvPr id="66" name="Shape 45"/>
          <p:cNvSpPr/>
          <p:nvPr/>
        </p:nvSpPr>
        <p:spPr>
          <a:xfrm>
            <a:off x="9812426" y="276149"/>
            <a:ext cx="1809598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7" name="Image 1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012680" y="381305"/>
            <a:ext cx="152705" cy="152705"/>
          </a:xfrm>
          <a:prstGeom prst="rect">
            <a:avLst/>
          </a:prstGeom>
        </p:spPr>
      </p:pic>
      <p:sp>
        <p:nvSpPr>
          <p:cNvPr id="68" name="Text 46"/>
          <p:cNvSpPr txBox="1"/>
          <p:nvPr/>
        </p:nvSpPr>
        <p:spPr>
          <a:xfrm>
            <a:off x="10279685" y="276149"/>
            <a:ext cx="1200607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Audit &amp; Recovery</a:t>
            </a:r>
            <a:endParaRPr lang="en-US" sz="1000" dirty="0"/>
          </a:p>
        </p:txBody>
      </p:sp>
      <p:pic>
        <p:nvPicPr>
          <p:cNvPr id="70" name="Immagine 69">
            <a:extLst>
              <a:ext uri="{FF2B5EF4-FFF2-40B4-BE49-F238E27FC236}">
                <a16:creationId xmlns:a16="http://schemas.microsoft.com/office/drawing/2014/main" id="{A5CDA5B9-4CDB-4065-B668-23FBC9726A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9983" y="3564458"/>
            <a:ext cx="9646146" cy="2311519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858707" y="2000707"/>
            <a:ext cx="3810305" cy="3810305"/>
          </a:xfrm>
          <a:prstGeom prst="ellipse">
            <a:avLst/>
          </a:prstGeom>
          <a:solidFill>
            <a:srgbClr val="E6F2FF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571500" y="1653235"/>
            <a:ext cx="4809744" cy="1314907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571500" y="1653235"/>
            <a:ext cx="47549" cy="1314907"/>
          </a:xfrm>
          <a:prstGeom prst="roundRect">
            <a:avLst>
              <a:gd name="adj" fmla="val 167223"/>
            </a:avLst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809244" y="1843430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2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33602" y="1966874"/>
            <a:ext cx="228600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76756" y="1843430"/>
            <a:ext cx="38295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Modifica Simultanea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476756" y="2165299"/>
            <a:ext cx="37911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Più persone possono aprire e modificare lo stesso documento (Word, Excel, PPT) contemporaneamente. Niente più blocchi o file "in sola lettura".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1500" y="3249778"/>
            <a:ext cx="4809744" cy="1314907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571500" y="3249778"/>
            <a:ext cx="47549" cy="1314907"/>
          </a:xfrm>
          <a:prstGeom prst="roundRect">
            <a:avLst>
              <a:gd name="adj" fmla="val 167223"/>
            </a:avLst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809244" y="3439973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E6FF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 t="-45" b="-45"/>
          <a:stretch/>
        </p:blipFill>
        <p:spPr>
          <a:xfrm>
            <a:off x="918972" y="3564331"/>
            <a:ext cx="256946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476756" y="3439973"/>
            <a:ext cx="38295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Visibilità in Tempo Reale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1476756" y="3761842"/>
            <a:ext cx="37911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Vedi esattamente dove stanno lavorando i tuoi colleghi grazie ai cursori colorati. I paragrafi vengono bloccati solo per il tempo della digitazione.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71500" y="4846320"/>
            <a:ext cx="4809744" cy="1314907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/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Shape 15"/>
          <p:cNvSpPr/>
          <p:nvPr/>
        </p:nvSpPr>
        <p:spPr>
          <a:xfrm>
            <a:off x="571500" y="4846320"/>
            <a:ext cx="47549" cy="1314907"/>
          </a:xfrm>
          <a:prstGeom prst="roundRect">
            <a:avLst>
              <a:gd name="adj" fmla="val 167223"/>
            </a:avLst>
          </a:prstGeom>
          <a:solidFill>
            <a:srgbClr val="D83B01"/>
          </a:solidFill>
          <a:ln w="12700">
            <a:solidFill>
              <a:srgbClr val="D83B0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6"/>
          <p:cNvSpPr/>
          <p:nvPr/>
        </p:nvSpPr>
        <p:spPr>
          <a:xfrm>
            <a:off x="809244" y="5036515"/>
            <a:ext cx="476402" cy="476402"/>
          </a:xfrm>
          <a:prstGeom prst="roundRect">
            <a:avLst>
              <a:gd name="adj" fmla="val 38388"/>
            </a:avLst>
          </a:prstGeom>
          <a:solidFill>
            <a:srgbClr val="FDECE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7"/>
          <p:cNvSpPr txBox="1"/>
          <p:nvPr/>
        </p:nvSpPr>
        <p:spPr>
          <a:xfrm>
            <a:off x="1476756" y="5036515"/>
            <a:ext cx="38295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Fine del "Ping-Pong" via Email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1476756" y="5359298"/>
            <a:ext cx="3791102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Elimina la confusione di allegati multipli (v1, v2, v2_finale). Esiste una sola versione della verità salvata in cloud.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Shape 20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1"/>
          <p:cNvSpPr txBox="1"/>
          <p:nvPr/>
        </p:nvSpPr>
        <p:spPr>
          <a:xfrm>
            <a:off x="571500" y="152705"/>
            <a:ext cx="268467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Collaborazione in Tempo Reale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571500" y="381305"/>
            <a:ext cx="27422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Co-authoring</a:t>
            </a:r>
            <a:endParaRPr lang="en-US" sz="2700" dirty="0"/>
          </a:p>
        </p:txBody>
      </p:sp>
      <p:sp>
        <p:nvSpPr>
          <p:cNvPr id="27" name="Shape 23"/>
          <p:cNvSpPr/>
          <p:nvPr/>
        </p:nvSpPr>
        <p:spPr>
          <a:xfrm>
            <a:off x="9717329" y="276149"/>
            <a:ext cx="1904695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9917582" y="381305"/>
            <a:ext cx="190195" cy="152705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10222078" y="276149"/>
            <a:ext cx="1257300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Multi-User Editing</a:t>
            </a:r>
            <a:endParaRPr lang="en-US" sz="1000" dirty="0"/>
          </a:p>
        </p:txBody>
      </p:sp>
      <p:pic>
        <p:nvPicPr>
          <p:cNvPr id="60" name="Immagine 59">
            <a:extLst>
              <a:ext uri="{FF2B5EF4-FFF2-40B4-BE49-F238E27FC236}">
                <a16:creationId xmlns:a16="http://schemas.microsoft.com/office/drawing/2014/main" id="{A3C6986A-246C-FF11-16AC-B471C91015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2744" y="1637624"/>
            <a:ext cx="5320284" cy="408159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2F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0" y="952805"/>
            <a:ext cx="12191695" cy="5905195"/>
          </a:xfrm>
          <a:prstGeom prst="rect">
            <a:avLst/>
          </a:prstGeom>
          <a:solidFill>
            <a:srgbClr val="F8F9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/>
          <a:stretch/>
        </p:blipFill>
        <p:spPr>
          <a:xfrm>
            <a:off x="5619902" y="3305556"/>
            <a:ext cx="1218895" cy="1218895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7029907" y="1333195"/>
            <a:ext cx="4591202" cy="1676095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Shape 23"/>
          <p:cNvSpPr/>
          <p:nvPr/>
        </p:nvSpPr>
        <p:spPr>
          <a:xfrm>
            <a:off x="7029907" y="1333195"/>
            <a:ext cx="38405" cy="1676095"/>
          </a:xfrm>
          <a:prstGeom prst="roundRect">
            <a:avLst>
              <a:gd name="adj" fmla="val 162337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4"/>
          <p:cNvSpPr txBox="1"/>
          <p:nvPr/>
        </p:nvSpPr>
        <p:spPr>
          <a:xfrm>
            <a:off x="7515454" y="1571854"/>
            <a:ext cx="3982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Come funzionano i 93 giorni?</a:t>
            </a:r>
            <a:endParaRPr lang="en-US" sz="12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4"/>
          <a:srcRect t="-43" b="-43"/>
          <a:stretch/>
        </p:blipFill>
        <p:spPr>
          <a:xfrm>
            <a:off x="7306056" y="1609344"/>
            <a:ext cx="133502" cy="15270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306056" y="1895551"/>
            <a:ext cx="4153205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 conteggio inizia nel momento in cui il file viene eliminato per la prima volta. Se un file rimane nel Cestino Utente per 90 giorni, rimarranno solo </a:t>
            </a:r>
            <a:r>
              <a:rPr lang="en-US" sz="1100" b="1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 giorni</a:t>
            </a: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nel Cestino Admin prima dell'eliminazione permanente.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029907" y="3240634"/>
            <a:ext cx="4591202" cy="1676095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/>
          <a:effectLst>
            <a:outerShdw blurRad="1016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5" name="Shape 27"/>
          <p:cNvSpPr/>
          <p:nvPr/>
        </p:nvSpPr>
        <p:spPr>
          <a:xfrm>
            <a:off x="7029907" y="3240634"/>
            <a:ext cx="38405" cy="1676095"/>
          </a:xfrm>
          <a:prstGeom prst="roundRect">
            <a:avLst>
              <a:gd name="adj" fmla="val 162337"/>
            </a:avLst>
          </a:prstGeom>
          <a:solidFill>
            <a:srgbClr val="E1DFDD"/>
          </a:solidFill>
          <a:ln w="12700">
            <a:solidFill>
              <a:srgbClr val="E1DFD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28"/>
          <p:cNvSpPr txBox="1"/>
          <p:nvPr/>
        </p:nvSpPr>
        <p:spPr>
          <a:xfrm>
            <a:off x="7515454" y="3478378"/>
            <a:ext cx="3982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31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Ruolo dell'Admin</a:t>
            </a:r>
            <a:endParaRPr lang="en-US" sz="1200" dirty="0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7306056" y="3516782"/>
            <a:ext cx="133502" cy="152705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306056" y="3802075"/>
            <a:ext cx="4153205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05E5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un utente svuota il proprio cestino ("Ho cancellato tutto!"), i file non sono persi. Vengono spostati istantaneamente nel Secondo Livello, dove l'Admin può ancora recuperarli.</a:t>
            </a:r>
            <a:endParaRPr lang="en-US" sz="1100" dirty="0"/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6"/>
          <a:srcRect l="-2" r="-2"/>
          <a:stretch/>
        </p:blipFill>
        <p:spPr>
          <a:xfrm>
            <a:off x="7029907" y="5219395"/>
            <a:ext cx="4591202" cy="1257300"/>
          </a:xfrm>
          <a:prstGeom prst="rect">
            <a:avLst/>
          </a:prstGeom>
        </p:spPr>
      </p:pic>
      <p:pic>
        <p:nvPicPr>
          <p:cNvPr id="40" name="Image 8" descr="preencoded.png"/>
          <p:cNvPicPr>
            <a:picLocks noChangeAspect="1"/>
          </p:cNvPicPr>
          <p:nvPr/>
        </p:nvPicPr>
        <p:blipFill>
          <a:blip r:embed="rId7"/>
          <a:srcRect l="-107" r="-107"/>
          <a:stretch/>
        </p:blipFill>
        <p:spPr>
          <a:xfrm>
            <a:off x="7220102" y="5695798"/>
            <a:ext cx="267005" cy="304495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7677302" y="5410505"/>
            <a:ext cx="38679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 hai cancellato il file?</a:t>
            </a:r>
            <a:endParaRPr lang="en-US" sz="1300" dirty="0"/>
          </a:p>
        </p:txBody>
      </p:sp>
      <p:sp>
        <p:nvSpPr>
          <p:cNvPr id="42" name="Text 31"/>
          <p:cNvSpPr txBox="1"/>
          <p:nvPr/>
        </p:nvSpPr>
        <p:spPr>
          <a:xfrm>
            <a:off x="7677302" y="5715000"/>
            <a:ext cx="38295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 il file esiste ma il contenuto è sbagliato (es. sovrascrittura), non usare il cestino. Usa la </a:t>
            </a:r>
            <a:r>
              <a:rPr lang="en-US" sz="1000" b="1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Cronologia Versioni</a:t>
            </a:r>
            <a:r>
              <a:rPr lang="en-US" sz="1000" dirty="0">
                <a:solidFill>
                  <a:srgbClr val="D1D5D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ripristinare uno stato precedente.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5" name="Shape 33"/>
          <p:cNvSpPr/>
          <p:nvPr/>
        </p:nvSpPr>
        <p:spPr>
          <a:xfrm>
            <a:off x="0" y="914400"/>
            <a:ext cx="12191695" cy="38405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34"/>
          <p:cNvSpPr txBox="1"/>
          <p:nvPr/>
        </p:nvSpPr>
        <p:spPr>
          <a:xfrm>
            <a:off x="571500" y="152705"/>
            <a:ext cx="56775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2" dirty="0">
                <a:solidFill>
                  <a:srgbClr val="6B728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Sicurezza dei Dati</a:t>
            </a:r>
            <a:endParaRPr lang="en-US" sz="1000" dirty="0"/>
          </a:p>
        </p:txBody>
      </p:sp>
      <p:sp>
        <p:nvSpPr>
          <p:cNvPr id="47" name="Text 35"/>
          <p:cNvSpPr txBox="1"/>
          <p:nvPr/>
        </p:nvSpPr>
        <p:spPr>
          <a:xfrm>
            <a:off x="571500" y="381305"/>
            <a:ext cx="72063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9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Recupero File: Cestino e Versioni</a:t>
            </a:r>
            <a:endParaRPr lang="en-US" sz="2700" dirty="0"/>
          </a:p>
        </p:txBody>
      </p:sp>
      <p:sp>
        <p:nvSpPr>
          <p:cNvPr id="48" name="Shape 36"/>
          <p:cNvSpPr/>
          <p:nvPr/>
        </p:nvSpPr>
        <p:spPr>
          <a:xfrm>
            <a:off x="9678010" y="276149"/>
            <a:ext cx="1943100" cy="362102"/>
          </a:xfrm>
          <a:prstGeom prst="roundRect">
            <a:avLst>
              <a:gd name="adj" fmla="val 53163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8"/>
          <a:srcRect t="-43" b="-43"/>
          <a:stretch/>
        </p:blipFill>
        <p:spPr>
          <a:xfrm>
            <a:off x="9878263" y="381305"/>
            <a:ext cx="133502" cy="152705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10126066" y="276149"/>
            <a:ext cx="135331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Policy di Ritenzione</a:t>
            </a:r>
            <a:endParaRPr lang="en-US" sz="1000" dirty="0"/>
          </a:p>
        </p:txBody>
      </p:sp>
      <p:pic>
        <p:nvPicPr>
          <p:cNvPr id="52" name="Immagine 51">
            <a:extLst>
              <a:ext uri="{FF2B5EF4-FFF2-40B4-BE49-F238E27FC236}">
                <a16:creationId xmlns:a16="http://schemas.microsoft.com/office/drawing/2014/main" id="{07EF4924-D684-84F6-5A2E-8EA2D243EE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8030" y="1485900"/>
            <a:ext cx="6412959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57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-952805" y="-952805"/>
            <a:ext cx="3810305" cy="3810305"/>
          </a:xfrm>
          <a:prstGeom prst="ellipse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7905902" y="3524098"/>
            <a:ext cx="4762195" cy="4762195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76402" y="3581705"/>
            <a:ext cx="2800807" cy="2800807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2589" b="-2589"/>
          <a:stretch/>
        </p:blipFill>
        <p:spPr>
          <a:xfrm>
            <a:off x="8162849" y="476402"/>
            <a:ext cx="3076956" cy="287670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034540" y="2034540"/>
            <a:ext cx="81281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Cosa consente il versioning?</a:t>
            </a:r>
            <a:endParaRPr lang="en-US" sz="3600" dirty="0"/>
          </a:p>
        </p:txBody>
      </p:sp>
      <p:sp>
        <p:nvSpPr>
          <p:cNvPr id="9" name="Shape 5"/>
          <p:cNvSpPr/>
          <p:nvPr/>
        </p:nvSpPr>
        <p:spPr>
          <a:xfrm>
            <a:off x="5229454" y="1417320"/>
            <a:ext cx="1733702" cy="428854"/>
          </a:xfrm>
          <a:prstGeom prst="roundRect">
            <a:avLst>
              <a:gd name="adj" fmla="val 142146"/>
            </a:avLst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6"/>
          <p:cNvSpPr txBox="1"/>
          <p:nvPr/>
        </p:nvSpPr>
        <p:spPr>
          <a:xfrm>
            <a:off x="5194706" y="1417320"/>
            <a:ext cx="1803197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8350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Quiz Time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1403" r="-1403"/>
          <a:stretch/>
        </p:blipFill>
        <p:spPr>
          <a:xfrm>
            <a:off x="5419649" y="1535278"/>
            <a:ext cx="209398" cy="181051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57707" y="3059582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8"/>
          <p:cNvSpPr/>
          <p:nvPr/>
        </p:nvSpPr>
        <p:spPr>
          <a:xfrm>
            <a:off x="2270455" y="3364078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9"/>
          <p:cNvSpPr txBox="1"/>
          <p:nvPr/>
        </p:nvSpPr>
        <p:spPr>
          <a:xfrm>
            <a:off x="2241194" y="3364078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1399032" y="4030675"/>
            <a:ext cx="2221992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Creare copie del file</a:t>
            </a:r>
            <a:endParaRPr lang="en-US" sz="15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11" r="-11"/>
          <a:stretch/>
        </p:blipFill>
        <p:spPr>
          <a:xfrm>
            <a:off x="4448556" y="3059582"/>
            <a:ext cx="3299155" cy="238109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4544568" y="4019702"/>
            <a:ext cx="310530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Ripristinare lo stato precedente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8033004" y="3059582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6"/>
          <p:cNvSpPr/>
          <p:nvPr/>
        </p:nvSpPr>
        <p:spPr>
          <a:xfrm>
            <a:off x="9445752" y="3364078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7"/>
          <p:cNvSpPr txBox="1"/>
          <p:nvPr/>
        </p:nvSpPr>
        <p:spPr>
          <a:xfrm>
            <a:off x="9417406" y="3364078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8489290" y="4030675"/>
            <a:ext cx="239207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Bloccare le modifiche</a:t>
            </a:r>
            <a:endParaRPr lang="en-US" sz="1500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D7C1D99F-5C89-4778-C0E6-0172474C4FE9}"/>
              </a:ext>
            </a:extLst>
          </p:cNvPr>
          <p:cNvSpPr/>
          <p:nvPr/>
        </p:nvSpPr>
        <p:spPr>
          <a:xfrm>
            <a:off x="5858256" y="3369107"/>
            <a:ext cx="476402" cy="476402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DBCABE03-40E7-5B24-B29A-D5595F124B34}"/>
              </a:ext>
            </a:extLst>
          </p:cNvPr>
          <p:cNvSpPr txBox="1"/>
          <p:nvPr/>
        </p:nvSpPr>
        <p:spPr>
          <a:xfrm>
            <a:off x="5828995" y="3369107"/>
            <a:ext cx="534010" cy="4764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</a:t>
            </a:r>
            <a:endParaRPr lang="en-US" sz="1800" dirty="0"/>
          </a:p>
        </p:txBody>
      </p:sp>
      <p:sp>
        <p:nvSpPr>
          <p:cNvPr id="27" name="Shape 15">
            <a:extLst>
              <a:ext uri="{FF2B5EF4-FFF2-40B4-BE49-F238E27FC236}">
                <a16:creationId xmlns:a16="http://schemas.microsoft.com/office/drawing/2014/main" id="{3DB9CD5A-FF99-BB1F-A1DD-013DE1CB4BD5}"/>
              </a:ext>
            </a:extLst>
          </p:cNvPr>
          <p:cNvSpPr/>
          <p:nvPr/>
        </p:nvSpPr>
        <p:spPr>
          <a:xfrm>
            <a:off x="4442155" y="3059582"/>
            <a:ext cx="3305556" cy="2381098"/>
          </a:xfrm>
          <a:prstGeom prst="roundRect">
            <a:avLst>
              <a:gd name="adj" fmla="val 2458"/>
            </a:avLst>
          </a:prstGeom>
          <a:solidFill>
            <a:srgbClr val="FFFFFF">
              <a:alpha val="10000"/>
            </a:srgbClr>
          </a:solidFill>
          <a:ln w="25400">
            <a:solidFill>
              <a:srgbClr val="FFFF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4188</Words>
  <Application>Microsoft Office PowerPoint</Application>
  <PresentationFormat>Widescreen</PresentationFormat>
  <Paragraphs>609</Paragraphs>
  <Slides>42</Slides>
  <Notes>38</Notes>
  <HiddenSlides>1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42</vt:i4>
      </vt:variant>
    </vt:vector>
  </HeadingPairs>
  <TitlesOfParts>
    <vt:vector size="48" baseType="lpstr">
      <vt:lpstr>Arial</vt:lpstr>
      <vt:lpstr>Century Gothic</vt:lpstr>
      <vt:lpstr>Montserrat</vt:lpstr>
      <vt:lpstr>Open Sans</vt:lpstr>
      <vt:lpstr>ui-sans-serif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Novembre Matteo</cp:lastModifiedBy>
  <cp:revision>6</cp:revision>
  <dcterms:created xsi:type="dcterms:W3CDTF">2026-02-01T17:24:01Z</dcterms:created>
  <dcterms:modified xsi:type="dcterms:W3CDTF">2026-04-01T08:46:23Z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f4bb52-9e9d-4296-940a-59002820a53c_Enabled">
    <vt:lpwstr>true</vt:lpwstr>
  </property>
  <property fmtid="{D5CDD505-2E9C-101B-9397-08002B2CF9AE}" pid="3" name="MSIP_Label_5bf4bb52-9e9d-4296-940a-59002820a53c_SetDate">
    <vt:lpwstr>2026-02-01T20:49:02Z</vt:lpwstr>
  </property>
  <property fmtid="{D5CDD505-2E9C-101B-9397-08002B2CF9AE}" pid="4" name="MSIP_Label_5bf4bb52-9e9d-4296-940a-59002820a53c_Method">
    <vt:lpwstr>Standard</vt:lpwstr>
  </property>
  <property fmtid="{D5CDD505-2E9C-101B-9397-08002B2CF9AE}" pid="5" name="MSIP_Label_5bf4bb52-9e9d-4296-940a-59002820a53c_Name">
    <vt:lpwstr>5bf4bb52-9e9d-4296-940a-59002820a53c</vt:lpwstr>
  </property>
  <property fmtid="{D5CDD505-2E9C-101B-9397-08002B2CF9AE}" pid="6" name="MSIP_Label_5bf4bb52-9e9d-4296-940a-59002820a53c_SiteId">
    <vt:lpwstr>cbeb3ecc-6f45-4183-b5a8-088140deae5d</vt:lpwstr>
  </property>
  <property fmtid="{D5CDD505-2E9C-101B-9397-08002B2CF9AE}" pid="7" name="MSIP_Label_5bf4bb52-9e9d-4296-940a-59002820a53c_ActionId">
    <vt:lpwstr>547d04f4-d34f-4caa-a446-cd19c8041478</vt:lpwstr>
  </property>
  <property fmtid="{D5CDD505-2E9C-101B-9397-08002B2CF9AE}" pid="8" name="MSIP_Label_5bf4bb52-9e9d-4296-940a-59002820a53c_ContentBits">
    <vt:lpwstr>0</vt:lpwstr>
  </property>
  <property fmtid="{D5CDD505-2E9C-101B-9397-08002B2CF9AE}" pid="9" name="MSIP_Label_5bf4bb52-9e9d-4296-940a-59002820a53c_Tag">
    <vt:lpwstr>10, 3, 0, 1</vt:lpwstr>
  </property>
</Properties>
</file>